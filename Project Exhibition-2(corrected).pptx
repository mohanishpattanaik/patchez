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86" r:id="rId12"/>
    <p:sldId id="285" r:id="rId13"/>
    <p:sldId id="267" r:id="rId14"/>
    <p:sldId id="278" r:id="rId15"/>
    <p:sldId id="273" r:id="rId16"/>
    <p:sldId id="277" r:id="rId17"/>
    <p:sldId id="274" r:id="rId18"/>
    <p:sldId id="291" r:id="rId19"/>
    <p:sldId id="288" r:id="rId20"/>
    <p:sldId id="289" r:id="rId21"/>
    <p:sldId id="290" r:id="rId22"/>
    <p:sldId id="279" r:id="rId23"/>
    <p:sldId id="287" r:id="rId24"/>
    <p:sldId id="280" r:id="rId25"/>
    <p:sldId id="282" r:id="rId26"/>
    <p:sldId id="281" r:id="rId27"/>
    <p:sldId id="283" r:id="rId28"/>
    <p:sldId id="266" r:id="rId29"/>
    <p:sldId id="268" r:id="rId30"/>
    <p:sldId id="269" r:id="rId31"/>
    <p:sldId id="270" r:id="rId32"/>
    <p:sldId id="272" r:id="rId33"/>
  </p:sldIdLst>
  <p:sldSz cx="9753600" cy="7315200"/>
  <p:notesSz cx="6858000" cy="9144000"/>
  <p:embeddedFontLst>
    <p:embeddedFont>
      <p:font typeface="Trebuchet MS" panose="020B0603020202020204" pitchFamily="34" charset="0"/>
      <p:regular r:id="rId34"/>
      <p:bold r:id="rId35"/>
      <p:italic r:id="rId36"/>
      <p:boldItalic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96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1" d="100"/>
          <a:sy n="71" d="100"/>
        </p:scale>
        <p:origin x="100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 Target="slide32.xml"/><Relationship Id="rId2" Type="http://schemas.openxmlformats.org/officeDocument/2006/relationships/slide" Target="slide3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hyperlink" Target="https://ieeexplore.ieee.org/document/9445082" TargetMode="External"/><Relationship Id="rId3" Type="http://schemas.openxmlformats.org/officeDocument/2006/relationships/slide" Target="slide7.xml"/><Relationship Id="rId7" Type="http://schemas.openxmlformats.org/officeDocument/2006/relationships/slide" Target="slide9.xml"/><Relationship Id="rId2" Type="http://schemas.openxmlformats.org/officeDocument/2006/relationships/hyperlink" Target="https://doi.org/10.1038/s41467-023-35990-7" TargetMode="External"/><Relationship Id="rId1" Type="http://schemas.openxmlformats.org/officeDocument/2006/relationships/slideLayout" Target="../slideLayouts/slideLayout7.xml"/><Relationship Id="rId6" Type="http://schemas.openxmlformats.org/officeDocument/2006/relationships/hyperlink" Target="https://pmc.ncbi.nlm.nih.gov/articles/PMC9332282/" TargetMode="External"/><Relationship Id="rId5" Type="http://schemas.openxmlformats.org/officeDocument/2006/relationships/slide" Target="slide8.xml"/><Relationship Id="rId4" Type="http://schemas.openxmlformats.org/officeDocument/2006/relationships/hyperlink" Target="https://www.researchgate.net/publication/378725858_Review_of_Stress_Detection_Methods_Using_Wearable_Sensors" TargetMode="External"/></Relationships>
</file>

<file path=ppt/slides/_rels/slide32.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hyperlink" Target="https://ieeexplore.ieee.org/document/9446136" TargetMode="Externa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hyperlink" Target="https://ieeexplore.ieee.org/document/8808388" TargetMode="External"/><Relationship Id="rId4" Type="http://schemas.openxmlformats.org/officeDocument/2006/relationships/hyperlink" Target="https://pubmed.ncbi.nlm.nih.gov/1038356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7989745" y="9034"/>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8323891" y="1"/>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7718812" y="4190436"/>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8116180" y="1"/>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9487217" y="1"/>
            <a:ext cx="914699" cy="7324231"/>
            <a:chOff x="0" y="0"/>
            <a:chExt cx="1219598" cy="9765642"/>
          </a:xfrm>
        </p:grpSpPr>
        <p:sp>
          <p:nvSpPr>
            <p:cNvPr id="15" name="Freeform 15"/>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p:cNvGrpSpPr/>
          <p:nvPr/>
        </p:nvGrpSpPr>
        <p:grpSpPr>
          <a:xfrm>
            <a:off x="9272165" y="0"/>
            <a:ext cx="1137888" cy="7324231"/>
            <a:chOff x="0" y="0"/>
            <a:chExt cx="1517184" cy="9765642"/>
          </a:xfrm>
        </p:grpSpPr>
        <p:sp>
          <p:nvSpPr>
            <p:cNvPr id="17" name="Freeform 17"/>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p:cNvGrpSpPr/>
          <p:nvPr/>
        </p:nvGrpSpPr>
        <p:grpSpPr>
          <a:xfrm>
            <a:off x="9245071" y="5229014"/>
            <a:ext cx="1167025" cy="2095218"/>
            <a:chOff x="0" y="0"/>
            <a:chExt cx="1556033" cy="2793624"/>
          </a:xfrm>
        </p:grpSpPr>
        <p:sp>
          <p:nvSpPr>
            <p:cNvPr id="19" name="Freeform 19"/>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20" name="AutoShape 20"/>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21" name="AutoShape 21"/>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22" name="Group 22"/>
          <p:cNvGrpSpPr/>
          <p:nvPr/>
        </p:nvGrpSpPr>
        <p:grpSpPr>
          <a:xfrm>
            <a:off x="7989745" y="9034"/>
            <a:ext cx="2420738" cy="7324230"/>
            <a:chOff x="0" y="0"/>
            <a:chExt cx="3227651" cy="9765641"/>
          </a:xfrm>
        </p:grpSpPr>
        <p:sp>
          <p:nvSpPr>
            <p:cNvPr id="23" name="Freeform 23"/>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4" name="Group 24"/>
          <p:cNvGrpSpPr/>
          <p:nvPr/>
        </p:nvGrpSpPr>
        <p:grpSpPr>
          <a:xfrm>
            <a:off x="8323891" y="1"/>
            <a:ext cx="2078023" cy="7324231"/>
            <a:chOff x="0" y="0"/>
            <a:chExt cx="2770698" cy="9765642"/>
          </a:xfrm>
        </p:grpSpPr>
        <p:sp>
          <p:nvSpPr>
            <p:cNvPr id="25" name="Freeform 25"/>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6" name="Group 26"/>
          <p:cNvGrpSpPr/>
          <p:nvPr/>
        </p:nvGrpSpPr>
        <p:grpSpPr>
          <a:xfrm>
            <a:off x="7718812" y="4190436"/>
            <a:ext cx="2681136" cy="3133795"/>
            <a:chOff x="0" y="0"/>
            <a:chExt cx="3574848" cy="4178394"/>
          </a:xfrm>
        </p:grpSpPr>
        <p:sp>
          <p:nvSpPr>
            <p:cNvPr id="27" name="Freeform 27"/>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8" name="Group 28"/>
          <p:cNvGrpSpPr/>
          <p:nvPr/>
        </p:nvGrpSpPr>
        <p:grpSpPr>
          <a:xfrm>
            <a:off x="8116180" y="1"/>
            <a:ext cx="2285734" cy="7324231"/>
            <a:chOff x="0" y="0"/>
            <a:chExt cx="3047646" cy="9765642"/>
          </a:xfrm>
        </p:grpSpPr>
        <p:sp>
          <p:nvSpPr>
            <p:cNvPr id="29" name="Freeform 29"/>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30" name="Group 30"/>
          <p:cNvGrpSpPr/>
          <p:nvPr/>
        </p:nvGrpSpPr>
        <p:grpSpPr>
          <a:xfrm>
            <a:off x="9487217" y="1"/>
            <a:ext cx="914699" cy="7324231"/>
            <a:chOff x="0" y="0"/>
            <a:chExt cx="1219598" cy="9765642"/>
          </a:xfrm>
        </p:grpSpPr>
        <p:sp>
          <p:nvSpPr>
            <p:cNvPr id="31" name="Freeform 31"/>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32" name="Group 32"/>
          <p:cNvGrpSpPr/>
          <p:nvPr/>
        </p:nvGrpSpPr>
        <p:grpSpPr>
          <a:xfrm>
            <a:off x="9272165" y="0"/>
            <a:ext cx="1137888" cy="7324231"/>
            <a:chOff x="0" y="0"/>
            <a:chExt cx="1517184" cy="9765642"/>
          </a:xfrm>
        </p:grpSpPr>
        <p:sp>
          <p:nvSpPr>
            <p:cNvPr id="33" name="Freeform 33"/>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34" name="Group 34"/>
          <p:cNvGrpSpPr/>
          <p:nvPr/>
        </p:nvGrpSpPr>
        <p:grpSpPr>
          <a:xfrm>
            <a:off x="9245071" y="5229014"/>
            <a:ext cx="1167025" cy="2095218"/>
            <a:chOff x="0" y="0"/>
            <a:chExt cx="1556033" cy="2793624"/>
          </a:xfrm>
        </p:grpSpPr>
        <p:sp>
          <p:nvSpPr>
            <p:cNvPr id="35" name="Freeform 35"/>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36" name="Group 36"/>
          <p:cNvGrpSpPr/>
          <p:nvPr/>
        </p:nvGrpSpPr>
        <p:grpSpPr>
          <a:xfrm>
            <a:off x="-9030" y="-9033"/>
            <a:ext cx="921173" cy="6077938"/>
            <a:chOff x="0" y="0"/>
            <a:chExt cx="1228231" cy="8103918"/>
          </a:xfrm>
        </p:grpSpPr>
        <p:sp>
          <p:nvSpPr>
            <p:cNvPr id="37" name="Freeform 37"/>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38" name="Group 38"/>
          <p:cNvGrpSpPr/>
          <p:nvPr/>
        </p:nvGrpSpPr>
        <p:grpSpPr>
          <a:xfrm>
            <a:off x="934188" y="1203962"/>
            <a:ext cx="7548283" cy="2996300"/>
            <a:chOff x="0" y="0"/>
            <a:chExt cx="10064377" cy="3995066"/>
          </a:xfrm>
        </p:grpSpPr>
        <p:sp>
          <p:nvSpPr>
            <p:cNvPr id="39" name="Freeform 39"/>
            <p:cNvSpPr/>
            <p:nvPr/>
          </p:nvSpPr>
          <p:spPr>
            <a:xfrm>
              <a:off x="0" y="0"/>
              <a:ext cx="9615122" cy="3891278"/>
            </a:xfrm>
            <a:custGeom>
              <a:avLst/>
              <a:gdLst/>
              <a:ahLst/>
              <a:cxnLst/>
              <a:rect l="l" t="t" r="r" b="b"/>
              <a:pathLst>
                <a:path w="9615122" h="3891278">
                  <a:moveTo>
                    <a:pt x="0" y="0"/>
                  </a:moveTo>
                  <a:lnTo>
                    <a:pt x="9615122" y="0"/>
                  </a:lnTo>
                  <a:lnTo>
                    <a:pt x="9615122" y="3891278"/>
                  </a:lnTo>
                  <a:lnTo>
                    <a:pt x="0" y="3891278"/>
                  </a:lnTo>
                  <a:close/>
                </a:path>
              </a:pathLst>
            </a:custGeom>
            <a:solidFill>
              <a:srgbClr val="000000">
                <a:alpha val="0"/>
              </a:srgbClr>
            </a:solidFill>
          </p:spPr>
        </p:sp>
        <p:sp>
          <p:nvSpPr>
            <p:cNvPr id="40" name="TextBox 40"/>
            <p:cNvSpPr txBox="1"/>
            <p:nvPr/>
          </p:nvSpPr>
          <p:spPr>
            <a:xfrm>
              <a:off x="449255" y="94263"/>
              <a:ext cx="9615122" cy="3900803"/>
            </a:xfrm>
            <a:prstGeom prst="rect">
              <a:avLst/>
            </a:prstGeom>
          </p:spPr>
          <p:txBody>
            <a:bodyPr lIns="0" tIns="0" rIns="0" bIns="0" rtlCol="0" anchor="b"/>
            <a:lstStyle/>
            <a:p>
              <a:pPr algn="ctr">
                <a:lnSpc>
                  <a:spcPts val="5120"/>
                </a:lnSpc>
              </a:pPr>
              <a:r>
                <a:rPr lang="en-US" sz="3600" dirty="0">
                  <a:solidFill>
                    <a:srgbClr val="00B0F0"/>
                  </a:solidFill>
                </a:rPr>
                <a:t>A THEORITICAL FRAMEWWORK FOR A WEARABLE IONTOPHORESIS BASED DRUG DELIVERY SYSTEM FOR STRESS DETECTION AND REGULATION WITH WEBSITE DEPLOYEMENT</a:t>
              </a:r>
              <a:endParaRPr lang="en-US" sz="3600" dirty="0">
                <a:solidFill>
                  <a:srgbClr val="00B0F0"/>
                </a:solidFill>
                <a:latin typeface="Trebuchet MS" panose="020B0603020202020204" pitchFamily="34" charset="0"/>
                <a:ea typeface="Trebuchet MS"/>
                <a:cs typeface="Trebuchet MS"/>
                <a:sym typeface="Trebuchet MS"/>
              </a:endParaRPr>
            </a:p>
          </p:txBody>
        </p:sp>
      </p:grpSp>
      <p:grpSp>
        <p:nvGrpSpPr>
          <p:cNvPr id="41" name="Group 41"/>
          <p:cNvGrpSpPr/>
          <p:nvPr/>
        </p:nvGrpSpPr>
        <p:grpSpPr>
          <a:xfrm>
            <a:off x="912143" y="4122420"/>
            <a:ext cx="7553381" cy="3474088"/>
            <a:chOff x="0" y="0"/>
            <a:chExt cx="10071175" cy="4632116"/>
          </a:xfrm>
        </p:grpSpPr>
        <p:sp>
          <p:nvSpPr>
            <p:cNvPr id="42" name="Freeform 42"/>
            <p:cNvSpPr/>
            <p:nvPr/>
          </p:nvSpPr>
          <p:spPr>
            <a:xfrm>
              <a:off x="0" y="0"/>
              <a:ext cx="9794240" cy="3891278"/>
            </a:xfrm>
            <a:custGeom>
              <a:avLst/>
              <a:gdLst/>
              <a:ahLst/>
              <a:cxnLst/>
              <a:rect l="l" t="t" r="r" b="b"/>
              <a:pathLst>
                <a:path w="9794240" h="3891278">
                  <a:moveTo>
                    <a:pt x="0" y="0"/>
                  </a:moveTo>
                  <a:lnTo>
                    <a:pt x="9794240" y="0"/>
                  </a:lnTo>
                  <a:lnTo>
                    <a:pt x="9794240" y="3891278"/>
                  </a:lnTo>
                  <a:lnTo>
                    <a:pt x="0" y="3891278"/>
                  </a:lnTo>
                  <a:close/>
                </a:path>
              </a:pathLst>
            </a:custGeom>
            <a:solidFill>
              <a:srgbClr val="000000">
                <a:alpha val="0"/>
              </a:srgbClr>
            </a:solidFill>
          </p:spPr>
        </p:sp>
        <p:sp>
          <p:nvSpPr>
            <p:cNvPr id="43" name="TextBox 43"/>
            <p:cNvSpPr txBox="1"/>
            <p:nvPr/>
          </p:nvSpPr>
          <p:spPr>
            <a:xfrm>
              <a:off x="276935" y="721787"/>
              <a:ext cx="9794240" cy="3910329"/>
            </a:xfrm>
            <a:prstGeom prst="rect">
              <a:avLst/>
            </a:prstGeom>
          </p:spPr>
          <p:txBody>
            <a:bodyPr lIns="0" tIns="0" rIns="0" bIns="0" rtlCol="0" anchor="t"/>
            <a:lstStyle/>
            <a:p>
              <a:pPr algn="l">
                <a:lnSpc>
                  <a:spcPts val="2527"/>
                </a:lnSpc>
              </a:pPr>
              <a:r>
                <a:rPr lang="en-US" sz="2106" b="1" dirty="0">
                  <a:solidFill>
                    <a:srgbClr val="6E91A0"/>
                  </a:solidFill>
                  <a:latin typeface="Trebuchet MS" panose="020B0603020202020204" pitchFamily="34" charset="0"/>
                  <a:ea typeface="Trebuchet MS Bold"/>
                  <a:cs typeface="Trebuchet MS Bold"/>
                  <a:sym typeface="Trebuchet MS Bold"/>
                </a:rPr>
                <a:t>SUPERVISOR: </a:t>
              </a:r>
              <a:r>
                <a:rPr lang="en-US" sz="2106" dirty="0">
                  <a:solidFill>
                    <a:srgbClr val="6E91A0"/>
                  </a:solidFill>
                  <a:latin typeface="Trebuchet MS" panose="020B0603020202020204" pitchFamily="34" charset="0"/>
                  <a:ea typeface="Trebuchet MS"/>
                  <a:cs typeface="Trebuchet MS"/>
                  <a:sym typeface="Trebuchet MS"/>
                </a:rPr>
                <a:t>Dr. </a:t>
              </a:r>
              <a:r>
                <a:rPr lang="en-US" sz="2106" dirty="0" err="1">
                  <a:solidFill>
                    <a:srgbClr val="6E91A0"/>
                  </a:solidFill>
                  <a:latin typeface="Trebuchet MS" panose="020B0603020202020204" pitchFamily="34" charset="0"/>
                  <a:ea typeface="Trebuchet MS"/>
                  <a:cs typeface="Trebuchet MS"/>
                  <a:sym typeface="Trebuchet MS"/>
                </a:rPr>
                <a:t>A.Sirajudeen</a:t>
              </a:r>
              <a:endParaRPr lang="en-US" sz="2106" dirty="0">
                <a:solidFill>
                  <a:srgbClr val="6E91A0"/>
                </a:solidFill>
                <a:latin typeface="Trebuchet MS" panose="020B0603020202020204" pitchFamily="34" charset="0"/>
                <a:ea typeface="Trebuchet MS"/>
                <a:cs typeface="Trebuchet MS"/>
                <a:sym typeface="Trebuchet MS"/>
              </a:endParaRPr>
            </a:p>
            <a:p>
              <a:pPr algn="l">
                <a:lnSpc>
                  <a:spcPts val="2527"/>
                </a:lnSpc>
              </a:pPr>
              <a:r>
                <a:rPr lang="en-US" sz="2106" b="1" dirty="0">
                  <a:solidFill>
                    <a:srgbClr val="6E91A0"/>
                  </a:solidFill>
                  <a:latin typeface="Trebuchet MS" panose="020B0603020202020204" pitchFamily="34" charset="0"/>
                  <a:ea typeface="Trebuchet MS Bold"/>
                  <a:cs typeface="Trebuchet MS Bold"/>
                  <a:sym typeface="Trebuchet MS Bold"/>
                </a:rPr>
                <a:t>TEAM MEMBERS: </a:t>
              </a:r>
              <a:r>
                <a:rPr lang="en-US" sz="2106" dirty="0">
                  <a:solidFill>
                    <a:srgbClr val="6E91A0"/>
                  </a:solidFill>
                  <a:latin typeface="Trebuchet MS" panose="020B0603020202020204" pitchFamily="34" charset="0"/>
                  <a:ea typeface="Trebuchet MS"/>
                  <a:cs typeface="Trebuchet MS"/>
                  <a:sym typeface="Trebuchet MS"/>
                </a:rPr>
                <a:t>Mohanish Pattanaik-(23BHI10049)</a:t>
              </a:r>
            </a:p>
            <a:p>
              <a:pPr algn="l">
                <a:lnSpc>
                  <a:spcPts val="2527"/>
                </a:lnSpc>
              </a:pPr>
              <a:r>
                <a:rPr lang="en-US" sz="2106" dirty="0">
                  <a:solidFill>
                    <a:srgbClr val="6E91A0"/>
                  </a:solidFill>
                  <a:latin typeface="Trebuchet MS" panose="020B0603020202020204" pitchFamily="34" charset="0"/>
                  <a:ea typeface="Trebuchet MS"/>
                  <a:cs typeface="Trebuchet MS"/>
                  <a:sym typeface="Trebuchet MS"/>
                </a:rPr>
                <a:t>                          Arpit Pattanaik-(23BHI10081)</a:t>
              </a:r>
            </a:p>
            <a:p>
              <a:pPr algn="l">
                <a:lnSpc>
                  <a:spcPts val="2527"/>
                </a:lnSpc>
              </a:pPr>
              <a:r>
                <a:rPr lang="en-US" sz="2106" dirty="0">
                  <a:solidFill>
                    <a:srgbClr val="6E91A0"/>
                  </a:solidFill>
                  <a:latin typeface="Trebuchet MS" panose="020B0603020202020204" pitchFamily="34" charset="0"/>
                  <a:ea typeface="Trebuchet MS"/>
                  <a:cs typeface="Trebuchet MS"/>
                  <a:sym typeface="Trebuchet MS"/>
                </a:rPr>
                <a:t>                          Ayushi </a:t>
              </a:r>
              <a:r>
                <a:rPr lang="en-US" sz="2106" dirty="0" err="1">
                  <a:solidFill>
                    <a:srgbClr val="6E91A0"/>
                  </a:solidFill>
                  <a:latin typeface="Trebuchet MS" panose="020B0603020202020204" pitchFamily="34" charset="0"/>
                  <a:ea typeface="Trebuchet MS"/>
                  <a:cs typeface="Trebuchet MS"/>
                  <a:sym typeface="Trebuchet MS"/>
                </a:rPr>
                <a:t>Taralkar</a:t>
              </a:r>
              <a:r>
                <a:rPr lang="en-US" sz="2106" dirty="0">
                  <a:solidFill>
                    <a:srgbClr val="6E91A0"/>
                  </a:solidFill>
                  <a:latin typeface="Trebuchet MS" panose="020B0603020202020204" pitchFamily="34" charset="0"/>
                  <a:ea typeface="Trebuchet MS"/>
                  <a:cs typeface="Trebuchet MS"/>
                  <a:sym typeface="Trebuchet MS"/>
                </a:rPr>
                <a:t>-(23BHI10057)</a:t>
              </a:r>
            </a:p>
            <a:p>
              <a:pPr algn="l">
                <a:lnSpc>
                  <a:spcPts val="2527"/>
                </a:lnSpc>
              </a:pPr>
              <a:r>
                <a:rPr lang="en-US" sz="2106" dirty="0">
                  <a:solidFill>
                    <a:srgbClr val="6E91A0"/>
                  </a:solidFill>
                  <a:latin typeface="Trebuchet MS" panose="020B0603020202020204" pitchFamily="34" charset="0"/>
                  <a:ea typeface="Trebuchet MS"/>
                  <a:cs typeface="Trebuchet MS"/>
                  <a:sym typeface="Trebuchet MS"/>
                </a:rPr>
                <a:t>                          Akshaya Murugan-(23BHI10047)</a:t>
              </a:r>
            </a:p>
            <a:p>
              <a:pPr algn="l">
                <a:lnSpc>
                  <a:spcPts val="2527"/>
                </a:lnSpc>
              </a:pPr>
              <a:r>
                <a:rPr lang="en-US" sz="2106" dirty="0">
                  <a:solidFill>
                    <a:srgbClr val="6E91A0"/>
                  </a:solidFill>
                  <a:latin typeface="Trebuchet MS" panose="020B0603020202020204" pitchFamily="34" charset="0"/>
                  <a:ea typeface="Trebuchet MS"/>
                  <a:cs typeface="Trebuchet MS"/>
                  <a:sym typeface="Trebuchet MS"/>
                </a:rPr>
                <a:t>                          Anamika-(23BHI10161)</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grpSp>
        <p:nvGrpSpPr>
          <p:cNvPr id="4" name="Group 4"/>
          <p:cNvGrpSpPr/>
          <p:nvPr/>
        </p:nvGrpSpPr>
        <p:grpSpPr>
          <a:xfrm>
            <a:off x="-9031" y="-132702"/>
            <a:ext cx="921173" cy="6077938"/>
            <a:chOff x="0" y="0"/>
            <a:chExt cx="1228231" cy="8103918"/>
          </a:xfrm>
        </p:grpSpPr>
        <p:sp>
          <p:nvSpPr>
            <p:cNvPr id="5" name="Freeform 5"/>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6" name="Group 6"/>
          <p:cNvGrpSpPr/>
          <p:nvPr/>
        </p:nvGrpSpPr>
        <p:grpSpPr>
          <a:xfrm>
            <a:off x="1027888" y="139654"/>
            <a:ext cx="8290559" cy="6589514"/>
            <a:chOff x="-439822" y="0"/>
            <a:chExt cx="10449114" cy="8305181"/>
          </a:xfrm>
        </p:grpSpPr>
        <p:sp>
          <p:nvSpPr>
            <p:cNvPr id="7" name="Freeform 7"/>
            <p:cNvSpPr/>
            <p:nvPr/>
          </p:nvSpPr>
          <p:spPr>
            <a:xfrm>
              <a:off x="0" y="0"/>
              <a:ext cx="9823814" cy="8305181"/>
            </a:xfrm>
            <a:custGeom>
              <a:avLst/>
              <a:gdLst/>
              <a:ahLst/>
              <a:cxnLst/>
              <a:rect l="l" t="t" r="r" b="b"/>
              <a:pathLst>
                <a:path w="9823814" h="8305181">
                  <a:moveTo>
                    <a:pt x="0" y="0"/>
                  </a:moveTo>
                  <a:lnTo>
                    <a:pt x="9823814" y="0"/>
                  </a:lnTo>
                  <a:lnTo>
                    <a:pt x="9823814" y="8305181"/>
                  </a:lnTo>
                  <a:lnTo>
                    <a:pt x="0" y="8305181"/>
                  </a:lnTo>
                  <a:close/>
                </a:path>
              </a:pathLst>
            </a:custGeom>
            <a:solidFill>
              <a:srgbClr val="000000">
                <a:alpha val="0"/>
              </a:srgbClr>
            </a:solidFill>
          </p:spPr>
        </p:sp>
        <p:sp>
          <p:nvSpPr>
            <p:cNvPr id="8" name="TextBox 8"/>
            <p:cNvSpPr txBox="1"/>
            <p:nvPr/>
          </p:nvSpPr>
          <p:spPr>
            <a:xfrm>
              <a:off x="-439822" y="646396"/>
              <a:ext cx="10449114" cy="7573037"/>
            </a:xfrm>
            <a:prstGeom prst="rect">
              <a:avLst/>
            </a:prstGeom>
          </p:spPr>
          <p:txBody>
            <a:bodyPr lIns="0" tIns="0" rIns="0" bIns="0" rtlCol="0" anchor="ctr"/>
            <a:lstStyle/>
            <a:p>
              <a:pPr algn="l">
                <a:lnSpc>
                  <a:spcPts val="3623"/>
                </a:lnSpc>
              </a:pPr>
              <a:r>
                <a:rPr lang="en-US" sz="3019" b="1" dirty="0">
                  <a:solidFill>
                    <a:srgbClr val="5FCBEF"/>
                  </a:solidFill>
                  <a:latin typeface="Trebuchet MS" panose="020B0603020202020204" pitchFamily="34" charset="0"/>
                  <a:ea typeface="Trebuchet MS Bold"/>
                  <a:cs typeface="Trebuchet MS Bold"/>
                  <a:sym typeface="Trebuchet MS Bold"/>
                </a:rPr>
                <a:t> </a:t>
              </a:r>
            </a:p>
            <a:p>
              <a:pPr algn="l">
                <a:lnSpc>
                  <a:spcPts val="1584"/>
                </a:lnSpc>
              </a:pPr>
              <a:endParaRPr lang="en-US" sz="3019" b="1" dirty="0">
                <a:solidFill>
                  <a:srgbClr val="5FCBEF"/>
                </a:solidFill>
                <a:latin typeface="Trebuchet MS" panose="020B0603020202020204" pitchFamily="34" charset="0"/>
                <a:ea typeface="Trebuchet MS Bold"/>
                <a:cs typeface="Trebuchet MS Bold"/>
                <a:sym typeface="Trebuchet MS Bold"/>
              </a:endParaRPr>
            </a:p>
            <a:p>
              <a:pPr algn="l">
                <a:lnSpc>
                  <a:spcPts val="2543"/>
                </a:lnSpc>
              </a:pPr>
              <a:r>
                <a:rPr lang="en-US" sz="2119" dirty="0">
                  <a:solidFill>
                    <a:srgbClr val="5FCBEF"/>
                  </a:solidFill>
                  <a:latin typeface="Trebuchet MS" panose="020B0603020202020204" pitchFamily="34" charset="0"/>
                  <a:ea typeface="Trebuchet MS"/>
                  <a:cs typeface="Trebuchet MS"/>
                  <a:sym typeface="Trebuchet MS"/>
                </a:rPr>
                <a:t>Wearable iontophoresis-based drug delivery System is an innovative technology that integrates machine learning (ML)-based stress detection with a web application to provide real-time, controlled medication administration. This approach leverages iontophoresis, a technique that uses low electrical currents to drive drug molecules through the skin, ensuring precise and non-invasive drug delivery.</a:t>
              </a:r>
            </a:p>
            <a:p>
              <a:pPr algn="l">
                <a:lnSpc>
                  <a:spcPts val="2543"/>
                </a:lnSpc>
              </a:pPr>
              <a:endParaRPr lang="en-US" sz="2119" dirty="0">
                <a:solidFill>
                  <a:srgbClr val="5FCBEF"/>
                </a:solidFill>
                <a:latin typeface="Trebuchet MS" panose="020B0603020202020204" pitchFamily="34" charset="0"/>
                <a:ea typeface="Trebuchet MS"/>
                <a:cs typeface="Trebuchet MS"/>
                <a:sym typeface="Trebuchet MS"/>
              </a:endParaRPr>
            </a:p>
            <a:p>
              <a:pPr algn="l">
                <a:lnSpc>
                  <a:spcPts val="2543"/>
                </a:lnSpc>
              </a:pPr>
              <a:r>
                <a:rPr lang="en-US" sz="2119" dirty="0">
                  <a:solidFill>
                    <a:srgbClr val="5FCBEF"/>
                  </a:solidFill>
                  <a:latin typeface="Trebuchet MS" panose="020B0603020202020204" pitchFamily="34" charset="0"/>
                  <a:ea typeface="Trebuchet MS"/>
                  <a:cs typeface="Trebuchet MS"/>
                  <a:sym typeface="Trebuchet MS"/>
                </a:rPr>
                <a:t>Stress detection is a critical component of this system. Medical conditions like hypertension, anxiety, and cardiovascular disorders are often influenced by stress levels. By continuously monitoring physiological stress markers such as heart rate variability and skin conductance, the system can dynamically adjust medication release to optimize therapeutic outcomes.</a:t>
              </a:r>
            </a:p>
            <a:p>
              <a:pPr algn="l">
                <a:lnSpc>
                  <a:spcPts val="2543"/>
                </a:lnSpc>
              </a:pPr>
              <a:endParaRPr lang="en-US" sz="2119" dirty="0">
                <a:solidFill>
                  <a:srgbClr val="5FCBEF"/>
                </a:solidFill>
                <a:latin typeface="Trebuchet MS" panose="020B0603020202020204" pitchFamily="34" charset="0"/>
                <a:ea typeface="Trebuchet MS"/>
                <a:cs typeface="Trebuchet MS"/>
                <a:sym typeface="Trebuchet MS"/>
              </a:endParaRPr>
            </a:p>
            <a:p>
              <a:pPr algn="l">
                <a:lnSpc>
                  <a:spcPts val="2543"/>
                </a:lnSpc>
              </a:pPr>
              <a:r>
                <a:rPr lang="en-US" sz="2119" dirty="0">
                  <a:solidFill>
                    <a:srgbClr val="5FCBEF"/>
                  </a:solidFill>
                  <a:latin typeface="Trebuchet MS" panose="020B0603020202020204" pitchFamily="34" charset="0"/>
                  <a:ea typeface="Trebuchet MS"/>
                  <a:cs typeface="Trebuchet MS"/>
                  <a:sym typeface="Trebuchet MS"/>
                </a:rPr>
                <a:t>This closed-loop system ensures real-time response and personalized treatment, improving patient compliance and health outcomes.</a:t>
              </a:r>
            </a:p>
            <a:p>
              <a:pPr algn="l">
                <a:lnSpc>
                  <a:spcPts val="1584"/>
                </a:lnSpc>
              </a:pPr>
              <a:endParaRPr lang="en-US" sz="2119" dirty="0">
                <a:solidFill>
                  <a:srgbClr val="5FCBEF"/>
                </a:solidFill>
                <a:latin typeface="Trebuchet MS" panose="020B0603020202020204" pitchFamily="34" charset="0"/>
                <a:ea typeface="Trebuchet MS"/>
                <a:cs typeface="Trebuchet MS"/>
                <a:sym typeface="Trebuchet MS"/>
              </a:endParaRPr>
            </a:p>
          </p:txBody>
        </p:sp>
      </p:grpSp>
      <p:grpSp>
        <p:nvGrpSpPr>
          <p:cNvPr id="9" name="Group 9"/>
          <p:cNvGrpSpPr/>
          <p:nvPr/>
        </p:nvGrpSpPr>
        <p:grpSpPr>
          <a:xfrm>
            <a:off x="996650" y="79814"/>
            <a:ext cx="8511441" cy="1718421"/>
            <a:chOff x="-619628" y="0"/>
            <a:chExt cx="11348588" cy="2291227"/>
          </a:xfrm>
        </p:grpSpPr>
        <p:sp>
          <p:nvSpPr>
            <p:cNvPr id="10" name="Freeform 10"/>
            <p:cNvSpPr/>
            <p:nvPr/>
          </p:nvSpPr>
          <p:spPr>
            <a:xfrm>
              <a:off x="0" y="0"/>
              <a:ext cx="10728960" cy="2238350"/>
            </a:xfrm>
            <a:custGeom>
              <a:avLst/>
              <a:gdLst/>
              <a:ahLst/>
              <a:cxnLst/>
              <a:rect l="l" t="t" r="r" b="b"/>
              <a:pathLst>
                <a:path w="10728960" h="2238350">
                  <a:moveTo>
                    <a:pt x="0" y="0"/>
                  </a:moveTo>
                  <a:lnTo>
                    <a:pt x="10728960" y="0"/>
                  </a:lnTo>
                  <a:lnTo>
                    <a:pt x="10728960" y="2238350"/>
                  </a:lnTo>
                  <a:lnTo>
                    <a:pt x="0" y="2238350"/>
                  </a:lnTo>
                  <a:close/>
                </a:path>
              </a:pathLst>
            </a:custGeom>
            <a:solidFill>
              <a:srgbClr val="000000">
                <a:alpha val="0"/>
              </a:srgbClr>
            </a:solidFill>
          </p:spPr>
        </p:sp>
        <p:sp>
          <p:nvSpPr>
            <p:cNvPr id="11" name="TextBox 11"/>
            <p:cNvSpPr txBox="1"/>
            <p:nvPr/>
          </p:nvSpPr>
          <p:spPr>
            <a:xfrm>
              <a:off x="-619628" y="43352"/>
              <a:ext cx="10728960" cy="2247875"/>
            </a:xfrm>
            <a:prstGeom prst="rect">
              <a:avLst/>
            </a:prstGeom>
          </p:spPr>
          <p:txBody>
            <a:bodyPr lIns="0" tIns="0" rIns="0" bIns="0" rtlCol="0" anchor="b"/>
            <a:lstStyle/>
            <a:p>
              <a:pPr algn="l">
                <a:lnSpc>
                  <a:spcPts val="5631"/>
                </a:lnSpc>
              </a:pPr>
              <a:r>
                <a:rPr lang="en-US" sz="4693" dirty="0">
                  <a:solidFill>
                    <a:srgbClr val="5FCBEF"/>
                  </a:solidFill>
                  <a:latin typeface="Trebuchet MS"/>
                  <a:ea typeface="Trebuchet MS"/>
                  <a:cs typeface="Trebuchet MS"/>
                  <a:sym typeface="Trebuchet MS"/>
                </a:rPr>
                <a:t>INTRODUCTION</a:t>
              </a:r>
            </a:p>
            <a:p>
              <a:pPr algn="l">
                <a:lnSpc>
                  <a:spcPts val="5631"/>
                </a:lnSpc>
              </a:pPr>
              <a:endParaRPr lang="en-US" sz="4693" dirty="0">
                <a:solidFill>
                  <a:srgbClr val="5FCBEF"/>
                </a:solidFill>
                <a:latin typeface="Trebuchet MS"/>
                <a:ea typeface="Trebuchet MS"/>
                <a:cs typeface="Trebuchet MS"/>
                <a:sym typeface="Trebuchet MS"/>
              </a:endParaRPr>
            </a:p>
          </p:txBody>
        </p:sp>
      </p:grpSp>
      <p:grpSp>
        <p:nvGrpSpPr>
          <p:cNvPr id="12" name="Group 12"/>
          <p:cNvGrpSpPr/>
          <p:nvPr/>
        </p:nvGrpSpPr>
        <p:grpSpPr>
          <a:xfrm>
            <a:off x="8592756" y="5693025"/>
            <a:ext cx="1167025" cy="2095218"/>
            <a:chOff x="0" y="0"/>
            <a:chExt cx="1556033" cy="2793624"/>
          </a:xfrm>
        </p:grpSpPr>
        <p:sp>
          <p:nvSpPr>
            <p:cNvPr id="13" name="Freeform 13"/>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14" name="Group 14"/>
          <p:cNvGrpSpPr/>
          <p:nvPr/>
        </p:nvGrpSpPr>
        <p:grpSpPr>
          <a:xfrm>
            <a:off x="8148783" y="-76200"/>
            <a:ext cx="2285734" cy="7324231"/>
            <a:chOff x="0" y="0"/>
            <a:chExt cx="3047646" cy="9765642"/>
          </a:xfrm>
        </p:grpSpPr>
        <p:sp>
          <p:nvSpPr>
            <p:cNvPr id="15" name="Freeform 15"/>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8206471" y="4973136"/>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9308055" y="130237"/>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8794751" y="-64308"/>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9128897" y="-73341"/>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8905336" y="4126127"/>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8921186" y="-73341"/>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9303367" y="5361218"/>
            <a:ext cx="1167025" cy="2095218"/>
            <a:chOff x="0" y="0"/>
            <a:chExt cx="1556033" cy="2793624"/>
          </a:xfrm>
        </p:grpSpPr>
        <p:sp>
          <p:nvSpPr>
            <p:cNvPr id="15" name="Freeform 15"/>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16" name="AutoShape 16"/>
          <p:cNvSpPr/>
          <p:nvPr/>
        </p:nvSpPr>
        <p:spPr>
          <a:xfrm flipV="1">
            <a:off x="8399027" y="4774450"/>
            <a:ext cx="4300800" cy="2871382"/>
          </a:xfrm>
          <a:prstGeom prst="line">
            <a:avLst/>
          </a:prstGeom>
          <a:ln w="9525" cap="rnd">
            <a:solidFill>
              <a:srgbClr val="5FCBEF"/>
            </a:solidFill>
            <a:prstDash val="solid"/>
            <a:headEnd type="none" w="sm" len="sm"/>
            <a:tailEnd type="none" w="sm" len="sm"/>
          </a:ln>
        </p:spPr>
      </p:sp>
      <p:sp>
        <p:nvSpPr>
          <p:cNvPr id="17" name="AutoShape 17"/>
          <p:cNvSpPr/>
          <p:nvPr/>
        </p:nvSpPr>
        <p:spPr>
          <a:xfrm>
            <a:off x="9231560" y="-355558"/>
            <a:ext cx="1310640" cy="7325360"/>
          </a:xfrm>
          <a:prstGeom prst="line">
            <a:avLst/>
          </a:prstGeom>
          <a:ln w="9525" cap="rnd">
            <a:solidFill>
              <a:srgbClr val="5FCBEF"/>
            </a:solidFill>
            <a:prstDash val="solid"/>
            <a:headEnd type="none" w="sm" len="sm"/>
            <a:tailEnd type="none" w="sm" len="sm"/>
          </a:ln>
        </p:spPr>
      </p:sp>
      <p:grpSp>
        <p:nvGrpSpPr>
          <p:cNvPr id="18" name="Group 18"/>
          <p:cNvGrpSpPr/>
          <p:nvPr/>
        </p:nvGrpSpPr>
        <p:grpSpPr>
          <a:xfrm>
            <a:off x="8794751" y="-64308"/>
            <a:ext cx="2420738" cy="7324230"/>
            <a:chOff x="0" y="0"/>
            <a:chExt cx="3227651" cy="9765641"/>
          </a:xfrm>
        </p:grpSpPr>
        <p:sp>
          <p:nvSpPr>
            <p:cNvPr id="19" name="Freeform 19"/>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0" name="Group 20"/>
          <p:cNvGrpSpPr/>
          <p:nvPr/>
        </p:nvGrpSpPr>
        <p:grpSpPr>
          <a:xfrm>
            <a:off x="9128897" y="-73341"/>
            <a:ext cx="2078023" cy="7324231"/>
            <a:chOff x="0" y="0"/>
            <a:chExt cx="2770698" cy="9765642"/>
          </a:xfrm>
        </p:grpSpPr>
        <p:sp>
          <p:nvSpPr>
            <p:cNvPr id="21" name="Freeform 21"/>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2" name="Group 22"/>
          <p:cNvGrpSpPr/>
          <p:nvPr/>
        </p:nvGrpSpPr>
        <p:grpSpPr>
          <a:xfrm>
            <a:off x="8905336" y="4126127"/>
            <a:ext cx="2681136" cy="3133795"/>
            <a:chOff x="0" y="0"/>
            <a:chExt cx="3574848" cy="4178394"/>
          </a:xfrm>
        </p:grpSpPr>
        <p:sp>
          <p:nvSpPr>
            <p:cNvPr id="23" name="Freeform 23"/>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4" name="Group 24"/>
          <p:cNvGrpSpPr/>
          <p:nvPr/>
        </p:nvGrpSpPr>
        <p:grpSpPr>
          <a:xfrm>
            <a:off x="9303367" y="5361218"/>
            <a:ext cx="1167025" cy="2095218"/>
            <a:chOff x="0" y="0"/>
            <a:chExt cx="1556033" cy="2793624"/>
          </a:xfrm>
        </p:grpSpPr>
        <p:sp>
          <p:nvSpPr>
            <p:cNvPr id="25" name="Freeform 25"/>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6" name="Group 26"/>
          <p:cNvGrpSpPr/>
          <p:nvPr/>
        </p:nvGrpSpPr>
        <p:grpSpPr>
          <a:xfrm>
            <a:off x="-225778" y="-10999"/>
            <a:ext cx="921173" cy="6077938"/>
            <a:chOff x="0" y="0"/>
            <a:chExt cx="1228231" cy="8103918"/>
          </a:xfrm>
        </p:grpSpPr>
        <p:sp>
          <p:nvSpPr>
            <p:cNvPr id="27" name="Freeform 27"/>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28" name="Group 28"/>
          <p:cNvGrpSpPr/>
          <p:nvPr/>
        </p:nvGrpSpPr>
        <p:grpSpPr>
          <a:xfrm>
            <a:off x="575334" y="-442108"/>
            <a:ext cx="8559948" cy="7045952"/>
            <a:chOff x="0" y="0"/>
            <a:chExt cx="10788643" cy="8880458"/>
          </a:xfrm>
        </p:grpSpPr>
        <p:sp>
          <p:nvSpPr>
            <p:cNvPr id="29" name="Freeform 29"/>
            <p:cNvSpPr/>
            <p:nvPr/>
          </p:nvSpPr>
          <p:spPr>
            <a:xfrm>
              <a:off x="0" y="0"/>
              <a:ext cx="10788642" cy="8880457"/>
            </a:xfrm>
            <a:custGeom>
              <a:avLst/>
              <a:gdLst/>
              <a:ahLst/>
              <a:cxnLst/>
              <a:rect l="l" t="t" r="r" b="b"/>
              <a:pathLst>
                <a:path w="10788642" h="8880457">
                  <a:moveTo>
                    <a:pt x="0" y="0"/>
                  </a:moveTo>
                  <a:lnTo>
                    <a:pt x="10788642" y="0"/>
                  </a:lnTo>
                  <a:lnTo>
                    <a:pt x="10788642" y="8880457"/>
                  </a:lnTo>
                  <a:lnTo>
                    <a:pt x="0" y="8880457"/>
                  </a:lnTo>
                  <a:close/>
                </a:path>
              </a:pathLst>
            </a:custGeom>
            <a:solidFill>
              <a:srgbClr val="000000">
                <a:alpha val="0"/>
              </a:srgbClr>
            </a:solidFill>
          </p:spPr>
        </p:sp>
        <p:sp>
          <p:nvSpPr>
            <p:cNvPr id="30" name="TextBox 30"/>
            <p:cNvSpPr txBox="1"/>
            <p:nvPr/>
          </p:nvSpPr>
          <p:spPr>
            <a:xfrm>
              <a:off x="415237" y="1039028"/>
              <a:ext cx="10373406" cy="7841430"/>
            </a:xfrm>
            <a:prstGeom prst="rect">
              <a:avLst/>
            </a:prstGeom>
          </p:spPr>
          <p:txBody>
            <a:bodyPr lIns="0" tIns="0" rIns="0" bIns="0" rtlCol="0" anchor="ctr"/>
            <a:lstStyle/>
            <a:p>
              <a:pPr algn="l">
                <a:lnSpc>
                  <a:spcPts val="3623"/>
                </a:lnSpc>
              </a:pPr>
              <a:r>
                <a:rPr lang="en-US" sz="2400" b="1" dirty="0">
                  <a:solidFill>
                    <a:srgbClr val="5FCBEF"/>
                  </a:solidFill>
                  <a:latin typeface="Trebuchet MS" panose="020B0603020202020204" pitchFamily="34" charset="0"/>
                  <a:ea typeface="Trebuchet MS Bold"/>
                  <a:cs typeface="Trebuchet MS Bold"/>
                  <a:sym typeface="Trebuchet MS Bold"/>
                </a:rPr>
                <a:t>What is Iontophoresis?</a:t>
              </a:r>
            </a:p>
            <a:p>
              <a:pPr algn="l">
                <a:lnSpc>
                  <a:spcPts val="2903"/>
                </a:lnSpc>
              </a:pPr>
              <a:r>
                <a:rPr lang="en-US" sz="2000" dirty="0">
                  <a:solidFill>
                    <a:srgbClr val="5FCBEF"/>
                  </a:solidFill>
                  <a:latin typeface="Trebuchet MS" panose="020B0603020202020204" pitchFamily="34" charset="0"/>
                  <a:ea typeface="Trebuchet MS"/>
                  <a:cs typeface="Trebuchet MS"/>
                  <a:sym typeface="Trebuchet MS"/>
                </a:rPr>
                <a:t>Iontophoresis is a non-invasive technique that uses a low electric current to drive charged drug molecules across the skin and into the bloodstream. This method enhances drug penetration by utilizing an electric field to overcome the skin's natural barrier, ensuring targeted and controlled medication delivery.</a:t>
              </a:r>
            </a:p>
            <a:p>
              <a:pPr algn="l">
                <a:lnSpc>
                  <a:spcPts val="2903"/>
                </a:lnSpc>
              </a:pPr>
              <a:endParaRPr lang="en-US" sz="2000" dirty="0">
                <a:solidFill>
                  <a:srgbClr val="5FCBEF"/>
                </a:solidFill>
                <a:latin typeface="Trebuchet MS" panose="020B0603020202020204" pitchFamily="34" charset="0"/>
                <a:ea typeface="Trebuchet MS"/>
                <a:cs typeface="Trebuchet MS"/>
                <a:sym typeface="Trebuchet MS"/>
              </a:endParaRPr>
            </a:p>
            <a:p>
              <a:pPr algn="l">
                <a:lnSpc>
                  <a:spcPts val="3623"/>
                </a:lnSpc>
              </a:pPr>
              <a:r>
                <a:rPr lang="en-US" sz="2400" b="1" dirty="0">
                  <a:solidFill>
                    <a:srgbClr val="5FCBEF"/>
                  </a:solidFill>
                  <a:latin typeface="Trebuchet MS" panose="020B0603020202020204" pitchFamily="34" charset="0"/>
                  <a:ea typeface="Trebuchet MS Bold"/>
                  <a:cs typeface="Trebuchet MS Bold"/>
                  <a:sym typeface="Trebuchet MS Bold"/>
                </a:rPr>
                <a:t>How Does Iontophoresis Work?</a:t>
              </a:r>
            </a:p>
            <a:p>
              <a:pPr algn="l">
                <a:lnSpc>
                  <a:spcPts val="2903"/>
                </a:lnSpc>
              </a:pPr>
              <a:r>
                <a:rPr lang="en-US" sz="2000" dirty="0">
                  <a:solidFill>
                    <a:srgbClr val="5FCBEF"/>
                  </a:solidFill>
                  <a:latin typeface="Trebuchet MS" panose="020B0603020202020204" pitchFamily="34" charset="0"/>
                  <a:ea typeface="Trebuchet MS"/>
                  <a:cs typeface="Trebuchet MS"/>
                  <a:sym typeface="Trebuchet MS"/>
                </a:rPr>
                <a:t>Iontophoresis operates by applying a small, controlled direct current (DC) through an electrode placed on the skin. The charged drug molecules are repelled from a similarly charged electrode, driving them through the skin and into the bloodstream. This process ensures a precise and controlled drug release, minimizing unwanted side effects.</a:t>
              </a:r>
            </a:p>
            <a:p>
              <a:pPr algn="l">
                <a:lnSpc>
                  <a:spcPts val="1104"/>
                </a:lnSpc>
              </a:pPr>
              <a:endParaRPr lang="en-US" sz="2000" dirty="0">
                <a:solidFill>
                  <a:srgbClr val="5FCBEF"/>
                </a:solidFill>
                <a:latin typeface="Trebuchet MS" panose="020B0603020202020204" pitchFamily="34" charset="0"/>
                <a:ea typeface="Trebuchet MS"/>
                <a:cs typeface="Trebuchet MS"/>
                <a:sym typeface="Trebuchet MS"/>
              </a:endParaRPr>
            </a:p>
            <a:p>
              <a:pPr algn="l">
                <a:lnSpc>
                  <a:spcPts val="864"/>
                </a:lnSpc>
              </a:pPr>
              <a:endParaRPr lang="en-US" sz="2000" dirty="0">
                <a:solidFill>
                  <a:srgbClr val="5FCBEF"/>
                </a:solidFill>
                <a:latin typeface="Trebuchet MS" panose="020B0603020202020204" pitchFamily="34" charset="0"/>
                <a:ea typeface="Trebuchet MS"/>
                <a:cs typeface="Trebuchet MS"/>
                <a:sym typeface="Trebuchet MS"/>
              </a:endParaRPr>
            </a:p>
            <a:p>
              <a:pPr algn="l">
                <a:lnSpc>
                  <a:spcPts val="864"/>
                </a:lnSpc>
              </a:pPr>
              <a:endParaRPr lang="en-US" sz="2000" dirty="0">
                <a:solidFill>
                  <a:srgbClr val="5FCBEF"/>
                </a:solidFill>
                <a:latin typeface="Trebuchet MS" panose="020B0603020202020204" pitchFamily="34" charset="0"/>
                <a:ea typeface="Trebuchet MS"/>
                <a:cs typeface="Trebuchet MS"/>
                <a:sym typeface="Trebuchet MS"/>
              </a:endParaRPr>
            </a:p>
            <a:p>
              <a:pPr algn="l">
                <a:lnSpc>
                  <a:spcPts val="864"/>
                </a:lnSpc>
              </a:pPr>
              <a:endParaRPr lang="en-US" sz="2000"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8206471" y="4973136"/>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733773" y="283178"/>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8489163" y="-9030"/>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8823309" y="-18063"/>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8905336" y="4126127"/>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8615599" y="-18063"/>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9303367" y="5361218"/>
            <a:ext cx="1167025" cy="2095218"/>
            <a:chOff x="0" y="0"/>
            <a:chExt cx="1556033" cy="2793624"/>
          </a:xfrm>
        </p:grpSpPr>
        <p:sp>
          <p:nvSpPr>
            <p:cNvPr id="15" name="Freeform 15"/>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16" name="AutoShape 16"/>
          <p:cNvSpPr/>
          <p:nvPr/>
        </p:nvSpPr>
        <p:spPr>
          <a:xfrm flipV="1">
            <a:off x="8399027" y="4774450"/>
            <a:ext cx="4300800" cy="2871382"/>
          </a:xfrm>
          <a:prstGeom prst="line">
            <a:avLst/>
          </a:prstGeom>
          <a:ln w="9525" cap="rnd">
            <a:solidFill>
              <a:srgbClr val="5FCBEF"/>
            </a:solidFill>
            <a:prstDash val="solid"/>
            <a:headEnd type="none" w="sm" len="sm"/>
            <a:tailEnd type="none" w="sm" len="sm"/>
          </a:ln>
        </p:spPr>
      </p:sp>
      <p:sp>
        <p:nvSpPr>
          <p:cNvPr id="17" name="AutoShape 17"/>
          <p:cNvSpPr/>
          <p:nvPr/>
        </p:nvSpPr>
        <p:spPr>
          <a:xfrm>
            <a:off x="8489163" y="295015"/>
            <a:ext cx="1310640" cy="7325360"/>
          </a:xfrm>
          <a:prstGeom prst="line">
            <a:avLst/>
          </a:prstGeom>
          <a:ln w="9525" cap="rnd">
            <a:solidFill>
              <a:srgbClr val="5FCBEF"/>
            </a:solidFill>
            <a:prstDash val="solid"/>
            <a:headEnd type="none" w="sm" len="sm"/>
            <a:tailEnd type="none" w="sm" len="sm"/>
          </a:ln>
        </p:spPr>
      </p:sp>
      <p:grpSp>
        <p:nvGrpSpPr>
          <p:cNvPr id="18" name="Group 18"/>
          <p:cNvGrpSpPr/>
          <p:nvPr/>
        </p:nvGrpSpPr>
        <p:grpSpPr>
          <a:xfrm>
            <a:off x="8489163" y="-9030"/>
            <a:ext cx="2420738" cy="7324230"/>
            <a:chOff x="0" y="0"/>
            <a:chExt cx="3227651" cy="9765641"/>
          </a:xfrm>
        </p:grpSpPr>
        <p:sp>
          <p:nvSpPr>
            <p:cNvPr id="19" name="Freeform 19"/>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0" name="Group 20"/>
          <p:cNvGrpSpPr/>
          <p:nvPr/>
        </p:nvGrpSpPr>
        <p:grpSpPr>
          <a:xfrm>
            <a:off x="8823309" y="-18063"/>
            <a:ext cx="2078023" cy="7324231"/>
            <a:chOff x="0" y="0"/>
            <a:chExt cx="2770698" cy="9765642"/>
          </a:xfrm>
        </p:grpSpPr>
        <p:sp>
          <p:nvSpPr>
            <p:cNvPr id="21" name="Freeform 21"/>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2" name="Group 22"/>
          <p:cNvGrpSpPr/>
          <p:nvPr/>
        </p:nvGrpSpPr>
        <p:grpSpPr>
          <a:xfrm>
            <a:off x="8905336" y="4126127"/>
            <a:ext cx="2681136" cy="3133795"/>
            <a:chOff x="0" y="0"/>
            <a:chExt cx="3574848" cy="4178394"/>
          </a:xfrm>
        </p:grpSpPr>
        <p:sp>
          <p:nvSpPr>
            <p:cNvPr id="23" name="Freeform 23"/>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4" name="Group 24"/>
          <p:cNvGrpSpPr/>
          <p:nvPr/>
        </p:nvGrpSpPr>
        <p:grpSpPr>
          <a:xfrm>
            <a:off x="8592756" y="5693025"/>
            <a:ext cx="1167025" cy="2095218"/>
            <a:chOff x="0" y="0"/>
            <a:chExt cx="1556033" cy="2793624"/>
          </a:xfrm>
        </p:grpSpPr>
        <p:sp>
          <p:nvSpPr>
            <p:cNvPr id="25" name="Freeform 25"/>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6" name="Group 26"/>
          <p:cNvGrpSpPr/>
          <p:nvPr/>
        </p:nvGrpSpPr>
        <p:grpSpPr>
          <a:xfrm>
            <a:off x="-225778" y="-10999"/>
            <a:ext cx="921173" cy="6077938"/>
            <a:chOff x="0" y="0"/>
            <a:chExt cx="1228231" cy="8103918"/>
          </a:xfrm>
        </p:grpSpPr>
        <p:sp>
          <p:nvSpPr>
            <p:cNvPr id="27" name="Freeform 27"/>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28" name="Group 28"/>
          <p:cNvGrpSpPr/>
          <p:nvPr/>
        </p:nvGrpSpPr>
        <p:grpSpPr>
          <a:xfrm>
            <a:off x="717698" y="-147971"/>
            <a:ext cx="8776892" cy="7225023"/>
            <a:chOff x="0" y="0"/>
            <a:chExt cx="11062071" cy="9106152"/>
          </a:xfrm>
        </p:grpSpPr>
        <p:sp>
          <p:nvSpPr>
            <p:cNvPr id="29" name="Freeform 29"/>
            <p:cNvSpPr/>
            <p:nvPr/>
          </p:nvSpPr>
          <p:spPr>
            <a:xfrm>
              <a:off x="0" y="0"/>
              <a:ext cx="10556108" cy="9106152"/>
            </a:xfrm>
            <a:custGeom>
              <a:avLst/>
              <a:gdLst/>
              <a:ahLst/>
              <a:cxnLst/>
              <a:rect l="l" t="t" r="r" b="b"/>
              <a:pathLst>
                <a:path w="10556108" h="9106152">
                  <a:moveTo>
                    <a:pt x="0" y="0"/>
                  </a:moveTo>
                  <a:lnTo>
                    <a:pt x="10556108" y="0"/>
                  </a:lnTo>
                  <a:lnTo>
                    <a:pt x="10556108" y="9106152"/>
                  </a:lnTo>
                  <a:lnTo>
                    <a:pt x="0" y="9106152"/>
                  </a:lnTo>
                  <a:close/>
                </a:path>
              </a:pathLst>
            </a:custGeom>
            <a:solidFill>
              <a:srgbClr val="000000">
                <a:alpha val="0"/>
              </a:srgbClr>
            </a:solidFill>
          </p:spPr>
        </p:sp>
        <p:sp>
          <p:nvSpPr>
            <p:cNvPr id="30" name="TextBox 30"/>
            <p:cNvSpPr txBox="1"/>
            <p:nvPr/>
          </p:nvSpPr>
          <p:spPr>
            <a:xfrm>
              <a:off x="0" y="0"/>
              <a:ext cx="11062071" cy="9106152"/>
            </a:xfrm>
            <a:prstGeom prst="rect">
              <a:avLst/>
            </a:prstGeom>
          </p:spPr>
          <p:txBody>
            <a:bodyPr lIns="0" tIns="0" rIns="0" bIns="0" rtlCol="0" anchor="ctr"/>
            <a:lstStyle/>
            <a:p>
              <a:pPr algn="l">
                <a:lnSpc>
                  <a:spcPts val="3863"/>
                </a:lnSpc>
              </a:pPr>
              <a:r>
                <a:rPr lang="en-US" sz="2800" b="1" dirty="0">
                  <a:solidFill>
                    <a:srgbClr val="5FCBEF"/>
                  </a:solidFill>
                  <a:latin typeface="Trebuchet MS" panose="020B0603020202020204" pitchFamily="34" charset="0"/>
                  <a:ea typeface="Trebuchet MS Bold"/>
                  <a:cs typeface="Trebuchet MS Bold"/>
                  <a:sym typeface="Trebuchet MS Bold"/>
                </a:rPr>
                <a:t>Why Wearable Drug Delivery?</a:t>
              </a:r>
            </a:p>
            <a:p>
              <a:pPr algn="l">
                <a:lnSpc>
                  <a:spcPts val="3863"/>
                </a:lnSpc>
              </a:pPr>
              <a:endParaRPr lang="en-US" sz="2800" b="1" dirty="0">
                <a:solidFill>
                  <a:srgbClr val="5FCBEF"/>
                </a:solidFill>
                <a:latin typeface="Trebuchet MS" panose="020B0603020202020204" pitchFamily="34" charset="0"/>
                <a:ea typeface="Trebuchet MS Bold"/>
                <a:cs typeface="Trebuchet MS Bold"/>
                <a:sym typeface="Trebuchet MS Bold"/>
              </a:endParaRPr>
            </a:p>
            <a:p>
              <a:pPr algn="l">
                <a:lnSpc>
                  <a:spcPts val="2423"/>
                </a:lnSpc>
              </a:pPr>
              <a:r>
                <a:rPr lang="en-US" dirty="0">
                  <a:solidFill>
                    <a:srgbClr val="5FCBEF"/>
                  </a:solidFill>
                  <a:latin typeface="Trebuchet MS" panose="020B0603020202020204" pitchFamily="34" charset="0"/>
                  <a:ea typeface="Trebuchet MS"/>
                  <a:cs typeface="Trebuchet MS"/>
                  <a:sym typeface="Trebuchet MS"/>
                </a:rPr>
                <a:t>Traditional drug administration methods have several limitations.</a:t>
              </a:r>
            </a:p>
            <a:p>
              <a:pPr algn="l">
                <a:lnSpc>
                  <a:spcPts val="2423"/>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2423"/>
                </a:lnSpc>
              </a:pPr>
              <a:r>
                <a:rPr lang="en-US" u="sng" dirty="0">
                  <a:solidFill>
                    <a:srgbClr val="5FCBEF"/>
                  </a:solidFill>
                  <a:latin typeface="Trebuchet MS" panose="020B0603020202020204" pitchFamily="34" charset="0"/>
                  <a:ea typeface="Trebuchet MS"/>
                  <a:cs typeface="Trebuchet MS"/>
                  <a:sym typeface="Trebuchet MS"/>
                </a:rPr>
                <a:t>Oral Medications</a:t>
              </a:r>
            </a:p>
            <a:p>
              <a:pPr algn="l">
                <a:lnSpc>
                  <a:spcPts val="2423"/>
                </a:lnSpc>
              </a:pPr>
              <a:r>
                <a:rPr lang="en-US" dirty="0">
                  <a:solidFill>
                    <a:srgbClr val="5FCBEF"/>
                  </a:solidFill>
                  <a:latin typeface="Trebuchet MS" panose="020B0603020202020204" pitchFamily="34" charset="0"/>
                  <a:ea typeface="Trebuchet MS"/>
                  <a:cs typeface="Trebuchet MS"/>
                  <a:sym typeface="Trebuchet MS"/>
                </a:rPr>
                <a:t>Oral drugs often face slow absorption through the digestive system. They also undergo metabolism in the liver, reducing their bioavailability. Additionally, systemic distribution may cause potential side effects.</a:t>
              </a:r>
            </a:p>
            <a:p>
              <a:pPr algn="l">
                <a:lnSpc>
                  <a:spcPts val="2423"/>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2423"/>
                </a:lnSpc>
              </a:pPr>
              <a:r>
                <a:rPr lang="en-US" u="sng" dirty="0">
                  <a:solidFill>
                    <a:srgbClr val="5FCBEF"/>
                  </a:solidFill>
                  <a:latin typeface="Trebuchet MS" panose="020B0603020202020204" pitchFamily="34" charset="0"/>
                  <a:ea typeface="Trebuchet MS"/>
                  <a:cs typeface="Trebuchet MS"/>
                  <a:sym typeface="Trebuchet MS"/>
                </a:rPr>
                <a:t>Injections</a:t>
              </a:r>
            </a:p>
            <a:p>
              <a:pPr algn="l">
                <a:lnSpc>
                  <a:spcPts val="2423"/>
                </a:lnSpc>
              </a:pPr>
              <a:r>
                <a:rPr lang="en-US" dirty="0">
                  <a:solidFill>
                    <a:srgbClr val="5FCBEF"/>
                  </a:solidFill>
                  <a:latin typeface="Trebuchet MS" panose="020B0603020202020204" pitchFamily="34" charset="0"/>
                  <a:ea typeface="Trebuchet MS"/>
                  <a:cs typeface="Trebuchet MS"/>
                  <a:sym typeface="Trebuchet MS"/>
                </a:rPr>
                <a:t>Injections are invasive and often painful, requiring professional administration. They also pose risks such as infections and needle-related anxiety.</a:t>
              </a:r>
            </a:p>
            <a:p>
              <a:pPr algn="l">
                <a:lnSpc>
                  <a:spcPts val="2423"/>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2423"/>
                </a:lnSpc>
              </a:pPr>
              <a:r>
                <a:rPr lang="en-US" u="sng" dirty="0">
                  <a:solidFill>
                    <a:srgbClr val="5FCBEF"/>
                  </a:solidFill>
                  <a:latin typeface="Trebuchet MS" panose="020B0603020202020204" pitchFamily="34" charset="0"/>
                  <a:ea typeface="Trebuchet MS"/>
                  <a:cs typeface="Trebuchet MS"/>
                  <a:sym typeface="Trebuchet MS"/>
                </a:rPr>
                <a:t>Wearable Iontophoresis</a:t>
              </a:r>
            </a:p>
            <a:p>
              <a:pPr algn="l">
                <a:lnSpc>
                  <a:spcPts val="2423"/>
                </a:lnSpc>
              </a:pPr>
              <a:r>
                <a:rPr lang="en-US" dirty="0">
                  <a:solidFill>
                    <a:srgbClr val="5FCBEF"/>
                  </a:solidFill>
                  <a:latin typeface="Trebuchet MS" panose="020B0603020202020204" pitchFamily="34" charset="0"/>
                  <a:ea typeface="Trebuchet MS"/>
                  <a:cs typeface="Trebuchet MS"/>
                  <a:sym typeface="Trebuchet MS"/>
                </a:rPr>
                <a:t>Wearable iontophoresis offers a pain-free alternative with no needles, reducing patient discomfort. It ensures steady and precise medication dosing while enabling real-time response adjustments based on physiological needs.</a:t>
              </a:r>
            </a:p>
            <a:p>
              <a:pPr algn="l">
                <a:lnSpc>
                  <a:spcPts val="1824"/>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1824"/>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1824"/>
                </a:lnSpc>
              </a:pPr>
              <a:endParaRPr lang="en-US"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7509785" y="4831900"/>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323592" y="178398"/>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8191806" y="-7115"/>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8525952" y="-16147"/>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8208650" y="3984891"/>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8318241" y="-16147"/>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8606682" y="5219982"/>
            <a:ext cx="1167025" cy="2095218"/>
            <a:chOff x="0" y="0"/>
            <a:chExt cx="1556033" cy="2793624"/>
          </a:xfrm>
        </p:grpSpPr>
        <p:sp>
          <p:nvSpPr>
            <p:cNvPr id="15" name="Freeform 15"/>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16" name="AutoShape 16"/>
          <p:cNvSpPr/>
          <p:nvPr/>
        </p:nvSpPr>
        <p:spPr>
          <a:xfrm flipV="1">
            <a:off x="7702341" y="4633214"/>
            <a:ext cx="4300800" cy="2871382"/>
          </a:xfrm>
          <a:prstGeom prst="line">
            <a:avLst/>
          </a:prstGeom>
          <a:ln w="9525" cap="rnd">
            <a:solidFill>
              <a:srgbClr val="5FCBEF"/>
            </a:solidFill>
            <a:prstDash val="solid"/>
            <a:headEnd type="none" w="sm" len="sm"/>
            <a:tailEnd type="none" w="sm" len="sm"/>
          </a:ln>
        </p:spPr>
      </p:sp>
      <p:sp>
        <p:nvSpPr>
          <p:cNvPr id="17" name="AutoShape 17"/>
          <p:cNvSpPr/>
          <p:nvPr/>
        </p:nvSpPr>
        <p:spPr>
          <a:xfrm>
            <a:off x="8366760" y="839"/>
            <a:ext cx="1310640" cy="7325360"/>
          </a:xfrm>
          <a:prstGeom prst="line">
            <a:avLst/>
          </a:prstGeom>
          <a:ln w="9525" cap="rnd">
            <a:solidFill>
              <a:srgbClr val="5FCBEF"/>
            </a:solidFill>
            <a:prstDash val="solid"/>
            <a:headEnd type="none" w="sm" len="sm"/>
            <a:tailEnd type="none" w="sm" len="sm"/>
          </a:ln>
        </p:spPr>
      </p:sp>
      <p:grpSp>
        <p:nvGrpSpPr>
          <p:cNvPr id="18" name="Group 18"/>
          <p:cNvGrpSpPr/>
          <p:nvPr/>
        </p:nvGrpSpPr>
        <p:grpSpPr>
          <a:xfrm>
            <a:off x="8191806" y="-7115"/>
            <a:ext cx="2420738" cy="7324230"/>
            <a:chOff x="0" y="0"/>
            <a:chExt cx="3227651" cy="9765641"/>
          </a:xfrm>
        </p:grpSpPr>
        <p:sp>
          <p:nvSpPr>
            <p:cNvPr id="19" name="Freeform 19"/>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0" name="Group 20"/>
          <p:cNvGrpSpPr/>
          <p:nvPr/>
        </p:nvGrpSpPr>
        <p:grpSpPr>
          <a:xfrm>
            <a:off x="8525952" y="-16147"/>
            <a:ext cx="2078023" cy="7324231"/>
            <a:chOff x="0" y="0"/>
            <a:chExt cx="2770698" cy="9765642"/>
          </a:xfrm>
        </p:grpSpPr>
        <p:sp>
          <p:nvSpPr>
            <p:cNvPr id="21" name="Freeform 21"/>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2" name="Group 22"/>
          <p:cNvGrpSpPr/>
          <p:nvPr/>
        </p:nvGrpSpPr>
        <p:grpSpPr>
          <a:xfrm>
            <a:off x="8208650" y="3984891"/>
            <a:ext cx="2681136" cy="3133795"/>
            <a:chOff x="0" y="0"/>
            <a:chExt cx="3574848" cy="4178394"/>
          </a:xfrm>
        </p:grpSpPr>
        <p:sp>
          <p:nvSpPr>
            <p:cNvPr id="23" name="Freeform 23"/>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4" name="Group 24"/>
          <p:cNvGrpSpPr/>
          <p:nvPr/>
        </p:nvGrpSpPr>
        <p:grpSpPr>
          <a:xfrm>
            <a:off x="8744558" y="180365"/>
            <a:ext cx="2285734" cy="7324231"/>
            <a:chOff x="0" y="0"/>
            <a:chExt cx="3047646" cy="9765642"/>
          </a:xfrm>
        </p:grpSpPr>
        <p:sp>
          <p:nvSpPr>
            <p:cNvPr id="25" name="Freeform 25"/>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26" name="Group 26"/>
          <p:cNvGrpSpPr/>
          <p:nvPr/>
        </p:nvGrpSpPr>
        <p:grpSpPr>
          <a:xfrm>
            <a:off x="8606682" y="5219982"/>
            <a:ext cx="1167025" cy="2095218"/>
            <a:chOff x="0" y="0"/>
            <a:chExt cx="1556033" cy="2793624"/>
          </a:xfrm>
        </p:grpSpPr>
        <p:sp>
          <p:nvSpPr>
            <p:cNvPr id="27" name="Freeform 27"/>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8" name="Group 28"/>
          <p:cNvGrpSpPr/>
          <p:nvPr/>
        </p:nvGrpSpPr>
        <p:grpSpPr>
          <a:xfrm>
            <a:off x="-9030" y="-9033"/>
            <a:ext cx="921173" cy="6077938"/>
            <a:chOff x="0" y="0"/>
            <a:chExt cx="1228231" cy="8103918"/>
          </a:xfrm>
        </p:grpSpPr>
        <p:sp>
          <p:nvSpPr>
            <p:cNvPr id="29" name="Freeform 29"/>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30" name="Group 30"/>
          <p:cNvGrpSpPr/>
          <p:nvPr/>
        </p:nvGrpSpPr>
        <p:grpSpPr>
          <a:xfrm>
            <a:off x="992863" y="-950717"/>
            <a:ext cx="7518378" cy="7218306"/>
            <a:chOff x="-215988" y="-1103386"/>
            <a:chExt cx="9475886" cy="9097686"/>
          </a:xfrm>
        </p:grpSpPr>
        <p:sp>
          <p:nvSpPr>
            <p:cNvPr id="31" name="Freeform 31"/>
            <p:cNvSpPr/>
            <p:nvPr/>
          </p:nvSpPr>
          <p:spPr>
            <a:xfrm>
              <a:off x="-215988" y="-1103386"/>
              <a:ext cx="9259898" cy="7994300"/>
            </a:xfrm>
            <a:custGeom>
              <a:avLst/>
              <a:gdLst/>
              <a:ahLst/>
              <a:cxnLst/>
              <a:rect l="l" t="t" r="r" b="b"/>
              <a:pathLst>
                <a:path w="9259898" h="7994300">
                  <a:moveTo>
                    <a:pt x="0" y="0"/>
                  </a:moveTo>
                  <a:lnTo>
                    <a:pt x="9259898" y="0"/>
                  </a:lnTo>
                  <a:lnTo>
                    <a:pt x="9259898" y="7994300"/>
                  </a:lnTo>
                  <a:lnTo>
                    <a:pt x="0" y="7994300"/>
                  </a:lnTo>
                  <a:close/>
                </a:path>
              </a:pathLst>
            </a:custGeom>
            <a:solidFill>
              <a:srgbClr val="000000">
                <a:alpha val="0"/>
              </a:srgbClr>
            </a:solidFill>
          </p:spPr>
        </p:sp>
        <p:sp>
          <p:nvSpPr>
            <p:cNvPr id="32" name="TextBox 32"/>
            <p:cNvSpPr txBox="1"/>
            <p:nvPr/>
          </p:nvSpPr>
          <p:spPr>
            <a:xfrm>
              <a:off x="0" y="0"/>
              <a:ext cx="9259898" cy="7994300"/>
            </a:xfrm>
            <a:prstGeom prst="rect">
              <a:avLst/>
            </a:prstGeom>
          </p:spPr>
          <p:txBody>
            <a:bodyPr lIns="0" tIns="0" rIns="0" bIns="0" rtlCol="0" anchor="ctr"/>
            <a:lstStyle/>
            <a:p>
              <a:pPr algn="l">
                <a:lnSpc>
                  <a:spcPts val="3863"/>
                </a:lnSpc>
              </a:pPr>
              <a:r>
                <a:rPr lang="en-US" sz="3219" b="1" dirty="0">
                  <a:solidFill>
                    <a:srgbClr val="5FCBEF"/>
                  </a:solidFill>
                  <a:latin typeface="Trebuchet MS" panose="020B0603020202020204" pitchFamily="34" charset="0"/>
                  <a:ea typeface="Trebuchet MS Bold"/>
                  <a:cs typeface="Trebuchet MS Bold"/>
                  <a:sym typeface="Trebuchet MS Bold"/>
                </a:rPr>
                <a:t>How AI &amp; Machine Learning Improve Iontophoretic Drug Delivery ?</a:t>
              </a:r>
            </a:p>
            <a:p>
              <a:pPr algn="l">
                <a:lnSpc>
                  <a:spcPts val="1824"/>
                </a:lnSpc>
              </a:pPr>
              <a:endParaRPr lang="en-US" sz="3219" b="1" dirty="0">
                <a:solidFill>
                  <a:srgbClr val="5FCBEF"/>
                </a:solidFill>
                <a:latin typeface="Trebuchet MS" panose="020B0603020202020204" pitchFamily="34" charset="0"/>
                <a:ea typeface="Trebuchet MS Bold"/>
                <a:cs typeface="Trebuchet MS Bold"/>
                <a:sym typeface="Trebuchet MS Bold"/>
              </a:endParaRPr>
            </a:p>
            <a:p>
              <a:pPr algn="l">
                <a:lnSpc>
                  <a:spcPts val="2783"/>
                </a:lnSpc>
              </a:pPr>
              <a:r>
                <a:rPr lang="en-US" sz="2319" dirty="0">
                  <a:solidFill>
                    <a:srgbClr val="5FCBEF"/>
                  </a:solidFill>
                  <a:latin typeface="Trebuchet MS" panose="020B0603020202020204" pitchFamily="34" charset="0"/>
                  <a:ea typeface="Trebuchet MS"/>
                  <a:cs typeface="Trebuchet MS"/>
                  <a:sym typeface="Trebuchet MS"/>
                </a:rPr>
                <a:t>Machine learning (ML) plays a crucial role in optimizing wearable iontophoresis. AI algorithms analyze biometric data, such as heart rate and skin conductance, to detect real-time stress levels. ML models predict the optimal medication dosage based on individual physiological responses. The system dynamically adjusts drug release to maintain therapeutic effectiveness while minimizing side effects.</a:t>
              </a:r>
            </a:p>
            <a:p>
              <a:pPr algn="l">
                <a:lnSpc>
                  <a:spcPts val="1824"/>
                </a:lnSpc>
              </a:pPr>
              <a:endParaRPr lang="en-US" sz="2319"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292585"/>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6074801" y="4460727"/>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229889" y="839"/>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7988857" y="11840"/>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8323003" y="2807"/>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7089454" y="4193242"/>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8115292" y="2807"/>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9486329" y="2807"/>
            <a:ext cx="914699" cy="7324231"/>
            <a:chOff x="0" y="0"/>
            <a:chExt cx="1219598" cy="9765642"/>
          </a:xfrm>
        </p:grpSpPr>
        <p:sp>
          <p:nvSpPr>
            <p:cNvPr id="15" name="Freeform 15"/>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p:cNvGrpSpPr/>
          <p:nvPr/>
        </p:nvGrpSpPr>
        <p:grpSpPr>
          <a:xfrm>
            <a:off x="9271277" y="2806"/>
            <a:ext cx="1137888" cy="7324231"/>
            <a:chOff x="0" y="0"/>
            <a:chExt cx="1517184" cy="9765642"/>
          </a:xfrm>
        </p:grpSpPr>
        <p:sp>
          <p:nvSpPr>
            <p:cNvPr id="17" name="Freeform 17"/>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p:cNvGrpSpPr/>
          <p:nvPr/>
        </p:nvGrpSpPr>
        <p:grpSpPr>
          <a:xfrm>
            <a:off x="8615713" y="5231820"/>
            <a:ext cx="1167025" cy="2095218"/>
            <a:chOff x="0" y="0"/>
            <a:chExt cx="1556033" cy="2793624"/>
          </a:xfrm>
        </p:grpSpPr>
        <p:sp>
          <p:nvSpPr>
            <p:cNvPr id="19" name="Freeform 19"/>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p:cNvGrpSpPr/>
          <p:nvPr/>
        </p:nvGrpSpPr>
        <p:grpSpPr>
          <a:xfrm>
            <a:off x="439127" y="743359"/>
            <a:ext cx="6819447" cy="1668126"/>
            <a:chOff x="-64737" y="0"/>
            <a:chExt cx="9092595" cy="2224169"/>
          </a:xfrm>
        </p:grpSpPr>
        <p:sp>
          <p:nvSpPr>
            <p:cNvPr id="21" name="Freeform 21"/>
            <p:cNvSpPr/>
            <p:nvPr/>
          </p:nvSpPr>
          <p:spPr>
            <a:xfrm>
              <a:off x="0" y="0"/>
              <a:ext cx="9027858"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p:cNvSpPr txBox="1"/>
            <p:nvPr/>
          </p:nvSpPr>
          <p:spPr>
            <a:xfrm>
              <a:off x="-64737" y="326649"/>
              <a:ext cx="9027858" cy="1897520"/>
            </a:xfrm>
            <a:prstGeom prst="rect">
              <a:avLst/>
            </a:prstGeom>
          </p:spPr>
          <p:txBody>
            <a:bodyPr lIns="0" tIns="0" rIns="0" bIns="0" rtlCol="0" anchor="t"/>
            <a:lstStyle/>
            <a:p>
              <a:pPr algn="l">
                <a:lnSpc>
                  <a:spcPts val="5327"/>
                </a:lnSpc>
              </a:pPr>
              <a:r>
                <a:rPr lang="en-US" sz="4439" dirty="0">
                  <a:solidFill>
                    <a:srgbClr val="5FCBEF"/>
                  </a:solidFill>
                  <a:latin typeface="Trebuchet MS"/>
                  <a:ea typeface="Trebuchet MS"/>
                  <a:cs typeface="Trebuchet MS"/>
                  <a:sym typeface="Trebuchet MS"/>
                </a:rPr>
                <a:t> PROBLEM STATEMENT</a:t>
              </a:r>
            </a:p>
          </p:txBody>
        </p:sp>
      </p:grpSp>
      <p:grpSp>
        <p:nvGrpSpPr>
          <p:cNvPr id="23" name="Group 23"/>
          <p:cNvGrpSpPr/>
          <p:nvPr/>
        </p:nvGrpSpPr>
        <p:grpSpPr>
          <a:xfrm>
            <a:off x="585482" y="1061529"/>
            <a:ext cx="7883876" cy="6111311"/>
            <a:chOff x="0" y="-9525"/>
            <a:chExt cx="10592082" cy="8210622"/>
          </a:xfrm>
        </p:grpSpPr>
        <p:sp>
          <p:nvSpPr>
            <p:cNvPr id="24" name="Freeform 24"/>
            <p:cNvSpPr/>
            <p:nvPr/>
          </p:nvSpPr>
          <p:spPr>
            <a:xfrm>
              <a:off x="196628" y="206797"/>
              <a:ext cx="10395454" cy="7994300"/>
            </a:xfrm>
            <a:custGeom>
              <a:avLst/>
              <a:gdLst/>
              <a:ahLst/>
              <a:cxnLst/>
              <a:rect l="l" t="t" r="r" b="b"/>
              <a:pathLst>
                <a:path w="10395454" h="7994300">
                  <a:moveTo>
                    <a:pt x="0" y="0"/>
                  </a:moveTo>
                  <a:lnTo>
                    <a:pt x="10395454" y="0"/>
                  </a:lnTo>
                  <a:lnTo>
                    <a:pt x="10395454" y="7994300"/>
                  </a:lnTo>
                  <a:lnTo>
                    <a:pt x="0" y="7994300"/>
                  </a:lnTo>
                  <a:close/>
                </a:path>
              </a:pathLst>
            </a:custGeom>
            <a:solidFill>
              <a:srgbClr val="000000">
                <a:alpha val="0"/>
              </a:srgbClr>
            </a:solidFill>
          </p:spPr>
        </p:sp>
        <p:sp>
          <p:nvSpPr>
            <p:cNvPr id="25" name="TextBox 25"/>
            <p:cNvSpPr txBox="1"/>
            <p:nvPr/>
          </p:nvSpPr>
          <p:spPr>
            <a:xfrm>
              <a:off x="0" y="-9525"/>
              <a:ext cx="10395453" cy="8003825"/>
            </a:xfrm>
            <a:prstGeom prst="rect">
              <a:avLst/>
            </a:prstGeom>
          </p:spPr>
          <p:txBody>
            <a:bodyPr lIns="0" tIns="0" rIns="0" bIns="0" rtlCol="0" anchor="ctr"/>
            <a:lstStyle/>
            <a:p>
              <a:pPr algn="just">
                <a:lnSpc>
                  <a:spcPts val="1824"/>
                </a:lnSpc>
              </a:pPr>
              <a:endParaRPr dirty="0">
                <a:latin typeface="Trebuchet MS" panose="020B0603020202020204" pitchFamily="34" charset="0"/>
              </a:endParaRPr>
            </a:p>
            <a:p>
              <a:pPr algn="just">
                <a:lnSpc>
                  <a:spcPts val="2783"/>
                </a:lnSpc>
              </a:pPr>
              <a:r>
                <a:rPr lang="en-US" sz="2319" dirty="0">
                  <a:solidFill>
                    <a:srgbClr val="5FCBEF"/>
                  </a:solidFill>
                  <a:latin typeface="Trebuchet MS" panose="020B0603020202020204" pitchFamily="34" charset="0"/>
                  <a:ea typeface="Trebuchet MS"/>
                  <a:cs typeface="Trebuchet MS"/>
                  <a:sym typeface="Trebuchet MS"/>
                </a:rPr>
                <a:t>Traditional drug delivery methods, like oral medications and injections, lack precision and adaptability. Oral drugs face delays due to metabolism, while injections are invasive and reduce patient adherence. For conditions like anxiety, hypertension, and chronic pain, timely drug administration is critical. Wearable iontophoresis, combined with AI-driven stress detection, enables real-time, non-invasive, and automated drug delivery, ensuring personalized and immediate treatment for better patient outcomes.</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algn="just">
                <a:lnSpc>
                  <a:spcPts val="1824"/>
                </a:lnSpc>
              </a:pPr>
              <a:endParaRPr lang="en-US" sz="2319"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497755" y="1746135"/>
            <a:ext cx="8524325" cy="5129609"/>
          </a:xfrm>
          <a:prstGeom prst="rect">
            <a:avLst/>
          </a:prstGeom>
        </p:spPr>
        <p:txBody>
          <a:bodyPr lIns="0" tIns="0" rIns="0" bIns="0" rtlCol="0" anchor="t">
            <a:spAutoFit/>
          </a:bodyPr>
          <a:lstStyle/>
          <a:p>
            <a:pPr algn="just">
              <a:lnSpc>
                <a:spcPts val="2519"/>
              </a:lnSpc>
            </a:pPr>
            <a:r>
              <a:rPr lang="en-US" sz="2099" b="1" dirty="0">
                <a:solidFill>
                  <a:srgbClr val="2096AE"/>
                </a:solidFill>
                <a:latin typeface="Trebuchet MS" panose="020B0603020202020204" pitchFamily="34" charset="0"/>
                <a:ea typeface="Trebuchet MS Bold"/>
                <a:cs typeface="Trebuchet MS Bold"/>
                <a:sym typeface="Trebuchet MS Bold"/>
              </a:rPr>
              <a:t>Title: </a:t>
            </a:r>
            <a:r>
              <a:rPr lang="en-US" sz="2099" dirty="0">
                <a:solidFill>
                  <a:srgbClr val="2096AE"/>
                </a:solidFill>
                <a:latin typeface="Trebuchet MS" panose="020B0603020202020204" pitchFamily="34" charset="0"/>
                <a:ea typeface="Trebuchet MS"/>
                <a:cs typeface="Trebuchet MS"/>
                <a:sym typeface="Trebuchet MS"/>
              </a:rPr>
              <a:t>An integrated Mg battery-powered iontophoresis patch for efficient and controllable transdermal drug delivery </a:t>
            </a:r>
            <a:r>
              <a:rPr lang="en-US" sz="2099" dirty="0">
                <a:solidFill>
                  <a:srgbClr val="2096AE"/>
                </a:solidFill>
                <a:latin typeface="Trebuchet MS" panose="020B0603020202020204" pitchFamily="34" charset="0"/>
                <a:ea typeface="Trebuchet MS"/>
                <a:cs typeface="Trebuchet MS"/>
                <a:sym typeface="Trebuchet MS"/>
                <a:hlinkClick r:id="rId2" action="ppaction://hlinksldjump">
                  <a:extLst>
                    <a:ext uri="{A12FA001-AC4F-418D-AE19-62706E023703}">
                      <ahyp:hlinkClr xmlns:ahyp="http://schemas.microsoft.com/office/drawing/2018/hyperlinkcolor" val="tx"/>
                    </a:ext>
                  </a:extLst>
                </a:hlinkClick>
              </a:rPr>
              <a:t>[1]</a:t>
            </a:r>
            <a:endParaRPr lang="en-US" sz="2099" dirty="0">
              <a:solidFill>
                <a:srgbClr val="2096AE"/>
              </a:solidFill>
              <a:latin typeface="Trebuchet MS" panose="020B0603020202020204" pitchFamily="34" charset="0"/>
              <a:ea typeface="Trebuchet MS"/>
              <a:cs typeface="Trebuchet MS"/>
              <a:sym typeface="Trebuchet MS"/>
            </a:endParaRPr>
          </a:p>
          <a:p>
            <a:pPr algn="just">
              <a:lnSpc>
                <a:spcPts val="2519"/>
              </a:lnSpc>
            </a:pPr>
            <a:r>
              <a:rPr lang="en-US" sz="2099" b="1" dirty="0">
                <a:solidFill>
                  <a:srgbClr val="2096AE"/>
                </a:solidFill>
                <a:latin typeface="Trebuchet MS" panose="020B0603020202020204" pitchFamily="34" charset="0"/>
                <a:ea typeface="Trebuchet MS Bold"/>
                <a:cs typeface="Trebuchet MS Bold"/>
                <a:sym typeface="Trebuchet MS Bold"/>
              </a:rPr>
              <a:t>Authors:</a:t>
            </a:r>
            <a:r>
              <a:rPr lang="en-US" sz="2099" dirty="0">
                <a:solidFill>
                  <a:srgbClr val="2096AE"/>
                </a:solidFill>
                <a:latin typeface="Trebuchet MS" panose="020B0603020202020204" pitchFamily="34" charset="0"/>
                <a:ea typeface="Trebuchet MS"/>
                <a:cs typeface="Trebuchet MS"/>
                <a:sym typeface="Trebuchet MS"/>
              </a:rPr>
              <a:t> (Yan Zhou et al.[2023])</a:t>
            </a:r>
          </a:p>
          <a:p>
            <a:pPr algn="just">
              <a:lnSpc>
                <a:spcPts val="2519"/>
              </a:lnSpc>
            </a:pPr>
            <a:r>
              <a:rPr lang="en-US" sz="2099" b="1" dirty="0">
                <a:solidFill>
                  <a:srgbClr val="2096AE"/>
                </a:solidFill>
                <a:latin typeface="Trebuchet MS" panose="020B0603020202020204" pitchFamily="34" charset="0"/>
                <a:ea typeface="Trebuchet MS Bold"/>
                <a:cs typeface="Trebuchet MS Bold"/>
                <a:sym typeface="Trebuchet MS Bold"/>
              </a:rPr>
              <a:t>Findings And Conclusions:</a:t>
            </a:r>
          </a:p>
          <a:p>
            <a:pPr algn="just">
              <a:lnSpc>
                <a:spcPts val="2519"/>
              </a:lnSpc>
            </a:pPr>
            <a:r>
              <a:rPr lang="en-US" sz="2099" dirty="0">
                <a:solidFill>
                  <a:srgbClr val="2096AE"/>
                </a:solidFill>
                <a:latin typeface="Trebuchet MS" panose="020B0603020202020204" pitchFamily="34" charset="0"/>
                <a:ea typeface="Trebuchet MS"/>
                <a:cs typeface="Trebuchet MS"/>
                <a:sym typeface="Trebuchet MS"/>
              </a:rPr>
              <a:t>This study introduces a magnesium (Mg) battery-powered iontophoresis patch for efficient, controlled transdermal drug delivery. By integrating iontophoresis with an innovative Mg-based battery, the system enables precise drug release, offering improved performance over traditional methods. The patch applies a consistent, low-voltage current to regulate drug flow through the skin, providing advantages like localized delivery with fewer side effects. The research highlights its potential for broader therapeutic applications, representing a breakthrough in non-invasive, wearable medical technology.</a:t>
            </a:r>
          </a:p>
          <a:p>
            <a:pPr algn="just">
              <a:lnSpc>
                <a:spcPts val="2519"/>
              </a:lnSpc>
            </a:pPr>
            <a:endParaRPr lang="en-US" sz="2099" dirty="0">
              <a:solidFill>
                <a:srgbClr val="033546"/>
              </a:solidFill>
              <a:latin typeface="Trebuchet MS" panose="020B0603020202020204" pitchFamily="34" charset="0"/>
              <a:ea typeface="Trebuchet MS"/>
              <a:cs typeface="Trebuchet MS"/>
              <a:sym typeface="Trebuchet MS"/>
            </a:endParaRPr>
          </a:p>
          <a:p>
            <a:pPr algn="just">
              <a:lnSpc>
                <a:spcPts val="2519"/>
              </a:lnSpc>
              <a:spcBef>
                <a:spcPct val="0"/>
              </a:spcBef>
            </a:pPr>
            <a:r>
              <a:rPr lang="en-US" sz="2099" dirty="0">
                <a:solidFill>
                  <a:srgbClr val="033546"/>
                </a:solidFill>
                <a:latin typeface="Trebuchet MS" panose="020B0603020202020204" pitchFamily="34" charset="0"/>
                <a:ea typeface="Trebuchet MS"/>
                <a:cs typeface="Trebuchet MS"/>
                <a:sym typeface="Trebuchet MS"/>
              </a:rPr>
              <a:t> </a:t>
            </a:r>
          </a:p>
        </p:txBody>
      </p:sp>
      <p:sp>
        <p:nvSpPr>
          <p:cNvPr id="8" name="TextBox 22">
            <a:extLst>
              <a:ext uri="{FF2B5EF4-FFF2-40B4-BE49-F238E27FC236}">
                <a16:creationId xmlns:a16="http://schemas.microsoft.com/office/drawing/2014/main" id="{EF2ADC10-F922-F3FB-AC57-B27D4B5BC9A3}"/>
              </a:ext>
            </a:extLst>
          </p:cNvPr>
          <p:cNvSpPr txBox="1"/>
          <p:nvPr/>
        </p:nvSpPr>
        <p:spPr>
          <a:xfrm>
            <a:off x="304800" y="762000"/>
            <a:ext cx="6770894" cy="1423139"/>
          </a:xfrm>
          <a:prstGeom prst="rect">
            <a:avLst/>
          </a:prstGeom>
        </p:spPr>
        <p:txBody>
          <a:bodyPr lIns="0" tIns="0" rIns="0" bIns="0" rtlCol="0" anchor="t"/>
          <a:lstStyle/>
          <a:p>
            <a:pPr algn="l">
              <a:lnSpc>
                <a:spcPts val="5327"/>
              </a:lnSpc>
            </a:pPr>
            <a:r>
              <a:rPr lang="en-US" sz="4439" dirty="0">
                <a:solidFill>
                  <a:srgbClr val="5FCBEF"/>
                </a:solidFill>
                <a:latin typeface="Trebuchet MS"/>
                <a:ea typeface="Trebuchet MS"/>
                <a:cs typeface="Trebuchet MS"/>
                <a:sym typeface="Trebuchet MS"/>
              </a:rPr>
              <a:t> LITERATURE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731520" y="1566186"/>
            <a:ext cx="8173525" cy="6091411"/>
          </a:xfrm>
          <a:prstGeom prst="rect">
            <a:avLst/>
          </a:prstGeom>
        </p:spPr>
        <p:txBody>
          <a:bodyPr lIns="0" tIns="0" rIns="0" bIns="0" rtlCol="0" anchor="t">
            <a:spAutoFit/>
          </a:bodyPr>
          <a:lstStyle/>
          <a:p>
            <a:pPr algn="just">
              <a:lnSpc>
                <a:spcPts val="2520"/>
              </a:lnSpc>
              <a:spcBef>
                <a:spcPct val="0"/>
              </a:spcBef>
            </a:pPr>
            <a:r>
              <a:rPr lang="en-US" sz="2100" b="1" dirty="0">
                <a:solidFill>
                  <a:srgbClr val="2096AE"/>
                </a:solidFill>
                <a:latin typeface="Trebuchet MS" panose="020B0603020202020204" pitchFamily="34" charset="0"/>
                <a:ea typeface="Trebuchet MS Bold"/>
                <a:cs typeface="Trebuchet MS Bold"/>
                <a:sym typeface="Trebuchet MS Bold"/>
              </a:rPr>
              <a:t>Title: </a:t>
            </a:r>
            <a:r>
              <a:rPr lang="en-US" sz="2100" dirty="0">
                <a:solidFill>
                  <a:srgbClr val="2096AE"/>
                </a:solidFill>
                <a:latin typeface="Trebuchet MS" panose="020B0603020202020204" pitchFamily="34" charset="0"/>
                <a:ea typeface="Trebuchet MS"/>
                <a:cs typeface="Trebuchet MS"/>
                <a:sym typeface="Trebuchet MS"/>
              </a:rPr>
              <a:t>A Review on Mental Stress Detection Using Wearable Sensors and Machine Learning Techniques </a:t>
            </a:r>
            <a:r>
              <a:rPr lang="en-US" sz="2100" dirty="0">
                <a:solidFill>
                  <a:srgbClr val="2096AE"/>
                </a:solidFill>
                <a:latin typeface="Trebuchet MS" panose="020B0603020202020204" pitchFamily="34" charset="0"/>
                <a:ea typeface="Trebuchet MS"/>
                <a:cs typeface="Trebuchet MS"/>
                <a:sym typeface="Trebuchet MS"/>
                <a:hlinkClick r:id="rId2" action="ppaction://hlinksldjump">
                  <a:extLst>
                    <a:ext uri="{A12FA001-AC4F-418D-AE19-62706E023703}">
                      <ahyp:hlinkClr xmlns:ahyp="http://schemas.microsoft.com/office/drawing/2018/hyperlinkcolor" val="tx"/>
                    </a:ext>
                  </a:extLst>
                </a:hlinkClick>
              </a:rPr>
              <a:t>[2]</a:t>
            </a:r>
            <a:r>
              <a:rPr lang="en-US" sz="2100" dirty="0">
                <a:solidFill>
                  <a:srgbClr val="2096AE"/>
                </a:solidFill>
                <a:latin typeface="Trebuchet MS" panose="020B0603020202020204" pitchFamily="34" charset="0"/>
                <a:ea typeface="Trebuchet MS"/>
                <a:cs typeface="Trebuchet MS"/>
                <a:sym typeface="Trebuchet MS"/>
              </a:rPr>
              <a:t> </a:t>
            </a:r>
            <a:r>
              <a:rPr lang="en-US" sz="2100" dirty="0">
                <a:solidFill>
                  <a:srgbClr val="2096AE"/>
                </a:solidFill>
                <a:latin typeface="Trebuchet MS" panose="020B0603020202020204" pitchFamily="34" charset="0"/>
                <a:ea typeface="Trebuchet MS"/>
                <a:cs typeface="Trebuchet MS"/>
                <a:sym typeface="Trebuchet MS"/>
                <a:hlinkClick r:id="rId3" action="ppaction://hlinksldjump">
                  <a:extLst>
                    <a:ext uri="{A12FA001-AC4F-418D-AE19-62706E023703}">
                      <ahyp:hlinkClr xmlns:ahyp="http://schemas.microsoft.com/office/drawing/2018/hyperlinkcolor" val="tx"/>
                    </a:ext>
                  </a:extLst>
                </a:hlinkClick>
              </a:rPr>
              <a:t>[7]</a:t>
            </a:r>
            <a:endParaRPr lang="en-US" sz="2100" dirty="0">
              <a:solidFill>
                <a:srgbClr val="2096AE"/>
              </a:solidFill>
              <a:latin typeface="Trebuchet MS" panose="020B0603020202020204" pitchFamily="34" charset="0"/>
              <a:ea typeface="Trebuchet MS"/>
              <a:cs typeface="Trebuchet MS"/>
              <a:sym typeface="Trebuchet MS"/>
            </a:endParaRPr>
          </a:p>
          <a:p>
            <a:pPr algn="just">
              <a:lnSpc>
                <a:spcPts val="2520"/>
              </a:lnSpc>
              <a:spcBef>
                <a:spcPct val="0"/>
              </a:spcBef>
            </a:pPr>
            <a:r>
              <a:rPr lang="en-US" sz="2100" b="1" dirty="0">
                <a:solidFill>
                  <a:srgbClr val="2096AE"/>
                </a:solidFill>
                <a:latin typeface="Trebuchet MS" panose="020B0603020202020204" pitchFamily="34" charset="0"/>
                <a:ea typeface="Trebuchet MS Bold"/>
                <a:cs typeface="Trebuchet MS Bold"/>
                <a:sym typeface="Trebuchet MS Bold"/>
              </a:rPr>
              <a:t>Authors: </a:t>
            </a:r>
            <a:r>
              <a:rPr lang="en-US" sz="2100" dirty="0">
                <a:solidFill>
                  <a:srgbClr val="2096AE"/>
                </a:solidFill>
                <a:latin typeface="Trebuchet MS" panose="020B0603020202020204" pitchFamily="34" charset="0"/>
                <a:ea typeface="Trebuchet MS"/>
                <a:cs typeface="Trebuchet MS"/>
                <a:sym typeface="Trebuchet MS"/>
              </a:rPr>
              <a:t>(S. </a:t>
            </a:r>
            <a:r>
              <a:rPr lang="en-US" sz="2100" dirty="0" err="1">
                <a:solidFill>
                  <a:srgbClr val="2096AE"/>
                </a:solidFill>
                <a:latin typeface="Trebuchet MS" panose="020B0603020202020204" pitchFamily="34" charset="0"/>
                <a:ea typeface="Trebuchet MS"/>
                <a:cs typeface="Trebuchet MS"/>
                <a:sym typeface="Trebuchet MS"/>
              </a:rPr>
              <a:t>Gedam</a:t>
            </a:r>
            <a:r>
              <a:rPr lang="en-US" sz="2100" dirty="0">
                <a:solidFill>
                  <a:srgbClr val="2096AE"/>
                </a:solidFill>
                <a:latin typeface="Trebuchet MS" panose="020B0603020202020204" pitchFamily="34" charset="0"/>
                <a:ea typeface="Trebuchet MS"/>
                <a:cs typeface="Trebuchet MS"/>
                <a:sym typeface="Trebuchet MS"/>
              </a:rPr>
              <a:t> and S. Paul [2021])</a:t>
            </a:r>
          </a:p>
          <a:p>
            <a:pPr algn="just">
              <a:lnSpc>
                <a:spcPts val="2520"/>
              </a:lnSpc>
              <a:spcBef>
                <a:spcPct val="0"/>
              </a:spcBef>
            </a:pPr>
            <a:r>
              <a:rPr lang="en-US" sz="2100" b="1" dirty="0">
                <a:solidFill>
                  <a:srgbClr val="2096AE"/>
                </a:solidFill>
                <a:latin typeface="Trebuchet MS" panose="020B0603020202020204" pitchFamily="34" charset="0"/>
                <a:ea typeface="Trebuchet MS Bold"/>
                <a:cs typeface="Trebuchet MS Bold"/>
                <a:sym typeface="Trebuchet MS Bold"/>
              </a:rPr>
              <a:t>Findings And Conclusions: </a:t>
            </a:r>
          </a:p>
          <a:p>
            <a:pPr algn="just">
              <a:lnSpc>
                <a:spcPts val="2520"/>
              </a:lnSpc>
              <a:spcBef>
                <a:spcPct val="0"/>
              </a:spcBef>
            </a:pPr>
            <a:r>
              <a:rPr lang="en-US" sz="2100" dirty="0">
                <a:solidFill>
                  <a:srgbClr val="2096AE"/>
                </a:solidFill>
                <a:latin typeface="Trebuchet MS" panose="020B0603020202020204" pitchFamily="34" charset="0"/>
                <a:ea typeface="Trebuchet MS"/>
                <a:cs typeface="Trebuchet MS"/>
                <a:sym typeface="Trebuchet MS"/>
              </a:rPr>
              <a:t>The authors examine the use of wearable sensors, such as electrodermal activity (EDA) and heart rate variability (HRV), for detecting mental stress. They highlight how machine learning algorithms can analyze sensor data to accurately classify stress levels, offering a non-invasive and efficient approach to monitoring stress in real-time.</a:t>
            </a:r>
          </a:p>
          <a:p>
            <a:pPr algn="just">
              <a:lnSpc>
                <a:spcPts val="2520"/>
              </a:lnSpc>
              <a:spcBef>
                <a:spcPct val="0"/>
              </a:spcBef>
            </a:pPr>
            <a:r>
              <a:rPr lang="en-US" sz="2100" dirty="0">
                <a:solidFill>
                  <a:srgbClr val="2096AE"/>
                </a:solidFill>
                <a:latin typeface="Trebuchet MS" panose="020B0603020202020204" pitchFamily="34" charset="0"/>
                <a:ea typeface="Trebuchet MS"/>
                <a:cs typeface="Trebuchet MS"/>
                <a:sym typeface="Trebuchet MS"/>
              </a:rPr>
              <a:t>The review emphasizes the potential of combining wearable technology with machine learning for personalized stress detection, while also addressing challenges like sensor accuracy and the need for large datasets. This approach shows promise for applications in mental health care, workplace stress management, and everyday monitoring.</a:t>
            </a:r>
          </a:p>
          <a:p>
            <a:pPr algn="just">
              <a:lnSpc>
                <a:spcPts val="2520"/>
              </a:lnSpc>
              <a:spcBef>
                <a:spcPct val="0"/>
              </a:spcBef>
            </a:pPr>
            <a:endParaRPr lang="en-US" sz="2100" dirty="0">
              <a:solidFill>
                <a:srgbClr val="033546"/>
              </a:solidFill>
              <a:latin typeface="Trebuchet MS" panose="020B0603020202020204" pitchFamily="34" charset="0"/>
              <a:ea typeface="Trebuchet MS"/>
              <a:cs typeface="Trebuchet MS"/>
              <a:sym typeface="Trebuchet MS"/>
            </a:endParaRPr>
          </a:p>
          <a:p>
            <a:pPr algn="just">
              <a:lnSpc>
                <a:spcPts val="2520"/>
              </a:lnSpc>
              <a:spcBef>
                <a:spcPct val="0"/>
              </a:spcBef>
            </a:pPr>
            <a:endParaRPr lang="en-US" sz="2100" dirty="0">
              <a:solidFill>
                <a:srgbClr val="033546"/>
              </a:solidFill>
              <a:latin typeface="Trebuchet MS" panose="020B0603020202020204" pitchFamily="34" charset="0"/>
              <a:ea typeface="Trebuchet MS"/>
              <a:cs typeface="Trebuchet MS"/>
              <a:sym typeface="Trebuchet MS"/>
            </a:endParaRPr>
          </a:p>
          <a:p>
            <a:pPr algn="just">
              <a:lnSpc>
                <a:spcPts val="2520"/>
              </a:lnSpc>
              <a:spcBef>
                <a:spcPct val="0"/>
              </a:spcBef>
            </a:pPr>
            <a:endParaRPr lang="en-US" sz="2100" dirty="0">
              <a:solidFill>
                <a:srgbClr val="033546"/>
              </a:solidFill>
              <a:latin typeface="Trebuchet MS" panose="020B0603020202020204" pitchFamily="34" charset="0"/>
              <a:ea typeface="Trebuchet MS"/>
              <a:cs typeface="Trebuchet MS"/>
              <a:sym typeface="Trebuchet MS"/>
            </a:endParaRPr>
          </a:p>
        </p:txBody>
      </p:sp>
      <p:sp>
        <p:nvSpPr>
          <p:cNvPr id="6" name="TextBox 22">
            <a:extLst>
              <a:ext uri="{FF2B5EF4-FFF2-40B4-BE49-F238E27FC236}">
                <a16:creationId xmlns:a16="http://schemas.microsoft.com/office/drawing/2014/main" id="{9EA5C888-E627-8691-0CDA-134D93A0C301}"/>
              </a:ext>
            </a:extLst>
          </p:cNvPr>
          <p:cNvSpPr txBox="1"/>
          <p:nvPr/>
        </p:nvSpPr>
        <p:spPr>
          <a:xfrm>
            <a:off x="533400" y="609600"/>
            <a:ext cx="6770894" cy="1423139"/>
          </a:xfrm>
          <a:prstGeom prst="rect">
            <a:avLst/>
          </a:prstGeom>
        </p:spPr>
        <p:txBody>
          <a:bodyPr lIns="0" tIns="0" rIns="0" bIns="0" rtlCol="0" anchor="t"/>
          <a:lstStyle/>
          <a:p>
            <a:pPr algn="l">
              <a:lnSpc>
                <a:spcPts val="5327"/>
              </a:lnSpc>
            </a:pPr>
            <a:r>
              <a:rPr lang="en-US" sz="4439" dirty="0">
                <a:solidFill>
                  <a:srgbClr val="5FCBEF"/>
                </a:solidFill>
                <a:latin typeface="Trebuchet MS"/>
                <a:ea typeface="Trebuchet MS"/>
                <a:cs typeface="Trebuchet MS"/>
                <a:sym typeface="Trebuchet MS"/>
              </a:rPr>
              <a:t> LITERATURE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609600" y="1981200"/>
            <a:ext cx="8351810" cy="5129609"/>
          </a:xfrm>
          <a:prstGeom prst="rect">
            <a:avLst/>
          </a:prstGeom>
        </p:spPr>
        <p:txBody>
          <a:bodyPr lIns="0" tIns="0" rIns="0" bIns="0" rtlCol="0" anchor="t">
            <a:spAutoFit/>
          </a:bodyPr>
          <a:lstStyle/>
          <a:p>
            <a:pPr algn="l">
              <a:lnSpc>
                <a:spcPts val="2520"/>
              </a:lnSpc>
              <a:spcBef>
                <a:spcPct val="0"/>
              </a:spcBef>
            </a:pPr>
            <a:r>
              <a:rPr lang="en-US" sz="2100" b="1" dirty="0">
                <a:solidFill>
                  <a:srgbClr val="2096AE"/>
                </a:solidFill>
                <a:latin typeface="Trebuchet MS" panose="020B0603020202020204" pitchFamily="34" charset="0"/>
                <a:ea typeface="Trebuchet MS Bold"/>
                <a:cs typeface="Trebuchet MS Bold"/>
                <a:sym typeface="Trebuchet MS Bold"/>
              </a:rPr>
              <a:t>Title: </a:t>
            </a:r>
            <a:r>
              <a:rPr lang="en-US" sz="2100" dirty="0">
                <a:solidFill>
                  <a:srgbClr val="2096AE"/>
                </a:solidFill>
                <a:latin typeface="Trebuchet MS" panose="020B0603020202020204" pitchFamily="34" charset="0"/>
                <a:ea typeface="Trebuchet MS"/>
                <a:cs typeface="Trebuchet MS"/>
                <a:sym typeface="Trebuchet MS"/>
              </a:rPr>
              <a:t>A Two-Stage Biomedical Event Trigger Detection Method Based on Hybrid Neural Network and Sentence Embeddings </a:t>
            </a:r>
            <a:r>
              <a:rPr lang="en-US" sz="2100" dirty="0">
                <a:solidFill>
                  <a:srgbClr val="2096AE"/>
                </a:solidFill>
                <a:latin typeface="Trebuchet MS" panose="020B0603020202020204" pitchFamily="34" charset="0"/>
                <a:ea typeface="Trebuchet MS"/>
                <a:cs typeface="Trebuchet MS"/>
                <a:sym typeface="Trebuchet MS"/>
                <a:hlinkClick r:id="rId2" action="ppaction://hlinksldjump">
                  <a:extLst>
                    <a:ext uri="{A12FA001-AC4F-418D-AE19-62706E023703}">
                      <ahyp:hlinkClr xmlns:ahyp="http://schemas.microsoft.com/office/drawing/2018/hyperlinkcolor" val="tx"/>
                    </a:ext>
                  </a:extLst>
                </a:hlinkClick>
              </a:rPr>
              <a:t>[3]</a:t>
            </a:r>
            <a:r>
              <a:rPr lang="en-US" sz="2100" dirty="0">
                <a:solidFill>
                  <a:srgbClr val="2096AE"/>
                </a:solidFill>
                <a:latin typeface="Trebuchet MS" panose="020B0603020202020204" pitchFamily="34" charset="0"/>
                <a:ea typeface="Trebuchet MS"/>
                <a:cs typeface="Trebuchet MS"/>
                <a:sym typeface="Trebuchet MS"/>
              </a:rPr>
              <a:t> </a:t>
            </a:r>
            <a:r>
              <a:rPr lang="en-US" sz="2100" dirty="0">
                <a:solidFill>
                  <a:srgbClr val="2096AE"/>
                </a:solidFill>
                <a:latin typeface="Trebuchet MS" panose="020B0603020202020204" pitchFamily="34" charset="0"/>
                <a:ea typeface="Trebuchet MS"/>
                <a:cs typeface="Trebuchet MS"/>
                <a:sym typeface="Trebuchet MS"/>
                <a:hlinkClick r:id="rId3" action="ppaction://hlinksldjump">
                  <a:extLst>
                    <a:ext uri="{A12FA001-AC4F-418D-AE19-62706E023703}">
                      <ahyp:hlinkClr xmlns:ahyp="http://schemas.microsoft.com/office/drawing/2018/hyperlinkcolor" val="tx"/>
                    </a:ext>
                  </a:extLst>
                </a:hlinkClick>
              </a:rPr>
              <a:t>[5]</a:t>
            </a:r>
            <a:endParaRPr lang="en-US" sz="2100" dirty="0">
              <a:solidFill>
                <a:srgbClr val="2096AE"/>
              </a:solidFill>
              <a:latin typeface="Trebuchet MS" panose="020B0603020202020204" pitchFamily="34" charset="0"/>
              <a:ea typeface="Trebuchet MS"/>
              <a:cs typeface="Trebuchet MS"/>
              <a:sym typeface="Trebuchet MS"/>
            </a:endParaRPr>
          </a:p>
          <a:p>
            <a:pPr algn="l">
              <a:lnSpc>
                <a:spcPts val="2520"/>
              </a:lnSpc>
              <a:spcBef>
                <a:spcPct val="0"/>
              </a:spcBef>
            </a:pPr>
            <a:r>
              <a:rPr lang="en-US" sz="2100" b="1" dirty="0">
                <a:solidFill>
                  <a:srgbClr val="2096AE"/>
                </a:solidFill>
                <a:latin typeface="Trebuchet MS" panose="020B0603020202020204" pitchFamily="34" charset="0"/>
                <a:ea typeface="Trebuchet MS Bold"/>
                <a:cs typeface="Trebuchet MS Bold"/>
                <a:sym typeface="Trebuchet MS Bold"/>
              </a:rPr>
              <a:t>Authors: </a:t>
            </a:r>
            <a:r>
              <a:rPr lang="en-US" sz="2100" dirty="0">
                <a:solidFill>
                  <a:srgbClr val="2096AE"/>
                </a:solidFill>
                <a:latin typeface="Trebuchet MS" panose="020B0603020202020204" pitchFamily="34" charset="0"/>
                <a:ea typeface="Trebuchet MS"/>
                <a:cs typeface="Trebuchet MS"/>
                <a:sym typeface="Trebuchet MS"/>
              </a:rPr>
              <a:t>( X. He et al. [2021])</a:t>
            </a:r>
          </a:p>
          <a:p>
            <a:pPr algn="l">
              <a:lnSpc>
                <a:spcPts val="2520"/>
              </a:lnSpc>
              <a:spcBef>
                <a:spcPct val="0"/>
              </a:spcBef>
            </a:pPr>
            <a:r>
              <a:rPr lang="en-US" sz="2100" b="1" dirty="0">
                <a:solidFill>
                  <a:srgbClr val="2096AE"/>
                </a:solidFill>
                <a:latin typeface="Trebuchet MS" panose="020B0603020202020204" pitchFamily="34" charset="0"/>
                <a:ea typeface="Trebuchet MS Bold"/>
                <a:cs typeface="Trebuchet MS Bold"/>
                <a:sym typeface="Trebuchet MS Bold"/>
              </a:rPr>
              <a:t>Findings And Conclusions:</a:t>
            </a:r>
          </a:p>
          <a:p>
            <a:pPr algn="l">
              <a:lnSpc>
                <a:spcPts val="2520"/>
              </a:lnSpc>
              <a:spcBef>
                <a:spcPct val="0"/>
              </a:spcBef>
            </a:pPr>
            <a:r>
              <a:rPr lang="en-US" sz="2100" dirty="0">
                <a:solidFill>
                  <a:srgbClr val="2096AE"/>
                </a:solidFill>
                <a:latin typeface="Trebuchet MS" panose="020B0603020202020204" pitchFamily="34" charset="0"/>
                <a:ea typeface="Trebuchet MS"/>
                <a:cs typeface="Trebuchet MS"/>
                <a:sym typeface="Trebuchet MS"/>
              </a:rPr>
              <a:t>The authors propose a two-stage method combining a hybrid neural network and sentence embeddings to detect biomedical event triggers in text. The first stage identifies potential triggers, while the second refines predictions using semantic information from sentence embeddings.</a:t>
            </a:r>
          </a:p>
          <a:p>
            <a:pPr algn="just">
              <a:lnSpc>
                <a:spcPts val="2520"/>
              </a:lnSpc>
              <a:spcBef>
                <a:spcPct val="0"/>
              </a:spcBef>
            </a:pPr>
            <a:r>
              <a:rPr lang="en-US" sz="2100" dirty="0">
                <a:solidFill>
                  <a:srgbClr val="2096AE"/>
                </a:solidFill>
                <a:latin typeface="Trebuchet MS" panose="020B0603020202020204" pitchFamily="34" charset="0"/>
                <a:ea typeface="Trebuchet MS"/>
                <a:cs typeface="Trebuchet MS"/>
                <a:sym typeface="Trebuchet MS"/>
              </a:rPr>
              <a:t>This approach improves event detection accuracy compared to traditional methods, enhancing automated biomedical text mining. It offers promising applications in bioinformatics, such as knowledge discovery, drug development, and clinical decision-making.</a:t>
            </a:r>
          </a:p>
          <a:p>
            <a:pPr algn="ctr">
              <a:lnSpc>
                <a:spcPts val="2520"/>
              </a:lnSpc>
              <a:spcBef>
                <a:spcPct val="0"/>
              </a:spcBef>
            </a:pPr>
            <a:endParaRPr lang="en-US" sz="2100" dirty="0">
              <a:solidFill>
                <a:srgbClr val="033546"/>
              </a:solidFill>
              <a:latin typeface="Trebuchet MS" panose="020B0603020202020204" pitchFamily="34" charset="0"/>
              <a:ea typeface="Trebuchet MS"/>
              <a:cs typeface="Trebuchet MS"/>
              <a:sym typeface="Trebuchet MS"/>
            </a:endParaRPr>
          </a:p>
          <a:p>
            <a:pPr algn="ctr">
              <a:lnSpc>
                <a:spcPts val="2520"/>
              </a:lnSpc>
              <a:spcBef>
                <a:spcPct val="0"/>
              </a:spcBef>
            </a:pPr>
            <a:endParaRPr lang="en-US" sz="2100" dirty="0">
              <a:solidFill>
                <a:srgbClr val="033546"/>
              </a:solidFill>
              <a:latin typeface="Trebuchet MS" panose="020B0603020202020204" pitchFamily="34" charset="0"/>
              <a:ea typeface="Trebuchet MS"/>
              <a:cs typeface="Trebuchet MS"/>
              <a:sym typeface="Trebuchet MS"/>
            </a:endParaRPr>
          </a:p>
          <a:p>
            <a:pPr algn="ctr">
              <a:lnSpc>
                <a:spcPts val="2520"/>
              </a:lnSpc>
              <a:spcBef>
                <a:spcPct val="0"/>
              </a:spcBef>
            </a:pPr>
            <a:endParaRPr lang="en-US" sz="2100" dirty="0">
              <a:solidFill>
                <a:srgbClr val="033546"/>
              </a:solidFill>
              <a:latin typeface="Trebuchet MS" panose="020B0603020202020204" pitchFamily="34" charset="0"/>
              <a:ea typeface="Trebuchet MS"/>
              <a:cs typeface="Trebuchet MS"/>
              <a:sym typeface="Trebuchet MS"/>
            </a:endParaRPr>
          </a:p>
        </p:txBody>
      </p:sp>
      <p:sp>
        <p:nvSpPr>
          <p:cNvPr id="6" name="TextBox 22">
            <a:extLst>
              <a:ext uri="{FF2B5EF4-FFF2-40B4-BE49-F238E27FC236}">
                <a16:creationId xmlns:a16="http://schemas.microsoft.com/office/drawing/2014/main" id="{547312BD-59C9-59BD-70AD-F302C7155DB6}"/>
              </a:ext>
            </a:extLst>
          </p:cNvPr>
          <p:cNvSpPr txBox="1"/>
          <p:nvPr/>
        </p:nvSpPr>
        <p:spPr>
          <a:xfrm>
            <a:off x="457200" y="914400"/>
            <a:ext cx="6770894" cy="1423139"/>
          </a:xfrm>
          <a:prstGeom prst="rect">
            <a:avLst/>
          </a:prstGeom>
        </p:spPr>
        <p:txBody>
          <a:bodyPr lIns="0" tIns="0" rIns="0" bIns="0" rtlCol="0" anchor="t"/>
          <a:lstStyle/>
          <a:p>
            <a:pPr algn="l">
              <a:lnSpc>
                <a:spcPts val="5327"/>
              </a:lnSpc>
            </a:pPr>
            <a:r>
              <a:rPr lang="en-US" sz="4439" dirty="0">
                <a:solidFill>
                  <a:srgbClr val="5FCBEF"/>
                </a:solidFill>
                <a:latin typeface="Trebuchet MS"/>
                <a:ea typeface="Trebuchet MS"/>
                <a:cs typeface="Trebuchet MS"/>
                <a:sym typeface="Trebuchet MS"/>
              </a:rPr>
              <a:t> LITERATURE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7947029" y="4448888"/>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786789" y="-29063"/>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8954897" y="-9030"/>
            <a:ext cx="1351103" cy="7324230"/>
            <a:chOff x="0" y="0"/>
            <a:chExt cx="1801471" cy="9765641"/>
          </a:xfrm>
        </p:grpSpPr>
        <p:sp>
          <p:nvSpPr>
            <p:cNvPr id="7" name="Freeform 7"/>
            <p:cNvSpPr/>
            <p:nvPr/>
          </p:nvSpPr>
          <p:spPr>
            <a:xfrm>
              <a:off x="0" y="0"/>
              <a:ext cx="1804955" cy="9765665"/>
            </a:xfrm>
            <a:custGeom>
              <a:avLst/>
              <a:gdLst/>
              <a:ahLst/>
              <a:cxnLst/>
              <a:rect l="l" t="t" r="r" b="b"/>
              <a:pathLst>
                <a:path w="1804955" h="9765665">
                  <a:moveTo>
                    <a:pt x="1606289" y="0"/>
                  </a:moveTo>
                  <a:lnTo>
                    <a:pt x="0" y="9753600"/>
                  </a:lnTo>
                  <a:lnTo>
                    <a:pt x="1801147" y="9765665"/>
                  </a:lnTo>
                  <a:cubicBezTo>
                    <a:pt x="1804955" y="6514465"/>
                    <a:pt x="1792216" y="3263265"/>
                    <a:pt x="1794413" y="12065"/>
                  </a:cubicBezTo>
                  <a:lnTo>
                    <a:pt x="1606289" y="0"/>
                  </a:lnTo>
                  <a:close/>
                </a:path>
              </a:pathLst>
            </a:custGeom>
            <a:solidFill>
              <a:srgbClr val="5FCBEF">
                <a:alpha val="12941"/>
              </a:srgbClr>
            </a:solidFill>
          </p:spPr>
        </p:sp>
      </p:grpSp>
      <p:grpSp>
        <p:nvGrpSpPr>
          <p:cNvPr id="8" name="Group 8"/>
          <p:cNvGrpSpPr/>
          <p:nvPr/>
        </p:nvGrpSpPr>
        <p:grpSpPr>
          <a:xfrm>
            <a:off x="8954897" y="-18063"/>
            <a:ext cx="1342535" cy="7324231"/>
            <a:chOff x="0" y="0"/>
            <a:chExt cx="1790047" cy="9765642"/>
          </a:xfrm>
        </p:grpSpPr>
        <p:sp>
          <p:nvSpPr>
            <p:cNvPr id="9" name="Freeform 9"/>
            <p:cNvSpPr/>
            <p:nvPr/>
          </p:nvSpPr>
          <p:spPr>
            <a:xfrm>
              <a:off x="0" y="0"/>
              <a:ext cx="1793029" cy="9765665"/>
            </a:xfrm>
            <a:custGeom>
              <a:avLst/>
              <a:gdLst/>
              <a:ahLst/>
              <a:cxnLst/>
              <a:rect l="l" t="t" r="r" b="b"/>
              <a:pathLst>
                <a:path w="1793029" h="9765665">
                  <a:moveTo>
                    <a:pt x="0" y="0"/>
                  </a:moveTo>
                  <a:lnTo>
                    <a:pt x="1104722" y="9765665"/>
                  </a:lnTo>
                  <a:lnTo>
                    <a:pt x="1789348" y="9765665"/>
                  </a:lnTo>
                  <a:cubicBezTo>
                    <a:pt x="1786722" y="6510401"/>
                    <a:pt x="1793029" y="3255264"/>
                    <a:pt x="1789348" y="0"/>
                  </a:cubicBezTo>
                  <a:lnTo>
                    <a:pt x="0" y="0"/>
                  </a:lnTo>
                  <a:close/>
                </a:path>
              </a:pathLst>
            </a:custGeom>
            <a:solidFill>
              <a:srgbClr val="5FCBEF">
                <a:alpha val="3922"/>
              </a:srgbClr>
            </a:solidFill>
          </p:spPr>
        </p:sp>
      </p:grpSp>
      <p:grpSp>
        <p:nvGrpSpPr>
          <p:cNvPr id="10" name="Group 10"/>
          <p:cNvGrpSpPr/>
          <p:nvPr/>
        </p:nvGrpSpPr>
        <p:grpSpPr>
          <a:xfrm>
            <a:off x="8766342" y="4190436"/>
            <a:ext cx="1277209" cy="3133795"/>
            <a:chOff x="0" y="0"/>
            <a:chExt cx="1702945" cy="4178394"/>
          </a:xfrm>
        </p:grpSpPr>
        <p:sp>
          <p:nvSpPr>
            <p:cNvPr id="11" name="Freeform 11"/>
            <p:cNvSpPr/>
            <p:nvPr/>
          </p:nvSpPr>
          <p:spPr>
            <a:xfrm>
              <a:off x="0" y="0"/>
              <a:ext cx="1702920" cy="4178427"/>
            </a:xfrm>
            <a:custGeom>
              <a:avLst/>
              <a:gdLst/>
              <a:ahLst/>
              <a:cxnLst/>
              <a:rect l="l" t="t" r="r" b="b"/>
              <a:pathLst>
                <a:path w="1702920" h="4178427">
                  <a:moveTo>
                    <a:pt x="0" y="4178427"/>
                  </a:moveTo>
                  <a:lnTo>
                    <a:pt x="1698504" y="0"/>
                  </a:lnTo>
                  <a:cubicBezTo>
                    <a:pt x="1699956" y="1392809"/>
                    <a:pt x="1701468" y="2785618"/>
                    <a:pt x="1702920" y="4178427"/>
                  </a:cubicBezTo>
                  <a:lnTo>
                    <a:pt x="0" y="4178427"/>
                  </a:lnTo>
                  <a:close/>
                </a:path>
              </a:pathLst>
            </a:custGeom>
            <a:solidFill>
              <a:srgbClr val="17B0E4">
                <a:alpha val="43529"/>
              </a:srgbClr>
            </a:solidFill>
          </p:spPr>
        </p:sp>
      </p:grpSp>
      <p:grpSp>
        <p:nvGrpSpPr>
          <p:cNvPr id="12" name="Group 12"/>
          <p:cNvGrpSpPr/>
          <p:nvPr/>
        </p:nvGrpSpPr>
        <p:grpSpPr>
          <a:xfrm>
            <a:off x="8954897" y="-18063"/>
            <a:ext cx="1342535" cy="7324231"/>
            <a:chOff x="0" y="0"/>
            <a:chExt cx="1790047" cy="9765642"/>
          </a:xfrm>
        </p:grpSpPr>
        <p:sp>
          <p:nvSpPr>
            <p:cNvPr id="13" name="Freeform 13"/>
            <p:cNvSpPr/>
            <p:nvPr/>
          </p:nvSpPr>
          <p:spPr>
            <a:xfrm>
              <a:off x="0" y="0"/>
              <a:ext cx="1790031" cy="9765665"/>
            </a:xfrm>
            <a:custGeom>
              <a:avLst/>
              <a:gdLst/>
              <a:ahLst/>
              <a:cxnLst/>
              <a:rect l="l" t="t" r="r" b="b"/>
              <a:pathLst>
                <a:path w="1790031" h="9765665">
                  <a:moveTo>
                    <a:pt x="0" y="0"/>
                  </a:moveTo>
                  <a:lnTo>
                    <a:pt x="1551032" y="9765665"/>
                  </a:lnTo>
                  <a:lnTo>
                    <a:pt x="1790031" y="9753600"/>
                  </a:lnTo>
                  <a:lnTo>
                    <a:pt x="1790031" y="0"/>
                  </a:lnTo>
                  <a:lnTo>
                    <a:pt x="0" y="0"/>
                  </a:lnTo>
                  <a:close/>
                </a:path>
              </a:pathLst>
            </a:custGeom>
            <a:solidFill>
              <a:srgbClr val="17B0E4">
                <a:alpha val="24706"/>
              </a:srgbClr>
            </a:solidFill>
          </p:spPr>
        </p:sp>
      </p:grpSp>
      <p:grpSp>
        <p:nvGrpSpPr>
          <p:cNvPr id="14" name="Group 14"/>
          <p:cNvGrpSpPr/>
          <p:nvPr/>
        </p:nvGrpSpPr>
        <p:grpSpPr>
          <a:xfrm>
            <a:off x="9382735" y="-18063"/>
            <a:ext cx="914699" cy="7324231"/>
            <a:chOff x="0" y="0"/>
            <a:chExt cx="1219598" cy="9765642"/>
          </a:xfrm>
        </p:grpSpPr>
        <p:sp>
          <p:nvSpPr>
            <p:cNvPr id="15" name="Freeform 15"/>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p:cNvGrpSpPr/>
          <p:nvPr/>
        </p:nvGrpSpPr>
        <p:grpSpPr>
          <a:xfrm>
            <a:off x="9193900" y="-18063"/>
            <a:ext cx="1137888" cy="7324231"/>
            <a:chOff x="0" y="0"/>
            <a:chExt cx="1517184" cy="9765642"/>
          </a:xfrm>
        </p:grpSpPr>
        <p:sp>
          <p:nvSpPr>
            <p:cNvPr id="17" name="Freeform 17"/>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p:cNvGrpSpPr/>
          <p:nvPr/>
        </p:nvGrpSpPr>
        <p:grpSpPr>
          <a:xfrm>
            <a:off x="8606682" y="5219982"/>
            <a:ext cx="1167025" cy="2095218"/>
            <a:chOff x="0" y="0"/>
            <a:chExt cx="1556033" cy="2793624"/>
          </a:xfrm>
        </p:grpSpPr>
        <p:sp>
          <p:nvSpPr>
            <p:cNvPr id="19" name="Freeform 19"/>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p:cNvGrpSpPr/>
          <p:nvPr/>
        </p:nvGrpSpPr>
        <p:grpSpPr>
          <a:xfrm>
            <a:off x="102204" y="509019"/>
            <a:ext cx="7097108" cy="1882292"/>
            <a:chOff x="-578674" y="69092"/>
            <a:chExt cx="9462811" cy="2509725"/>
          </a:xfrm>
        </p:grpSpPr>
        <p:sp>
          <p:nvSpPr>
            <p:cNvPr id="21" name="Freeform 21"/>
            <p:cNvSpPr/>
            <p:nvPr/>
          </p:nvSpPr>
          <p:spPr>
            <a:xfrm>
              <a:off x="-578674" y="69092"/>
              <a:ext cx="9027859"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p:cNvSpPr txBox="1"/>
            <p:nvPr/>
          </p:nvSpPr>
          <p:spPr>
            <a:xfrm>
              <a:off x="-143721" y="690822"/>
              <a:ext cx="9027858" cy="1887995"/>
            </a:xfrm>
            <a:prstGeom prst="rect">
              <a:avLst/>
            </a:prstGeom>
          </p:spPr>
          <p:txBody>
            <a:bodyPr lIns="0" tIns="0" rIns="0" bIns="0" rtlCol="0" anchor="t"/>
            <a:lstStyle/>
            <a:p>
              <a:pPr algn="l">
                <a:lnSpc>
                  <a:spcPts val="5567"/>
                </a:lnSpc>
              </a:pPr>
              <a:r>
                <a:rPr lang="en-US" sz="4639" dirty="0">
                  <a:solidFill>
                    <a:srgbClr val="5FCBEF"/>
                  </a:solidFill>
                  <a:latin typeface="Trebuchet MS" panose="020B0603020202020204" pitchFamily="34" charset="0"/>
                  <a:ea typeface="Trebuchet MS"/>
                  <a:cs typeface="Trebuchet MS"/>
                  <a:sym typeface="Trebuchet MS"/>
                </a:rPr>
                <a:t>EXISTING MODEL</a:t>
              </a:r>
            </a:p>
          </p:txBody>
        </p:sp>
      </p:grpSp>
      <p:sp>
        <p:nvSpPr>
          <p:cNvPr id="25" name="TextBox 25"/>
          <p:cNvSpPr txBox="1"/>
          <p:nvPr/>
        </p:nvSpPr>
        <p:spPr>
          <a:xfrm>
            <a:off x="462889" y="959557"/>
            <a:ext cx="8303453" cy="6382344"/>
          </a:xfrm>
          <a:prstGeom prst="rect">
            <a:avLst/>
          </a:prstGeom>
        </p:spPr>
        <p:txBody>
          <a:bodyPr lIns="0" tIns="0" rIns="0" bIns="0" rtlCol="0" anchor="ctr"/>
          <a:lstStyle/>
          <a:p>
            <a:pPr algn="just">
              <a:lnSpc>
                <a:spcPts val="2184"/>
              </a:lnSpc>
            </a:pPr>
            <a:r>
              <a:rPr lang="en-US" dirty="0">
                <a:solidFill>
                  <a:srgbClr val="5FCBEF"/>
                </a:solidFill>
                <a:latin typeface="Trebuchet MS" panose="020B0603020202020204" pitchFamily="34" charset="0"/>
                <a:ea typeface="Trebuchet MS"/>
                <a:cs typeface="Trebuchet MS"/>
                <a:sym typeface="Trebuchet MS"/>
              </a:rPr>
              <a:t>The Traditional drug administration methods used currently are either through oral medication or drug delivery through injections. These methods have several limitations.</a:t>
            </a:r>
          </a:p>
          <a:p>
            <a:pPr algn="l">
              <a:lnSpc>
                <a:spcPts val="2423"/>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2423"/>
              </a:lnSpc>
            </a:pPr>
            <a:r>
              <a:rPr lang="en-US" u="sng" dirty="0">
                <a:solidFill>
                  <a:srgbClr val="5FCBEF"/>
                </a:solidFill>
                <a:latin typeface="Trebuchet MS" panose="020B0603020202020204" pitchFamily="34" charset="0"/>
                <a:ea typeface="Trebuchet MS"/>
                <a:cs typeface="Trebuchet MS"/>
                <a:sym typeface="Trebuchet MS"/>
              </a:rPr>
              <a:t>Oral Medications</a:t>
            </a:r>
          </a:p>
          <a:p>
            <a:pPr algn="l">
              <a:lnSpc>
                <a:spcPts val="2423"/>
              </a:lnSpc>
            </a:pPr>
            <a:r>
              <a:rPr lang="en-US" dirty="0">
                <a:solidFill>
                  <a:srgbClr val="5FCBEF"/>
                </a:solidFill>
                <a:latin typeface="Trebuchet MS" panose="020B0603020202020204" pitchFamily="34" charset="0"/>
                <a:ea typeface="Trebuchet MS"/>
                <a:cs typeface="Trebuchet MS"/>
                <a:sym typeface="Trebuchet MS"/>
              </a:rPr>
              <a:t>Oral drugs often face slow absorption through the digestive system. They also undergo metabolism in the liver, reducing their bioavailability. Additionally, systemic distribution may cause potential side effects.</a:t>
            </a:r>
          </a:p>
          <a:p>
            <a:pPr algn="l">
              <a:lnSpc>
                <a:spcPts val="2423"/>
              </a:lnSpc>
            </a:pPr>
            <a:endParaRPr lang="en-US" dirty="0">
              <a:solidFill>
                <a:srgbClr val="5FCBEF"/>
              </a:solidFill>
              <a:latin typeface="Trebuchet MS" panose="020B0603020202020204" pitchFamily="34" charset="0"/>
              <a:ea typeface="Trebuchet MS"/>
              <a:cs typeface="Trebuchet MS"/>
              <a:sym typeface="Trebuchet MS"/>
            </a:endParaRPr>
          </a:p>
          <a:p>
            <a:pPr algn="l">
              <a:lnSpc>
                <a:spcPts val="2423"/>
              </a:lnSpc>
            </a:pPr>
            <a:r>
              <a:rPr lang="en-US" u="sng" dirty="0">
                <a:solidFill>
                  <a:srgbClr val="5FCBEF"/>
                </a:solidFill>
                <a:latin typeface="Trebuchet MS" panose="020B0603020202020204" pitchFamily="34" charset="0"/>
                <a:ea typeface="Trebuchet MS"/>
                <a:cs typeface="Trebuchet MS"/>
                <a:sym typeface="Trebuchet MS"/>
              </a:rPr>
              <a:t>Injections</a:t>
            </a:r>
          </a:p>
          <a:p>
            <a:pPr algn="l">
              <a:lnSpc>
                <a:spcPts val="2423"/>
              </a:lnSpc>
            </a:pPr>
            <a:r>
              <a:rPr lang="en-US" dirty="0">
                <a:solidFill>
                  <a:srgbClr val="5FCBEF"/>
                </a:solidFill>
                <a:latin typeface="Trebuchet MS" panose="020B0603020202020204" pitchFamily="34" charset="0"/>
                <a:ea typeface="Trebuchet MS"/>
                <a:cs typeface="Trebuchet MS"/>
                <a:sym typeface="Trebuchet MS"/>
              </a:rPr>
              <a:t>Injections are invasive and often painful, requiring professional administration. They also pose risks such as infections and needle-related anxiety.</a:t>
            </a:r>
          </a:p>
          <a:p>
            <a:pPr algn="just">
              <a:lnSpc>
                <a:spcPts val="218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70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224"/>
              </a:lnSpc>
            </a:pPr>
            <a:endParaRPr lang="en-US" dirty="0">
              <a:solidFill>
                <a:srgbClr val="5FCBEF"/>
              </a:solidFill>
              <a:latin typeface="Trebuchet MS" panose="020B0603020202020204" pitchFamily="34" charset="0"/>
              <a:ea typeface="Trebuchet MS"/>
              <a:cs typeface="Trebuchet MS"/>
              <a:sym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DF382-3905-1DA6-22CC-97EFCA4365A3}"/>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9AE9B7E-E0EF-05CE-2E97-53BA2398AF5B}"/>
              </a:ext>
            </a:extLst>
          </p:cNvPr>
          <p:cNvPicPr>
            <a:picLocks noChangeAspect="1"/>
          </p:cNvPicPr>
          <p:nvPr/>
        </p:nvPicPr>
        <p:blipFill>
          <a:blip r:embed="rId2"/>
          <a:stretch>
            <a:fillRect/>
          </a:stretch>
        </p:blipFill>
        <p:spPr>
          <a:xfrm>
            <a:off x="5567391" y="529086"/>
            <a:ext cx="3364532" cy="4005006"/>
          </a:xfrm>
          <a:prstGeom prst="rect">
            <a:avLst/>
          </a:prstGeom>
        </p:spPr>
      </p:pic>
      <p:grpSp>
        <p:nvGrpSpPr>
          <p:cNvPr id="2" name="Group 2">
            <a:extLst>
              <a:ext uri="{FF2B5EF4-FFF2-40B4-BE49-F238E27FC236}">
                <a16:creationId xmlns:a16="http://schemas.microsoft.com/office/drawing/2014/main" id="{0F454920-4EDB-3C2B-2F46-0DD82BB09206}"/>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53363697-A9CE-46AD-659B-AE231A4091C5}"/>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2CE5043B-C14D-AA5C-EE37-7039BA78223C}"/>
              </a:ext>
            </a:extLst>
          </p:cNvPr>
          <p:cNvSpPr/>
          <p:nvPr/>
        </p:nvSpPr>
        <p:spPr>
          <a:xfrm flipV="1">
            <a:off x="8839200" y="4387957"/>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127E9428-E312-0C27-39DE-2A303C6533B9}"/>
              </a:ext>
            </a:extLst>
          </p:cNvPr>
          <p:cNvSpPr/>
          <p:nvPr/>
        </p:nvSpPr>
        <p:spPr>
          <a:xfrm>
            <a:off x="9328524" y="-124443"/>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66F0C42F-01D4-63B3-4F25-54A9760E7BF6}"/>
              </a:ext>
            </a:extLst>
          </p:cNvPr>
          <p:cNvGrpSpPr/>
          <p:nvPr/>
        </p:nvGrpSpPr>
        <p:grpSpPr>
          <a:xfrm>
            <a:off x="8954897" y="-9030"/>
            <a:ext cx="1351103" cy="7324230"/>
            <a:chOff x="0" y="0"/>
            <a:chExt cx="1801471" cy="9765641"/>
          </a:xfrm>
        </p:grpSpPr>
        <p:sp>
          <p:nvSpPr>
            <p:cNvPr id="7" name="Freeform 7">
              <a:extLst>
                <a:ext uri="{FF2B5EF4-FFF2-40B4-BE49-F238E27FC236}">
                  <a16:creationId xmlns:a16="http://schemas.microsoft.com/office/drawing/2014/main" id="{ED567DFC-728A-2EE7-25AC-B592379429F8}"/>
                </a:ext>
              </a:extLst>
            </p:cNvPr>
            <p:cNvSpPr/>
            <p:nvPr/>
          </p:nvSpPr>
          <p:spPr>
            <a:xfrm>
              <a:off x="0" y="0"/>
              <a:ext cx="1804955" cy="9765665"/>
            </a:xfrm>
            <a:custGeom>
              <a:avLst/>
              <a:gdLst/>
              <a:ahLst/>
              <a:cxnLst/>
              <a:rect l="l" t="t" r="r" b="b"/>
              <a:pathLst>
                <a:path w="1804955" h="9765665">
                  <a:moveTo>
                    <a:pt x="1606289" y="0"/>
                  </a:moveTo>
                  <a:lnTo>
                    <a:pt x="0" y="9753600"/>
                  </a:lnTo>
                  <a:lnTo>
                    <a:pt x="1801147" y="9765665"/>
                  </a:lnTo>
                  <a:cubicBezTo>
                    <a:pt x="1804955" y="6514465"/>
                    <a:pt x="1792216" y="3263265"/>
                    <a:pt x="1794413" y="12065"/>
                  </a:cubicBezTo>
                  <a:lnTo>
                    <a:pt x="1606289"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53D8A951-4A99-1FEA-6BD9-CBD96443AEA1}"/>
              </a:ext>
            </a:extLst>
          </p:cNvPr>
          <p:cNvGrpSpPr/>
          <p:nvPr/>
        </p:nvGrpSpPr>
        <p:grpSpPr>
          <a:xfrm>
            <a:off x="8954897" y="-18063"/>
            <a:ext cx="1342535" cy="7324231"/>
            <a:chOff x="0" y="0"/>
            <a:chExt cx="1790047" cy="9765642"/>
          </a:xfrm>
        </p:grpSpPr>
        <p:sp>
          <p:nvSpPr>
            <p:cNvPr id="9" name="Freeform 9">
              <a:extLst>
                <a:ext uri="{FF2B5EF4-FFF2-40B4-BE49-F238E27FC236}">
                  <a16:creationId xmlns:a16="http://schemas.microsoft.com/office/drawing/2014/main" id="{A74059DA-7739-6974-32CA-6885F40BC3EE}"/>
                </a:ext>
              </a:extLst>
            </p:cNvPr>
            <p:cNvSpPr/>
            <p:nvPr/>
          </p:nvSpPr>
          <p:spPr>
            <a:xfrm>
              <a:off x="0" y="0"/>
              <a:ext cx="1793029" cy="9765665"/>
            </a:xfrm>
            <a:custGeom>
              <a:avLst/>
              <a:gdLst/>
              <a:ahLst/>
              <a:cxnLst/>
              <a:rect l="l" t="t" r="r" b="b"/>
              <a:pathLst>
                <a:path w="1793029" h="9765665">
                  <a:moveTo>
                    <a:pt x="0" y="0"/>
                  </a:moveTo>
                  <a:lnTo>
                    <a:pt x="1104722" y="9765665"/>
                  </a:lnTo>
                  <a:lnTo>
                    <a:pt x="1789348" y="9765665"/>
                  </a:lnTo>
                  <a:cubicBezTo>
                    <a:pt x="1786722" y="6510401"/>
                    <a:pt x="1793029" y="3255264"/>
                    <a:pt x="1789348"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C4A5893D-C1C3-BA88-C9E9-1F46C731E0A4}"/>
              </a:ext>
            </a:extLst>
          </p:cNvPr>
          <p:cNvGrpSpPr/>
          <p:nvPr/>
        </p:nvGrpSpPr>
        <p:grpSpPr>
          <a:xfrm>
            <a:off x="9624644" y="4181405"/>
            <a:ext cx="1277209" cy="3133795"/>
            <a:chOff x="0" y="0"/>
            <a:chExt cx="1702945" cy="4178394"/>
          </a:xfrm>
        </p:grpSpPr>
        <p:sp>
          <p:nvSpPr>
            <p:cNvPr id="11" name="Freeform 11">
              <a:extLst>
                <a:ext uri="{FF2B5EF4-FFF2-40B4-BE49-F238E27FC236}">
                  <a16:creationId xmlns:a16="http://schemas.microsoft.com/office/drawing/2014/main" id="{75357CB2-9BC8-AF4B-517F-784816FAD992}"/>
                </a:ext>
              </a:extLst>
            </p:cNvPr>
            <p:cNvSpPr/>
            <p:nvPr/>
          </p:nvSpPr>
          <p:spPr>
            <a:xfrm>
              <a:off x="0" y="0"/>
              <a:ext cx="1702920" cy="4178427"/>
            </a:xfrm>
            <a:custGeom>
              <a:avLst/>
              <a:gdLst/>
              <a:ahLst/>
              <a:cxnLst/>
              <a:rect l="l" t="t" r="r" b="b"/>
              <a:pathLst>
                <a:path w="1702920" h="4178427">
                  <a:moveTo>
                    <a:pt x="0" y="4178427"/>
                  </a:moveTo>
                  <a:lnTo>
                    <a:pt x="1698504" y="0"/>
                  </a:lnTo>
                  <a:cubicBezTo>
                    <a:pt x="1699956" y="1392809"/>
                    <a:pt x="1701468" y="2785618"/>
                    <a:pt x="1702920"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B75B4BEE-3B32-C03E-CB53-068FAF79B1C3}"/>
              </a:ext>
            </a:extLst>
          </p:cNvPr>
          <p:cNvGrpSpPr/>
          <p:nvPr/>
        </p:nvGrpSpPr>
        <p:grpSpPr>
          <a:xfrm>
            <a:off x="9387637" y="-228600"/>
            <a:ext cx="1342535" cy="7324231"/>
            <a:chOff x="0" y="0"/>
            <a:chExt cx="1790047" cy="9765642"/>
          </a:xfrm>
        </p:grpSpPr>
        <p:sp>
          <p:nvSpPr>
            <p:cNvPr id="13" name="Freeform 13">
              <a:extLst>
                <a:ext uri="{FF2B5EF4-FFF2-40B4-BE49-F238E27FC236}">
                  <a16:creationId xmlns:a16="http://schemas.microsoft.com/office/drawing/2014/main" id="{C2BEDD50-9660-5B00-E4F6-4908F368E154}"/>
                </a:ext>
              </a:extLst>
            </p:cNvPr>
            <p:cNvSpPr/>
            <p:nvPr/>
          </p:nvSpPr>
          <p:spPr>
            <a:xfrm>
              <a:off x="0" y="0"/>
              <a:ext cx="1790031" cy="9765665"/>
            </a:xfrm>
            <a:custGeom>
              <a:avLst/>
              <a:gdLst/>
              <a:ahLst/>
              <a:cxnLst/>
              <a:rect l="l" t="t" r="r" b="b"/>
              <a:pathLst>
                <a:path w="1790031" h="9765665">
                  <a:moveTo>
                    <a:pt x="0" y="0"/>
                  </a:moveTo>
                  <a:lnTo>
                    <a:pt x="1551032" y="9765665"/>
                  </a:lnTo>
                  <a:lnTo>
                    <a:pt x="1790031" y="9753600"/>
                  </a:lnTo>
                  <a:lnTo>
                    <a:pt x="1790031"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5904CA6C-6313-2FF1-1FE3-CEB2E0C8CC10}"/>
              </a:ext>
            </a:extLst>
          </p:cNvPr>
          <p:cNvGrpSpPr/>
          <p:nvPr/>
        </p:nvGrpSpPr>
        <p:grpSpPr>
          <a:xfrm>
            <a:off x="9382735" y="-18063"/>
            <a:ext cx="914699" cy="7324231"/>
            <a:chOff x="0" y="0"/>
            <a:chExt cx="1219598" cy="9765642"/>
          </a:xfrm>
        </p:grpSpPr>
        <p:sp>
          <p:nvSpPr>
            <p:cNvPr id="15" name="Freeform 15">
              <a:extLst>
                <a:ext uri="{FF2B5EF4-FFF2-40B4-BE49-F238E27FC236}">
                  <a16:creationId xmlns:a16="http://schemas.microsoft.com/office/drawing/2014/main" id="{388DA7B3-A4D1-0D35-D299-19C17AF8C0F5}"/>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E9D16AAD-CD76-32AC-B461-940053D3375E}"/>
              </a:ext>
            </a:extLst>
          </p:cNvPr>
          <p:cNvGrpSpPr/>
          <p:nvPr/>
        </p:nvGrpSpPr>
        <p:grpSpPr>
          <a:xfrm>
            <a:off x="9605405" y="-45795"/>
            <a:ext cx="1137888" cy="7324231"/>
            <a:chOff x="0" y="0"/>
            <a:chExt cx="1517184" cy="9765642"/>
          </a:xfrm>
        </p:grpSpPr>
        <p:sp>
          <p:nvSpPr>
            <p:cNvPr id="17" name="Freeform 17">
              <a:extLst>
                <a:ext uri="{FF2B5EF4-FFF2-40B4-BE49-F238E27FC236}">
                  <a16:creationId xmlns:a16="http://schemas.microsoft.com/office/drawing/2014/main" id="{D6C9B417-5A38-FE33-994B-477289302E77}"/>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BC5EE593-AAEE-4D59-5F74-6F34416804A0}"/>
              </a:ext>
            </a:extLst>
          </p:cNvPr>
          <p:cNvGrpSpPr/>
          <p:nvPr/>
        </p:nvGrpSpPr>
        <p:grpSpPr>
          <a:xfrm>
            <a:off x="9201669" y="5219982"/>
            <a:ext cx="1167025" cy="2095218"/>
            <a:chOff x="0" y="0"/>
            <a:chExt cx="1556033" cy="2793624"/>
          </a:xfrm>
        </p:grpSpPr>
        <p:sp>
          <p:nvSpPr>
            <p:cNvPr id="19" name="Freeform 19">
              <a:extLst>
                <a:ext uri="{FF2B5EF4-FFF2-40B4-BE49-F238E27FC236}">
                  <a16:creationId xmlns:a16="http://schemas.microsoft.com/office/drawing/2014/main" id="{8051CD38-E3BA-F52F-B722-64B973890CC0}"/>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a:extLst>
              <a:ext uri="{FF2B5EF4-FFF2-40B4-BE49-F238E27FC236}">
                <a16:creationId xmlns:a16="http://schemas.microsoft.com/office/drawing/2014/main" id="{8E531909-B1CA-67A9-6C32-97B689FE5F42}"/>
              </a:ext>
            </a:extLst>
          </p:cNvPr>
          <p:cNvGrpSpPr/>
          <p:nvPr/>
        </p:nvGrpSpPr>
        <p:grpSpPr>
          <a:xfrm>
            <a:off x="-457200" y="0"/>
            <a:ext cx="7880009" cy="2159214"/>
            <a:chOff x="-1121346" y="-384648"/>
            <a:chExt cx="10506679" cy="2878955"/>
          </a:xfrm>
        </p:grpSpPr>
        <p:sp>
          <p:nvSpPr>
            <p:cNvPr id="21" name="Freeform 21">
              <a:extLst>
                <a:ext uri="{FF2B5EF4-FFF2-40B4-BE49-F238E27FC236}">
                  <a16:creationId xmlns:a16="http://schemas.microsoft.com/office/drawing/2014/main" id="{73A1905F-5C78-C48E-B415-5388A181F5DB}"/>
                </a:ext>
              </a:extLst>
            </p:cNvPr>
            <p:cNvSpPr/>
            <p:nvPr/>
          </p:nvSpPr>
          <p:spPr>
            <a:xfrm>
              <a:off x="-1121346" y="-384648"/>
              <a:ext cx="9027859"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a:extLst>
                <a:ext uri="{FF2B5EF4-FFF2-40B4-BE49-F238E27FC236}">
                  <a16:creationId xmlns:a16="http://schemas.microsoft.com/office/drawing/2014/main" id="{8ED9F0C5-3CDF-7B26-1EDE-2C484B519DE1}"/>
                </a:ext>
              </a:extLst>
            </p:cNvPr>
            <p:cNvSpPr txBox="1"/>
            <p:nvPr/>
          </p:nvSpPr>
          <p:spPr>
            <a:xfrm>
              <a:off x="357475" y="606312"/>
              <a:ext cx="9027858" cy="1887995"/>
            </a:xfrm>
            <a:prstGeom prst="rect">
              <a:avLst/>
            </a:prstGeom>
          </p:spPr>
          <p:txBody>
            <a:bodyPr lIns="0" tIns="0" rIns="0" bIns="0" rtlCol="0" anchor="t"/>
            <a:lstStyle/>
            <a:p>
              <a:pPr algn="l">
                <a:lnSpc>
                  <a:spcPts val="5567"/>
                </a:lnSpc>
              </a:pPr>
              <a:r>
                <a:rPr lang="en-US" sz="4639" dirty="0">
                  <a:solidFill>
                    <a:srgbClr val="5FCBEF"/>
                  </a:solidFill>
                  <a:latin typeface="Trebuchet MS" panose="020B0603020202020204" pitchFamily="34" charset="0"/>
                  <a:ea typeface="Trebuchet MS"/>
                  <a:cs typeface="Trebuchet MS"/>
                  <a:sym typeface="Trebuchet MS"/>
                </a:rPr>
                <a:t>EXISTING MODEL</a:t>
              </a:r>
            </a:p>
          </p:txBody>
        </p:sp>
      </p:grpSp>
      <p:sp>
        <p:nvSpPr>
          <p:cNvPr id="25" name="TextBox 25">
            <a:extLst>
              <a:ext uri="{FF2B5EF4-FFF2-40B4-BE49-F238E27FC236}">
                <a16:creationId xmlns:a16="http://schemas.microsoft.com/office/drawing/2014/main" id="{B10A6D33-459E-4EF7-FCFE-C29EB7B4FBF1}"/>
              </a:ext>
            </a:extLst>
          </p:cNvPr>
          <p:cNvSpPr txBox="1"/>
          <p:nvPr/>
        </p:nvSpPr>
        <p:spPr>
          <a:xfrm>
            <a:off x="683279" y="2332956"/>
            <a:ext cx="4527652" cy="2201136"/>
          </a:xfrm>
          <a:prstGeom prst="rect">
            <a:avLst/>
          </a:prstGeom>
        </p:spPr>
        <p:txBody>
          <a:bodyPr lIns="0" tIns="0" rIns="0" bIns="0" rtlCol="0" anchor="ctr"/>
          <a:lstStyle/>
          <a:p>
            <a:pPr algn="just">
              <a:lnSpc>
                <a:spcPts val="2184"/>
              </a:lnSpc>
            </a:pPr>
            <a:r>
              <a:rPr lang="en-US" dirty="0">
                <a:solidFill>
                  <a:srgbClr val="5FCBEF"/>
                </a:solidFill>
                <a:latin typeface="Trebuchet MS" panose="020B0603020202020204" pitchFamily="34" charset="0"/>
                <a:ea typeface="Trebuchet MS"/>
                <a:cs typeface="Trebuchet MS"/>
                <a:sym typeface="Trebuchet MS"/>
              </a:rPr>
              <a:t>A pain relief patch is a medicated adhesive patch applied to the skin to deliver pain-relieving drugs directly to the affected area. It provides localized relief from muscle or joint pain, commonly using ingredients like menthol, lidocaine, or diclofenac. These patches are easy to use, non-invasive, and offer sustained drug release over several hours.</a:t>
            </a:r>
          </a:p>
          <a:p>
            <a:pPr algn="just">
              <a:lnSpc>
                <a:spcPts val="218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70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224"/>
              </a:lnSpc>
            </a:pPr>
            <a:endParaRPr lang="en-US" dirty="0">
              <a:solidFill>
                <a:srgbClr val="5FCBEF"/>
              </a:solidFill>
              <a:latin typeface="Trebuchet MS" panose="020B0603020202020204" pitchFamily="34" charset="0"/>
              <a:ea typeface="Trebuchet MS"/>
              <a:cs typeface="Trebuchet MS"/>
              <a:sym typeface="Trebuchet MS"/>
            </a:endParaRPr>
          </a:p>
        </p:txBody>
      </p:sp>
      <p:sp>
        <p:nvSpPr>
          <p:cNvPr id="26" name="TextBox 25">
            <a:extLst>
              <a:ext uri="{FF2B5EF4-FFF2-40B4-BE49-F238E27FC236}">
                <a16:creationId xmlns:a16="http://schemas.microsoft.com/office/drawing/2014/main" id="{C1BD6D6E-A0B2-A43B-8105-5F5FB66DCE25}"/>
              </a:ext>
            </a:extLst>
          </p:cNvPr>
          <p:cNvSpPr txBox="1"/>
          <p:nvPr/>
        </p:nvSpPr>
        <p:spPr>
          <a:xfrm>
            <a:off x="654596" y="3616329"/>
            <a:ext cx="7722973" cy="3619264"/>
          </a:xfrm>
          <a:prstGeom prst="rect">
            <a:avLst/>
          </a:prstGeom>
        </p:spPr>
        <p:txBody>
          <a:bodyPr lIns="0" tIns="0" rIns="0" bIns="0" rtlCol="0" anchor="ctr"/>
          <a:lstStyle/>
          <a:p>
            <a:pPr algn="just">
              <a:lnSpc>
                <a:spcPts val="218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2184"/>
              </a:lnSpc>
            </a:pPr>
            <a:r>
              <a:rPr lang="en-US" dirty="0">
                <a:solidFill>
                  <a:srgbClr val="5FCBEF"/>
                </a:solidFill>
                <a:latin typeface="Trebuchet MS" panose="020B0603020202020204" pitchFamily="34" charset="0"/>
                <a:ea typeface="Trebuchet MS"/>
                <a:cs typeface="Trebuchet MS"/>
                <a:sym typeface="Trebuchet MS"/>
              </a:rPr>
              <a:t>A pain relief patch is a medicated adhesive patch applied to the skin to deliver pain-relieving drugs directly to the affected area. It provides localized relief from muscle or joint pain, commonly using ingredients like menthol, lidocaine, or diclofenac. These patches are easy to use, non-invasive, and offer sustained drug release over several hours.</a:t>
            </a:r>
          </a:p>
          <a:p>
            <a:pPr algn="just">
              <a:lnSpc>
                <a:spcPts val="170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224"/>
              </a:lnSpc>
            </a:pPr>
            <a:endParaRPr lang="en-US" dirty="0">
              <a:solidFill>
                <a:srgbClr val="5FCBEF"/>
              </a:solidFill>
              <a:latin typeface="Trebuchet MS" panose="020B0603020202020204" pitchFamily="34" charset="0"/>
              <a:ea typeface="Trebuchet MS"/>
              <a:cs typeface="Trebuchet MS"/>
              <a:sym typeface="Trebuchet MS"/>
            </a:endParaRPr>
          </a:p>
        </p:txBody>
      </p:sp>
    </p:spTree>
    <p:extLst>
      <p:ext uri="{BB962C8B-B14F-4D97-AF65-F5344CB8AC3E}">
        <p14:creationId xmlns:p14="http://schemas.microsoft.com/office/powerpoint/2010/main" val="4028934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33530-5EE5-C085-B121-044D1A999A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9DFDA42-F43F-C9A8-B40C-565025F4B1DB}"/>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166692AE-FFAD-82A4-F357-BEB45937B51B}"/>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682AD42E-AC5E-7F47-8DBC-75882F8824BA}"/>
              </a:ext>
            </a:extLst>
          </p:cNvPr>
          <p:cNvSpPr/>
          <p:nvPr/>
        </p:nvSpPr>
        <p:spPr>
          <a:xfrm flipV="1">
            <a:off x="7947029" y="4448888"/>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4F69C0DC-4112-8FA5-E884-DDB525BEE669}"/>
              </a:ext>
            </a:extLst>
          </p:cNvPr>
          <p:cNvSpPr/>
          <p:nvPr/>
        </p:nvSpPr>
        <p:spPr>
          <a:xfrm>
            <a:off x="8786789" y="-29063"/>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6EA83B2F-B2B4-713F-4875-081562B3F792}"/>
              </a:ext>
            </a:extLst>
          </p:cNvPr>
          <p:cNvGrpSpPr/>
          <p:nvPr/>
        </p:nvGrpSpPr>
        <p:grpSpPr>
          <a:xfrm>
            <a:off x="8954897" y="-9030"/>
            <a:ext cx="1351103" cy="7324230"/>
            <a:chOff x="0" y="0"/>
            <a:chExt cx="1801471" cy="9765641"/>
          </a:xfrm>
        </p:grpSpPr>
        <p:sp>
          <p:nvSpPr>
            <p:cNvPr id="7" name="Freeform 7">
              <a:extLst>
                <a:ext uri="{FF2B5EF4-FFF2-40B4-BE49-F238E27FC236}">
                  <a16:creationId xmlns:a16="http://schemas.microsoft.com/office/drawing/2014/main" id="{F6D89C1F-8D56-E59A-933B-D58F2547438A}"/>
                </a:ext>
              </a:extLst>
            </p:cNvPr>
            <p:cNvSpPr/>
            <p:nvPr/>
          </p:nvSpPr>
          <p:spPr>
            <a:xfrm>
              <a:off x="0" y="0"/>
              <a:ext cx="1804955" cy="9765665"/>
            </a:xfrm>
            <a:custGeom>
              <a:avLst/>
              <a:gdLst/>
              <a:ahLst/>
              <a:cxnLst/>
              <a:rect l="l" t="t" r="r" b="b"/>
              <a:pathLst>
                <a:path w="1804955" h="9765665">
                  <a:moveTo>
                    <a:pt x="1606289" y="0"/>
                  </a:moveTo>
                  <a:lnTo>
                    <a:pt x="0" y="9753600"/>
                  </a:lnTo>
                  <a:lnTo>
                    <a:pt x="1801147" y="9765665"/>
                  </a:lnTo>
                  <a:cubicBezTo>
                    <a:pt x="1804955" y="6514465"/>
                    <a:pt x="1792216" y="3263265"/>
                    <a:pt x="1794413" y="12065"/>
                  </a:cubicBezTo>
                  <a:lnTo>
                    <a:pt x="1606289"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90939D98-13B5-E74D-EFD7-18664AC18BDB}"/>
              </a:ext>
            </a:extLst>
          </p:cNvPr>
          <p:cNvGrpSpPr/>
          <p:nvPr/>
        </p:nvGrpSpPr>
        <p:grpSpPr>
          <a:xfrm>
            <a:off x="8954897" y="-18063"/>
            <a:ext cx="1342535" cy="7324231"/>
            <a:chOff x="0" y="0"/>
            <a:chExt cx="1790047" cy="9765642"/>
          </a:xfrm>
        </p:grpSpPr>
        <p:sp>
          <p:nvSpPr>
            <p:cNvPr id="9" name="Freeform 9">
              <a:extLst>
                <a:ext uri="{FF2B5EF4-FFF2-40B4-BE49-F238E27FC236}">
                  <a16:creationId xmlns:a16="http://schemas.microsoft.com/office/drawing/2014/main" id="{2BBE8978-C996-18F7-C0C3-29F8C8B0540E}"/>
                </a:ext>
              </a:extLst>
            </p:cNvPr>
            <p:cNvSpPr/>
            <p:nvPr/>
          </p:nvSpPr>
          <p:spPr>
            <a:xfrm>
              <a:off x="0" y="0"/>
              <a:ext cx="1793029" cy="9765665"/>
            </a:xfrm>
            <a:custGeom>
              <a:avLst/>
              <a:gdLst/>
              <a:ahLst/>
              <a:cxnLst/>
              <a:rect l="l" t="t" r="r" b="b"/>
              <a:pathLst>
                <a:path w="1793029" h="9765665">
                  <a:moveTo>
                    <a:pt x="0" y="0"/>
                  </a:moveTo>
                  <a:lnTo>
                    <a:pt x="1104722" y="9765665"/>
                  </a:lnTo>
                  <a:lnTo>
                    <a:pt x="1789348" y="9765665"/>
                  </a:lnTo>
                  <a:cubicBezTo>
                    <a:pt x="1786722" y="6510401"/>
                    <a:pt x="1793029" y="3255264"/>
                    <a:pt x="1789348"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8BBFB3BE-30C2-398C-1AA7-21F45019DBF3}"/>
              </a:ext>
            </a:extLst>
          </p:cNvPr>
          <p:cNvGrpSpPr/>
          <p:nvPr/>
        </p:nvGrpSpPr>
        <p:grpSpPr>
          <a:xfrm>
            <a:off x="8766342" y="4190436"/>
            <a:ext cx="1277209" cy="3133795"/>
            <a:chOff x="0" y="0"/>
            <a:chExt cx="1702945" cy="4178394"/>
          </a:xfrm>
        </p:grpSpPr>
        <p:sp>
          <p:nvSpPr>
            <p:cNvPr id="11" name="Freeform 11">
              <a:extLst>
                <a:ext uri="{FF2B5EF4-FFF2-40B4-BE49-F238E27FC236}">
                  <a16:creationId xmlns:a16="http://schemas.microsoft.com/office/drawing/2014/main" id="{FC0B0DBC-A639-DED7-0411-73C5B7169F18}"/>
                </a:ext>
              </a:extLst>
            </p:cNvPr>
            <p:cNvSpPr/>
            <p:nvPr/>
          </p:nvSpPr>
          <p:spPr>
            <a:xfrm>
              <a:off x="0" y="0"/>
              <a:ext cx="1702920" cy="4178427"/>
            </a:xfrm>
            <a:custGeom>
              <a:avLst/>
              <a:gdLst/>
              <a:ahLst/>
              <a:cxnLst/>
              <a:rect l="l" t="t" r="r" b="b"/>
              <a:pathLst>
                <a:path w="1702920" h="4178427">
                  <a:moveTo>
                    <a:pt x="0" y="4178427"/>
                  </a:moveTo>
                  <a:lnTo>
                    <a:pt x="1698504" y="0"/>
                  </a:lnTo>
                  <a:cubicBezTo>
                    <a:pt x="1699956" y="1392809"/>
                    <a:pt x="1701468" y="2785618"/>
                    <a:pt x="1702920"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1790FD5B-31B7-91B4-D897-10F88C5FBACF}"/>
              </a:ext>
            </a:extLst>
          </p:cNvPr>
          <p:cNvGrpSpPr/>
          <p:nvPr/>
        </p:nvGrpSpPr>
        <p:grpSpPr>
          <a:xfrm>
            <a:off x="8954897" y="-18063"/>
            <a:ext cx="1342535" cy="7324231"/>
            <a:chOff x="0" y="0"/>
            <a:chExt cx="1790047" cy="9765642"/>
          </a:xfrm>
        </p:grpSpPr>
        <p:sp>
          <p:nvSpPr>
            <p:cNvPr id="13" name="Freeform 13">
              <a:extLst>
                <a:ext uri="{FF2B5EF4-FFF2-40B4-BE49-F238E27FC236}">
                  <a16:creationId xmlns:a16="http://schemas.microsoft.com/office/drawing/2014/main" id="{89D346E3-5AE0-C51A-B4D5-FFEBAADE6C0C}"/>
                </a:ext>
              </a:extLst>
            </p:cNvPr>
            <p:cNvSpPr/>
            <p:nvPr/>
          </p:nvSpPr>
          <p:spPr>
            <a:xfrm>
              <a:off x="0" y="0"/>
              <a:ext cx="1790031" cy="9765665"/>
            </a:xfrm>
            <a:custGeom>
              <a:avLst/>
              <a:gdLst/>
              <a:ahLst/>
              <a:cxnLst/>
              <a:rect l="l" t="t" r="r" b="b"/>
              <a:pathLst>
                <a:path w="1790031" h="9765665">
                  <a:moveTo>
                    <a:pt x="0" y="0"/>
                  </a:moveTo>
                  <a:lnTo>
                    <a:pt x="1551032" y="9765665"/>
                  </a:lnTo>
                  <a:lnTo>
                    <a:pt x="1790031" y="9753600"/>
                  </a:lnTo>
                  <a:lnTo>
                    <a:pt x="1790031"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822127C9-4EDE-852C-572C-3F41F2485EFD}"/>
              </a:ext>
            </a:extLst>
          </p:cNvPr>
          <p:cNvGrpSpPr/>
          <p:nvPr/>
        </p:nvGrpSpPr>
        <p:grpSpPr>
          <a:xfrm>
            <a:off x="9382735" y="-18063"/>
            <a:ext cx="914699" cy="7324231"/>
            <a:chOff x="0" y="0"/>
            <a:chExt cx="1219598" cy="9765642"/>
          </a:xfrm>
        </p:grpSpPr>
        <p:sp>
          <p:nvSpPr>
            <p:cNvPr id="15" name="Freeform 15">
              <a:extLst>
                <a:ext uri="{FF2B5EF4-FFF2-40B4-BE49-F238E27FC236}">
                  <a16:creationId xmlns:a16="http://schemas.microsoft.com/office/drawing/2014/main" id="{0D6D7399-1488-6466-3BC6-8389664447B8}"/>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40B93AC2-D0B0-90AC-6D08-F9B5F5577080}"/>
              </a:ext>
            </a:extLst>
          </p:cNvPr>
          <p:cNvGrpSpPr/>
          <p:nvPr/>
        </p:nvGrpSpPr>
        <p:grpSpPr>
          <a:xfrm>
            <a:off x="9193900" y="-18063"/>
            <a:ext cx="1137888" cy="7324231"/>
            <a:chOff x="0" y="0"/>
            <a:chExt cx="1517184" cy="9765642"/>
          </a:xfrm>
        </p:grpSpPr>
        <p:sp>
          <p:nvSpPr>
            <p:cNvPr id="17" name="Freeform 17">
              <a:extLst>
                <a:ext uri="{FF2B5EF4-FFF2-40B4-BE49-F238E27FC236}">
                  <a16:creationId xmlns:a16="http://schemas.microsoft.com/office/drawing/2014/main" id="{B10461A1-03E8-3C57-F4A6-BE75AF58A50A}"/>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AA0637A8-9886-9067-448A-9CCB63BC8E0C}"/>
              </a:ext>
            </a:extLst>
          </p:cNvPr>
          <p:cNvGrpSpPr/>
          <p:nvPr/>
        </p:nvGrpSpPr>
        <p:grpSpPr>
          <a:xfrm>
            <a:off x="8606682" y="5219982"/>
            <a:ext cx="1167025" cy="2095218"/>
            <a:chOff x="0" y="0"/>
            <a:chExt cx="1556033" cy="2793624"/>
          </a:xfrm>
        </p:grpSpPr>
        <p:sp>
          <p:nvSpPr>
            <p:cNvPr id="19" name="Freeform 19">
              <a:extLst>
                <a:ext uri="{FF2B5EF4-FFF2-40B4-BE49-F238E27FC236}">
                  <a16:creationId xmlns:a16="http://schemas.microsoft.com/office/drawing/2014/main" id="{637C2F44-6EC1-85EA-0E32-5A741DE8B7CD}"/>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a:extLst>
              <a:ext uri="{FF2B5EF4-FFF2-40B4-BE49-F238E27FC236}">
                <a16:creationId xmlns:a16="http://schemas.microsoft.com/office/drawing/2014/main" id="{034B28F3-03F6-405B-9050-4370AF31933E}"/>
              </a:ext>
            </a:extLst>
          </p:cNvPr>
          <p:cNvGrpSpPr/>
          <p:nvPr/>
        </p:nvGrpSpPr>
        <p:grpSpPr>
          <a:xfrm>
            <a:off x="536209" y="457200"/>
            <a:ext cx="7009896" cy="1451855"/>
            <a:chOff x="0" y="0"/>
            <a:chExt cx="9346528" cy="1935808"/>
          </a:xfrm>
        </p:grpSpPr>
        <p:sp>
          <p:nvSpPr>
            <p:cNvPr id="21" name="Freeform 21">
              <a:extLst>
                <a:ext uri="{FF2B5EF4-FFF2-40B4-BE49-F238E27FC236}">
                  <a16:creationId xmlns:a16="http://schemas.microsoft.com/office/drawing/2014/main" id="{0BA63E4D-71DD-88F3-E03F-62F4F5E48A10}"/>
                </a:ext>
              </a:extLst>
            </p:cNvPr>
            <p:cNvSpPr/>
            <p:nvPr/>
          </p:nvSpPr>
          <p:spPr>
            <a:xfrm>
              <a:off x="0" y="0"/>
              <a:ext cx="9027858"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a:extLst>
                <a:ext uri="{FF2B5EF4-FFF2-40B4-BE49-F238E27FC236}">
                  <a16:creationId xmlns:a16="http://schemas.microsoft.com/office/drawing/2014/main" id="{CBD9FBAD-DBF9-EDFE-F936-F0470CA3AC01}"/>
                </a:ext>
              </a:extLst>
            </p:cNvPr>
            <p:cNvSpPr txBox="1"/>
            <p:nvPr/>
          </p:nvSpPr>
          <p:spPr>
            <a:xfrm>
              <a:off x="318670" y="47812"/>
              <a:ext cx="9027858" cy="1887996"/>
            </a:xfrm>
            <a:prstGeom prst="rect">
              <a:avLst/>
            </a:prstGeom>
          </p:spPr>
          <p:txBody>
            <a:bodyPr lIns="0" tIns="0" rIns="0" bIns="0" rtlCol="0" anchor="t"/>
            <a:lstStyle/>
            <a:p>
              <a:pPr algn="l">
                <a:lnSpc>
                  <a:spcPts val="5567"/>
                </a:lnSpc>
              </a:pPr>
              <a:r>
                <a:rPr lang="en-US" sz="4639" dirty="0">
                  <a:solidFill>
                    <a:srgbClr val="5FCBEF"/>
                  </a:solidFill>
                  <a:latin typeface="Trebuchet MS" panose="020B0603020202020204" pitchFamily="34" charset="0"/>
                  <a:ea typeface="Trebuchet MS"/>
                  <a:cs typeface="Trebuchet MS"/>
                  <a:sym typeface="Trebuchet MS"/>
                </a:rPr>
                <a:t>PROPOSED WORK</a:t>
              </a:r>
            </a:p>
          </p:txBody>
        </p:sp>
      </p:grpSp>
      <p:grpSp>
        <p:nvGrpSpPr>
          <p:cNvPr id="23" name="Group 23">
            <a:extLst>
              <a:ext uri="{FF2B5EF4-FFF2-40B4-BE49-F238E27FC236}">
                <a16:creationId xmlns:a16="http://schemas.microsoft.com/office/drawing/2014/main" id="{D852F536-2EC5-314F-669C-ADC97498D502}"/>
              </a:ext>
            </a:extLst>
          </p:cNvPr>
          <p:cNvGrpSpPr/>
          <p:nvPr/>
        </p:nvGrpSpPr>
        <p:grpSpPr>
          <a:xfrm>
            <a:off x="462889" y="966447"/>
            <a:ext cx="8303453" cy="6375454"/>
            <a:chOff x="0" y="0"/>
            <a:chExt cx="11478204" cy="8813053"/>
          </a:xfrm>
        </p:grpSpPr>
        <p:sp>
          <p:nvSpPr>
            <p:cNvPr id="24" name="Freeform 24">
              <a:extLst>
                <a:ext uri="{FF2B5EF4-FFF2-40B4-BE49-F238E27FC236}">
                  <a16:creationId xmlns:a16="http://schemas.microsoft.com/office/drawing/2014/main" id="{3EA434A7-3CEA-2EDD-ED93-71A03E9B6512}"/>
                </a:ext>
              </a:extLst>
            </p:cNvPr>
            <p:cNvSpPr/>
            <p:nvPr/>
          </p:nvSpPr>
          <p:spPr>
            <a:xfrm>
              <a:off x="0" y="0"/>
              <a:ext cx="11478204" cy="8813053"/>
            </a:xfrm>
            <a:custGeom>
              <a:avLst/>
              <a:gdLst/>
              <a:ahLst/>
              <a:cxnLst/>
              <a:rect l="l" t="t" r="r" b="b"/>
              <a:pathLst>
                <a:path w="11478204" h="8813053">
                  <a:moveTo>
                    <a:pt x="0" y="0"/>
                  </a:moveTo>
                  <a:lnTo>
                    <a:pt x="11478204" y="0"/>
                  </a:lnTo>
                  <a:lnTo>
                    <a:pt x="11478204" y="8813053"/>
                  </a:lnTo>
                  <a:lnTo>
                    <a:pt x="0" y="8813053"/>
                  </a:lnTo>
                  <a:close/>
                </a:path>
              </a:pathLst>
            </a:custGeom>
            <a:solidFill>
              <a:srgbClr val="000000">
                <a:alpha val="0"/>
              </a:srgbClr>
            </a:solidFill>
          </p:spPr>
        </p:sp>
        <p:sp>
          <p:nvSpPr>
            <p:cNvPr id="25" name="TextBox 25">
              <a:extLst>
                <a:ext uri="{FF2B5EF4-FFF2-40B4-BE49-F238E27FC236}">
                  <a16:creationId xmlns:a16="http://schemas.microsoft.com/office/drawing/2014/main" id="{0456F279-2598-4FF5-81A7-ABAA918EDD43}"/>
                </a:ext>
              </a:extLst>
            </p:cNvPr>
            <p:cNvSpPr txBox="1"/>
            <p:nvPr/>
          </p:nvSpPr>
          <p:spPr>
            <a:xfrm>
              <a:off x="0" y="-9525"/>
              <a:ext cx="11478204" cy="8822578"/>
            </a:xfrm>
            <a:prstGeom prst="rect">
              <a:avLst/>
            </a:prstGeom>
          </p:spPr>
          <p:txBody>
            <a:bodyPr lIns="0" tIns="0" rIns="0" bIns="0" rtlCol="0" anchor="ctr"/>
            <a:lstStyle/>
            <a:p>
              <a:pPr algn="just">
                <a:lnSpc>
                  <a:spcPts val="1224"/>
                </a:lnSpc>
              </a:pPr>
              <a:endParaRPr sz="1600" dirty="0">
                <a:latin typeface="Trebuchet MS" panose="020B0603020202020204" pitchFamily="34" charset="0"/>
              </a:endParaRPr>
            </a:p>
            <a:p>
              <a:pPr algn="just">
                <a:lnSpc>
                  <a:spcPts val="2184"/>
                </a:lnSpc>
              </a:pPr>
              <a:r>
                <a:rPr lang="en-US" sz="1600" dirty="0">
                  <a:latin typeface="Trebuchet MS" panose="020B0603020202020204" pitchFamily="34" charset="0"/>
                </a:rPr>
                <a:t> </a:t>
              </a:r>
              <a:endParaRPr sz="1600" dirty="0">
                <a:latin typeface="Trebuchet MS" panose="020B0603020202020204" pitchFamily="34" charset="0"/>
              </a:endParaRPr>
            </a:p>
            <a:p>
              <a:pPr algn="just">
                <a:lnSpc>
                  <a:spcPts val="2184"/>
                </a:lnSpc>
              </a:pPr>
              <a:r>
                <a:rPr lang="en-US" dirty="0">
                  <a:solidFill>
                    <a:srgbClr val="5FCBEF"/>
                  </a:solidFill>
                  <a:latin typeface="Trebuchet MS" panose="020B0603020202020204" pitchFamily="34" charset="0"/>
                  <a:ea typeface="Trebuchet MS"/>
                  <a:cs typeface="Trebuchet MS"/>
                  <a:sym typeface="Trebuchet MS"/>
                </a:rPr>
                <a:t>     The wearable iontophoresis drug delivery system operates through four key        </a:t>
              </a:r>
            </a:p>
            <a:p>
              <a:pPr algn="just">
                <a:lnSpc>
                  <a:spcPts val="2184"/>
                </a:lnSpc>
              </a:pPr>
              <a:r>
                <a:rPr lang="en-US" dirty="0">
                  <a:solidFill>
                    <a:srgbClr val="5FCBEF"/>
                  </a:solidFill>
                  <a:latin typeface="Trebuchet MS" panose="020B0603020202020204" pitchFamily="34" charset="0"/>
                  <a:ea typeface="Trebuchet MS"/>
                  <a:cs typeface="Trebuchet MS"/>
                  <a:sym typeface="Trebuchet MS"/>
                </a:rPr>
                <a:t>     steps:</a:t>
              </a:r>
            </a:p>
            <a:p>
              <a:pPr marL="392939" lvl="1" indent="-196469" algn="just">
                <a:lnSpc>
                  <a:spcPts val="2184"/>
                </a:lnSpc>
                <a:buFont typeface="Arial"/>
                <a:buChar char="•"/>
              </a:pPr>
              <a:r>
                <a:rPr lang="en-US" u="sng" dirty="0">
                  <a:solidFill>
                    <a:srgbClr val="5FCBEF"/>
                  </a:solidFill>
                  <a:latin typeface="Trebuchet MS" panose="020B0603020202020204" pitchFamily="34" charset="0"/>
                  <a:ea typeface="Trebuchet MS"/>
                  <a:cs typeface="Trebuchet MS"/>
                  <a:sym typeface="Trebuchet MS"/>
                </a:rPr>
                <a:t>Simulated Data Collection</a:t>
              </a:r>
              <a:r>
                <a:rPr lang="en-US" dirty="0">
                  <a:solidFill>
                    <a:srgbClr val="5FCBEF"/>
                  </a:solidFill>
                  <a:latin typeface="Trebuchet MS" panose="020B0603020202020204" pitchFamily="34" charset="0"/>
                  <a:ea typeface="Trebuchet MS"/>
                  <a:cs typeface="Trebuchet MS"/>
                  <a:sym typeface="Trebuchet MS"/>
                </a:rPr>
                <a:t> – Instead of relying on Real-time biosensor’s data, we will be using physiological data such as heart rate variability and skin conductance that will be generated using statistical models and synthetic datasets. This ensures realistic stress-level fluctuations, allowing accurate testing of the system.</a:t>
              </a:r>
            </a:p>
            <a:p>
              <a:pPr marL="392939" lvl="1" indent="-196469" algn="just">
                <a:lnSpc>
                  <a:spcPts val="2184"/>
                </a:lnSpc>
                <a:buFont typeface="Arial"/>
                <a:buChar char="•"/>
              </a:pPr>
              <a:r>
                <a:rPr lang="en-US" u="sng" dirty="0">
                  <a:solidFill>
                    <a:srgbClr val="5FCBEF"/>
                  </a:solidFill>
                  <a:latin typeface="Trebuchet MS" panose="020B0603020202020204" pitchFamily="34" charset="0"/>
                  <a:ea typeface="Trebuchet MS"/>
                  <a:cs typeface="Trebuchet MS"/>
                  <a:sym typeface="Trebuchet MS"/>
                </a:rPr>
                <a:t>Machine Learning Analysis</a:t>
              </a:r>
              <a:r>
                <a:rPr lang="en-US" dirty="0">
                  <a:solidFill>
                    <a:srgbClr val="5FCBEF"/>
                  </a:solidFill>
                  <a:latin typeface="Trebuchet MS" panose="020B0603020202020204" pitchFamily="34" charset="0"/>
                  <a:ea typeface="Trebuchet MS"/>
                  <a:cs typeface="Trebuchet MS"/>
                  <a:sym typeface="Trebuchet MS"/>
                </a:rPr>
                <a:t> – The ML model processes the generated data using feature extraction techniques to identify stress-related patterns. The system classifies stress levels by analyzing variations in the simulated signals.</a:t>
              </a:r>
            </a:p>
            <a:p>
              <a:pPr marL="392939" lvl="1" indent="-196469" algn="just">
                <a:lnSpc>
                  <a:spcPts val="2184"/>
                </a:lnSpc>
                <a:buFont typeface="Arial"/>
                <a:buChar char="•"/>
              </a:pPr>
              <a:r>
                <a:rPr lang="en-US" u="sng" dirty="0">
                  <a:solidFill>
                    <a:srgbClr val="5FCBEF"/>
                  </a:solidFill>
                  <a:latin typeface="Trebuchet MS" panose="020B0603020202020204" pitchFamily="34" charset="0"/>
                  <a:ea typeface="Trebuchet MS"/>
                  <a:cs typeface="Trebuchet MS"/>
                  <a:sym typeface="Trebuchet MS"/>
                </a:rPr>
                <a:t>Web Application Visualization</a:t>
              </a:r>
              <a:r>
                <a:rPr lang="en-US" dirty="0">
                  <a:solidFill>
                    <a:srgbClr val="5FCBEF"/>
                  </a:solidFill>
                  <a:latin typeface="Trebuchet MS" panose="020B0603020202020204" pitchFamily="34" charset="0"/>
                  <a:ea typeface="Trebuchet MS"/>
                  <a:cs typeface="Trebuchet MS"/>
                  <a:sym typeface="Trebuchet MS"/>
                </a:rPr>
                <a:t> – A user-friendly web interface displays real-time stress simulations, allowing users to monitor stress patterns and drug administration decisions. The dashboard provides graphical insights, alerts, and historical trend analysis for research and evaluation.</a:t>
              </a:r>
            </a:p>
            <a:p>
              <a:pPr marL="392939" lvl="1" indent="-196469" algn="just">
                <a:lnSpc>
                  <a:spcPts val="2184"/>
                </a:lnSpc>
                <a:buFont typeface="Arial"/>
                <a:buChar char="•"/>
              </a:pPr>
              <a:r>
                <a:rPr lang="en-US" u="sng" dirty="0">
                  <a:solidFill>
                    <a:srgbClr val="5FCBEF"/>
                  </a:solidFill>
                  <a:latin typeface="Trebuchet MS" panose="020B0603020202020204" pitchFamily="34" charset="0"/>
                  <a:ea typeface="Trebuchet MS"/>
                  <a:cs typeface="Trebuchet MS"/>
                  <a:sym typeface="Trebuchet MS"/>
                </a:rPr>
                <a:t>Automated Drug Release Simulation</a:t>
              </a:r>
              <a:r>
                <a:rPr lang="en-US" dirty="0">
                  <a:solidFill>
                    <a:srgbClr val="5FCBEF"/>
                  </a:solidFill>
                  <a:latin typeface="Trebuchet MS" panose="020B0603020202020204" pitchFamily="34" charset="0"/>
                  <a:ea typeface="Trebuchet MS"/>
                  <a:cs typeface="Trebuchet MS"/>
                  <a:sym typeface="Trebuchet MS"/>
                </a:rPr>
                <a:t> – Upon detecting elevated stress levels, the system simulates the activation of the iontophoresis mechanism. Instead of physical drug delivery, the system will output a log of simulated drug release events, dosage adjustments, and timestamps for evaluation.</a:t>
              </a:r>
            </a:p>
            <a:p>
              <a:pPr algn="just">
                <a:lnSpc>
                  <a:spcPts val="218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704"/>
                </a:lnSpc>
              </a:pPr>
              <a:endParaRPr lang="en-US" dirty="0">
                <a:solidFill>
                  <a:srgbClr val="5FCBEF"/>
                </a:solidFill>
                <a:latin typeface="Trebuchet MS" panose="020B0603020202020204" pitchFamily="34" charset="0"/>
                <a:ea typeface="Trebuchet MS"/>
                <a:cs typeface="Trebuchet MS"/>
                <a:sym typeface="Trebuchet MS"/>
              </a:endParaRPr>
            </a:p>
            <a:p>
              <a:pPr algn="just">
                <a:lnSpc>
                  <a:spcPts val="1224"/>
                </a:lnSpc>
              </a:pPr>
              <a:endParaRPr lang="en-US" dirty="0">
                <a:solidFill>
                  <a:srgbClr val="5FCBEF"/>
                </a:solidFill>
                <a:latin typeface="Trebuchet MS" panose="020B0603020202020204" pitchFamily="34" charset="0"/>
                <a:ea typeface="Trebuchet MS"/>
                <a:cs typeface="Trebuchet MS"/>
                <a:sym typeface="Trebuchet MS"/>
              </a:endParaRPr>
            </a:p>
          </p:txBody>
        </p:sp>
      </p:grpSp>
    </p:spTree>
    <p:extLst>
      <p:ext uri="{BB962C8B-B14F-4D97-AF65-F5344CB8AC3E}">
        <p14:creationId xmlns:p14="http://schemas.microsoft.com/office/powerpoint/2010/main" val="27062624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7103027" y="4467764"/>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573338" y="-264234"/>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8261412" y="9034"/>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8595558" y="1"/>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7362010" y="4199469"/>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8387847" y="67169"/>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9543833" y="0"/>
            <a:ext cx="1137888" cy="7324231"/>
            <a:chOff x="0" y="0"/>
            <a:chExt cx="1517184" cy="9765642"/>
          </a:xfrm>
        </p:grpSpPr>
        <p:sp>
          <p:nvSpPr>
            <p:cNvPr id="15" name="Freeform 15"/>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6" name="Group 16"/>
          <p:cNvGrpSpPr/>
          <p:nvPr/>
        </p:nvGrpSpPr>
        <p:grpSpPr>
          <a:xfrm>
            <a:off x="8888269" y="5238047"/>
            <a:ext cx="1167025" cy="2095218"/>
            <a:chOff x="0" y="0"/>
            <a:chExt cx="1556033" cy="2793624"/>
          </a:xfrm>
        </p:grpSpPr>
        <p:sp>
          <p:nvSpPr>
            <p:cNvPr id="17" name="Freeform 17"/>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18" name="Group 18"/>
          <p:cNvGrpSpPr/>
          <p:nvPr/>
        </p:nvGrpSpPr>
        <p:grpSpPr>
          <a:xfrm>
            <a:off x="478649" y="273698"/>
            <a:ext cx="7175033" cy="1811993"/>
            <a:chOff x="0" y="0"/>
            <a:chExt cx="9566711" cy="2415991"/>
          </a:xfrm>
        </p:grpSpPr>
        <p:sp>
          <p:nvSpPr>
            <p:cNvPr id="19" name="Freeform 19"/>
            <p:cNvSpPr/>
            <p:nvPr/>
          </p:nvSpPr>
          <p:spPr>
            <a:xfrm>
              <a:off x="0" y="0"/>
              <a:ext cx="9536550" cy="1878471"/>
            </a:xfrm>
            <a:custGeom>
              <a:avLst/>
              <a:gdLst/>
              <a:ahLst/>
              <a:cxnLst/>
              <a:rect l="l" t="t" r="r" b="b"/>
              <a:pathLst>
                <a:path w="9536550" h="1878471">
                  <a:moveTo>
                    <a:pt x="0" y="0"/>
                  </a:moveTo>
                  <a:lnTo>
                    <a:pt x="9536550" y="0"/>
                  </a:lnTo>
                  <a:lnTo>
                    <a:pt x="9536550" y="1878471"/>
                  </a:lnTo>
                  <a:lnTo>
                    <a:pt x="0" y="1878471"/>
                  </a:lnTo>
                  <a:close/>
                </a:path>
              </a:pathLst>
            </a:custGeom>
            <a:solidFill>
              <a:srgbClr val="000000">
                <a:alpha val="0"/>
              </a:srgbClr>
            </a:solidFill>
          </p:spPr>
        </p:sp>
        <p:sp>
          <p:nvSpPr>
            <p:cNvPr id="20" name="TextBox 20"/>
            <p:cNvSpPr txBox="1"/>
            <p:nvPr/>
          </p:nvSpPr>
          <p:spPr>
            <a:xfrm>
              <a:off x="30161" y="527995"/>
              <a:ext cx="9536550" cy="1887996"/>
            </a:xfrm>
            <a:prstGeom prst="rect">
              <a:avLst/>
            </a:prstGeom>
          </p:spPr>
          <p:txBody>
            <a:bodyPr lIns="0" tIns="0" rIns="0" bIns="0" rtlCol="0" anchor="t"/>
            <a:lstStyle/>
            <a:p>
              <a:pPr algn="l">
                <a:lnSpc>
                  <a:spcPts val="4967"/>
                </a:lnSpc>
              </a:pPr>
              <a:r>
                <a:rPr lang="en-US" sz="4139" dirty="0">
                  <a:solidFill>
                    <a:srgbClr val="5FCBEF"/>
                  </a:solidFill>
                  <a:latin typeface="Trebuchet MS" panose="020B0603020202020204" pitchFamily="34" charset="0"/>
                  <a:ea typeface="Trebuchet MS"/>
                  <a:cs typeface="Trebuchet MS"/>
                  <a:sym typeface="Trebuchet MS"/>
                </a:rPr>
                <a:t>HARDWARE &amp; SOFTWARE REQUIREMENTS</a:t>
              </a:r>
            </a:p>
          </p:txBody>
        </p:sp>
      </p:grpSp>
      <p:grpSp>
        <p:nvGrpSpPr>
          <p:cNvPr id="21" name="Group 21"/>
          <p:cNvGrpSpPr/>
          <p:nvPr/>
        </p:nvGrpSpPr>
        <p:grpSpPr>
          <a:xfrm>
            <a:off x="478649" y="1110827"/>
            <a:ext cx="7737522" cy="6391432"/>
            <a:chOff x="0" y="0"/>
            <a:chExt cx="10395454" cy="8586968"/>
          </a:xfrm>
        </p:grpSpPr>
        <p:sp>
          <p:nvSpPr>
            <p:cNvPr id="22" name="Freeform 22"/>
            <p:cNvSpPr/>
            <p:nvPr/>
          </p:nvSpPr>
          <p:spPr>
            <a:xfrm>
              <a:off x="0" y="0"/>
              <a:ext cx="10395454" cy="7994300"/>
            </a:xfrm>
            <a:custGeom>
              <a:avLst/>
              <a:gdLst/>
              <a:ahLst/>
              <a:cxnLst/>
              <a:rect l="l" t="t" r="r" b="b"/>
              <a:pathLst>
                <a:path w="10395454" h="7994300">
                  <a:moveTo>
                    <a:pt x="0" y="0"/>
                  </a:moveTo>
                  <a:lnTo>
                    <a:pt x="10395454" y="0"/>
                  </a:lnTo>
                  <a:lnTo>
                    <a:pt x="10395454" y="7994300"/>
                  </a:lnTo>
                  <a:lnTo>
                    <a:pt x="0" y="7994300"/>
                  </a:lnTo>
                  <a:close/>
                </a:path>
              </a:pathLst>
            </a:custGeom>
            <a:solidFill>
              <a:srgbClr val="000000">
                <a:alpha val="0"/>
              </a:srgbClr>
            </a:solidFill>
          </p:spPr>
        </p:sp>
        <p:sp>
          <p:nvSpPr>
            <p:cNvPr id="23" name="TextBox 23"/>
            <p:cNvSpPr txBox="1"/>
            <p:nvPr/>
          </p:nvSpPr>
          <p:spPr>
            <a:xfrm>
              <a:off x="0" y="583142"/>
              <a:ext cx="10395453" cy="8003826"/>
            </a:xfrm>
            <a:prstGeom prst="rect">
              <a:avLst/>
            </a:prstGeom>
          </p:spPr>
          <p:txBody>
            <a:bodyPr lIns="0" tIns="0" rIns="0" bIns="0" rtlCol="0" anchor="ctr"/>
            <a:lstStyle/>
            <a:p>
              <a:pPr algn="just">
                <a:lnSpc>
                  <a:spcPts val="2304"/>
                </a:lnSpc>
              </a:pPr>
              <a:endParaRPr dirty="0">
                <a:latin typeface="Trebuchet MS" panose="020B0603020202020204" pitchFamily="34" charset="0"/>
              </a:endParaRPr>
            </a:p>
            <a:p>
              <a:pPr algn="just">
                <a:lnSpc>
                  <a:spcPts val="3263"/>
                </a:lnSpc>
              </a:pPr>
              <a:r>
                <a:rPr lang="en-US" sz="2719" dirty="0">
                  <a:solidFill>
                    <a:srgbClr val="5FCBEF"/>
                  </a:solidFill>
                  <a:latin typeface="Trebuchet MS" panose="020B0603020202020204" pitchFamily="34" charset="0"/>
                  <a:ea typeface="Trebuchet MS"/>
                  <a:cs typeface="Trebuchet MS"/>
                  <a:sym typeface="Trebuchet MS"/>
                </a:rPr>
                <a:t>Hardware: </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Wearable iontophoresis patch</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Microcontroller (Arduino/Raspberry Pi)</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Sensors for stress detection (e.g., ECG, GSR sensors)</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Battery-powered drug reservoir</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algn="just">
                <a:lnSpc>
                  <a:spcPts val="3263"/>
                </a:lnSpc>
              </a:pPr>
              <a:r>
                <a:rPr lang="en-US" sz="2719" dirty="0">
                  <a:solidFill>
                    <a:srgbClr val="5FCBEF"/>
                  </a:solidFill>
                  <a:latin typeface="Trebuchet MS" panose="020B0603020202020204" pitchFamily="34" charset="0"/>
                  <a:ea typeface="Trebuchet MS"/>
                  <a:cs typeface="Trebuchet MS"/>
                  <a:sym typeface="Trebuchet MS"/>
                </a:rPr>
                <a:t>Software: </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Frontend: HTML, CSS, JavaScript (React.js)</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Backend: Node.js</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Database: MongoDB</a:t>
              </a:r>
            </a:p>
            <a:p>
              <a:pPr marL="500886" lvl="1" indent="-250443" algn="just">
                <a:lnSpc>
                  <a:spcPts val="2783"/>
                </a:lnSpc>
                <a:buFont typeface="Arial"/>
                <a:buChar char="•"/>
              </a:pPr>
              <a:r>
                <a:rPr lang="en-US" sz="2319" dirty="0">
                  <a:solidFill>
                    <a:srgbClr val="5FCBEF"/>
                  </a:solidFill>
                  <a:latin typeface="Trebuchet MS" panose="020B0603020202020204" pitchFamily="34" charset="0"/>
                  <a:ea typeface="Trebuchet MS"/>
                  <a:cs typeface="Trebuchet MS"/>
                  <a:sym typeface="Trebuchet MS"/>
                </a:rPr>
                <a:t>Machine Learning: Python, TensorFlow, Scikit-learn.</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algn="just">
                <a:lnSpc>
                  <a:spcPts val="1824"/>
                </a:lnSpc>
              </a:pPr>
              <a:endParaRPr lang="en-US" sz="2319"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74267-4E65-3617-A40C-D299DAA5AF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94084D-1803-79ED-B097-EBFED500F97C}"/>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A2A1EF72-6ECA-CA1B-69A6-FF3D1BC1FD74}"/>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7349FBA0-9331-52C6-A977-01CAA860B1CB}"/>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7D789D2D-993A-9D46-E8C4-5711D3586850}"/>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860A5B3D-9A3E-E466-3E63-CC90E2BA055E}"/>
              </a:ext>
            </a:extLst>
          </p:cNvPr>
          <p:cNvGrpSpPr/>
          <p:nvPr/>
        </p:nvGrpSpPr>
        <p:grpSpPr>
          <a:xfrm>
            <a:off x="7989745" y="9034"/>
            <a:ext cx="2420738" cy="7324230"/>
            <a:chOff x="0" y="0"/>
            <a:chExt cx="3227651" cy="9765641"/>
          </a:xfrm>
        </p:grpSpPr>
        <p:sp>
          <p:nvSpPr>
            <p:cNvPr id="7" name="Freeform 7">
              <a:extLst>
                <a:ext uri="{FF2B5EF4-FFF2-40B4-BE49-F238E27FC236}">
                  <a16:creationId xmlns:a16="http://schemas.microsoft.com/office/drawing/2014/main" id="{4BBB3440-5BA5-F240-637D-27633995C767}"/>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4828BA0C-0DC2-B441-80CC-429E00B6ED63}"/>
              </a:ext>
            </a:extLst>
          </p:cNvPr>
          <p:cNvGrpSpPr/>
          <p:nvPr/>
        </p:nvGrpSpPr>
        <p:grpSpPr>
          <a:xfrm>
            <a:off x="8323891" y="1"/>
            <a:ext cx="2078023" cy="7324231"/>
            <a:chOff x="0" y="0"/>
            <a:chExt cx="2770698" cy="9765642"/>
          </a:xfrm>
        </p:grpSpPr>
        <p:sp>
          <p:nvSpPr>
            <p:cNvPr id="9" name="Freeform 9">
              <a:extLst>
                <a:ext uri="{FF2B5EF4-FFF2-40B4-BE49-F238E27FC236}">
                  <a16:creationId xmlns:a16="http://schemas.microsoft.com/office/drawing/2014/main" id="{DE3F6158-9A89-7631-ED03-62CB06C87B20}"/>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D729BC6C-3C8F-F2C7-D362-F5F5A0B2D8ED}"/>
              </a:ext>
            </a:extLst>
          </p:cNvPr>
          <p:cNvGrpSpPr/>
          <p:nvPr/>
        </p:nvGrpSpPr>
        <p:grpSpPr>
          <a:xfrm>
            <a:off x="7718812" y="4190436"/>
            <a:ext cx="2681136" cy="3133795"/>
            <a:chOff x="0" y="0"/>
            <a:chExt cx="3574848" cy="4178394"/>
          </a:xfrm>
        </p:grpSpPr>
        <p:sp>
          <p:nvSpPr>
            <p:cNvPr id="11" name="Freeform 11">
              <a:extLst>
                <a:ext uri="{FF2B5EF4-FFF2-40B4-BE49-F238E27FC236}">
                  <a16:creationId xmlns:a16="http://schemas.microsoft.com/office/drawing/2014/main" id="{A64DC11C-3A57-25DB-B727-656DA8825755}"/>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D6070277-13E1-3F81-AAC0-70FC4213CC85}"/>
              </a:ext>
            </a:extLst>
          </p:cNvPr>
          <p:cNvGrpSpPr/>
          <p:nvPr/>
        </p:nvGrpSpPr>
        <p:grpSpPr>
          <a:xfrm>
            <a:off x="8116180" y="1"/>
            <a:ext cx="2285734" cy="7324231"/>
            <a:chOff x="0" y="0"/>
            <a:chExt cx="3047646" cy="9765642"/>
          </a:xfrm>
        </p:grpSpPr>
        <p:sp>
          <p:nvSpPr>
            <p:cNvPr id="13" name="Freeform 13">
              <a:extLst>
                <a:ext uri="{FF2B5EF4-FFF2-40B4-BE49-F238E27FC236}">
                  <a16:creationId xmlns:a16="http://schemas.microsoft.com/office/drawing/2014/main" id="{FC9763AC-4AD3-70FC-88FB-AC80731C44C1}"/>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C340F4E8-FD0F-3708-0C3A-073103F6B1CF}"/>
              </a:ext>
            </a:extLst>
          </p:cNvPr>
          <p:cNvGrpSpPr/>
          <p:nvPr/>
        </p:nvGrpSpPr>
        <p:grpSpPr>
          <a:xfrm>
            <a:off x="9487217" y="1"/>
            <a:ext cx="914699" cy="7324231"/>
            <a:chOff x="0" y="0"/>
            <a:chExt cx="1219598" cy="9765642"/>
          </a:xfrm>
        </p:grpSpPr>
        <p:sp>
          <p:nvSpPr>
            <p:cNvPr id="15" name="Freeform 15">
              <a:extLst>
                <a:ext uri="{FF2B5EF4-FFF2-40B4-BE49-F238E27FC236}">
                  <a16:creationId xmlns:a16="http://schemas.microsoft.com/office/drawing/2014/main" id="{9E5DD5F7-716A-9CE5-F966-9A22A4AC4AD4}"/>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D5A21115-B9AF-AB7C-BB09-B2A6B8813110}"/>
              </a:ext>
            </a:extLst>
          </p:cNvPr>
          <p:cNvGrpSpPr/>
          <p:nvPr/>
        </p:nvGrpSpPr>
        <p:grpSpPr>
          <a:xfrm>
            <a:off x="9272165" y="0"/>
            <a:ext cx="1137888" cy="7324231"/>
            <a:chOff x="0" y="0"/>
            <a:chExt cx="1517184" cy="9765642"/>
          </a:xfrm>
        </p:grpSpPr>
        <p:sp>
          <p:nvSpPr>
            <p:cNvPr id="17" name="Freeform 17">
              <a:extLst>
                <a:ext uri="{FF2B5EF4-FFF2-40B4-BE49-F238E27FC236}">
                  <a16:creationId xmlns:a16="http://schemas.microsoft.com/office/drawing/2014/main" id="{7B0AD220-06F8-8BEC-DADF-2F52E8F4B8CA}"/>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050BE749-6590-67EB-210D-74C567D75254}"/>
              </a:ext>
            </a:extLst>
          </p:cNvPr>
          <p:cNvGrpSpPr/>
          <p:nvPr/>
        </p:nvGrpSpPr>
        <p:grpSpPr>
          <a:xfrm>
            <a:off x="9245071" y="5229014"/>
            <a:ext cx="1167025" cy="2095218"/>
            <a:chOff x="0" y="0"/>
            <a:chExt cx="1556033" cy="2793624"/>
          </a:xfrm>
        </p:grpSpPr>
        <p:sp>
          <p:nvSpPr>
            <p:cNvPr id="19" name="Freeform 19">
              <a:extLst>
                <a:ext uri="{FF2B5EF4-FFF2-40B4-BE49-F238E27FC236}">
                  <a16:creationId xmlns:a16="http://schemas.microsoft.com/office/drawing/2014/main" id="{1714ABA9-D61B-FA81-07F5-30A5C11EA86C}"/>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20" name="AutoShape 20">
            <a:extLst>
              <a:ext uri="{FF2B5EF4-FFF2-40B4-BE49-F238E27FC236}">
                <a16:creationId xmlns:a16="http://schemas.microsoft.com/office/drawing/2014/main" id="{1CE9B1A1-2B4E-081E-19D1-EFAD919165B2}"/>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21" name="AutoShape 21">
            <a:extLst>
              <a:ext uri="{FF2B5EF4-FFF2-40B4-BE49-F238E27FC236}">
                <a16:creationId xmlns:a16="http://schemas.microsoft.com/office/drawing/2014/main" id="{6E9192B0-1826-BD4D-FB4A-FF030D8DAA8D}"/>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22" name="Group 22">
            <a:extLst>
              <a:ext uri="{FF2B5EF4-FFF2-40B4-BE49-F238E27FC236}">
                <a16:creationId xmlns:a16="http://schemas.microsoft.com/office/drawing/2014/main" id="{CD6F5631-9129-DE86-B1D9-363E55496EF3}"/>
              </a:ext>
            </a:extLst>
          </p:cNvPr>
          <p:cNvGrpSpPr/>
          <p:nvPr/>
        </p:nvGrpSpPr>
        <p:grpSpPr>
          <a:xfrm>
            <a:off x="7989745" y="9034"/>
            <a:ext cx="2420738" cy="7324230"/>
            <a:chOff x="0" y="0"/>
            <a:chExt cx="3227651" cy="9765641"/>
          </a:xfrm>
        </p:grpSpPr>
        <p:sp>
          <p:nvSpPr>
            <p:cNvPr id="23" name="Freeform 23">
              <a:extLst>
                <a:ext uri="{FF2B5EF4-FFF2-40B4-BE49-F238E27FC236}">
                  <a16:creationId xmlns:a16="http://schemas.microsoft.com/office/drawing/2014/main" id="{9CAB56DC-A070-031A-A949-7B8531F23AC7}"/>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4" name="Group 24">
            <a:extLst>
              <a:ext uri="{FF2B5EF4-FFF2-40B4-BE49-F238E27FC236}">
                <a16:creationId xmlns:a16="http://schemas.microsoft.com/office/drawing/2014/main" id="{8C5404DA-CD01-CCDB-286A-A2CE8E8B09D2}"/>
              </a:ext>
            </a:extLst>
          </p:cNvPr>
          <p:cNvGrpSpPr/>
          <p:nvPr/>
        </p:nvGrpSpPr>
        <p:grpSpPr>
          <a:xfrm>
            <a:off x="8323891" y="1"/>
            <a:ext cx="2078023" cy="7324231"/>
            <a:chOff x="0" y="0"/>
            <a:chExt cx="2770698" cy="9765642"/>
          </a:xfrm>
        </p:grpSpPr>
        <p:sp>
          <p:nvSpPr>
            <p:cNvPr id="25" name="Freeform 25">
              <a:extLst>
                <a:ext uri="{FF2B5EF4-FFF2-40B4-BE49-F238E27FC236}">
                  <a16:creationId xmlns:a16="http://schemas.microsoft.com/office/drawing/2014/main" id="{BCD00AC3-A645-6E59-F5E3-136E3A892666}"/>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6" name="Group 26">
            <a:extLst>
              <a:ext uri="{FF2B5EF4-FFF2-40B4-BE49-F238E27FC236}">
                <a16:creationId xmlns:a16="http://schemas.microsoft.com/office/drawing/2014/main" id="{F4B7458A-8A13-AB26-103C-EFE317D858FE}"/>
              </a:ext>
            </a:extLst>
          </p:cNvPr>
          <p:cNvGrpSpPr/>
          <p:nvPr/>
        </p:nvGrpSpPr>
        <p:grpSpPr>
          <a:xfrm>
            <a:off x="7718812" y="4190436"/>
            <a:ext cx="2681136" cy="3133795"/>
            <a:chOff x="0" y="0"/>
            <a:chExt cx="3574848" cy="4178394"/>
          </a:xfrm>
        </p:grpSpPr>
        <p:sp>
          <p:nvSpPr>
            <p:cNvPr id="27" name="Freeform 27">
              <a:extLst>
                <a:ext uri="{FF2B5EF4-FFF2-40B4-BE49-F238E27FC236}">
                  <a16:creationId xmlns:a16="http://schemas.microsoft.com/office/drawing/2014/main" id="{5AD84A01-BA5F-6CF3-367D-9361B3E06AAE}"/>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8" name="Group 28">
            <a:extLst>
              <a:ext uri="{FF2B5EF4-FFF2-40B4-BE49-F238E27FC236}">
                <a16:creationId xmlns:a16="http://schemas.microsoft.com/office/drawing/2014/main" id="{9EBAA99F-8635-A440-7C3C-F036D4D11C60}"/>
              </a:ext>
            </a:extLst>
          </p:cNvPr>
          <p:cNvGrpSpPr/>
          <p:nvPr/>
        </p:nvGrpSpPr>
        <p:grpSpPr>
          <a:xfrm>
            <a:off x="8116180" y="1"/>
            <a:ext cx="2285734" cy="7324231"/>
            <a:chOff x="0" y="0"/>
            <a:chExt cx="3047646" cy="9765642"/>
          </a:xfrm>
        </p:grpSpPr>
        <p:sp>
          <p:nvSpPr>
            <p:cNvPr id="29" name="Freeform 29">
              <a:extLst>
                <a:ext uri="{FF2B5EF4-FFF2-40B4-BE49-F238E27FC236}">
                  <a16:creationId xmlns:a16="http://schemas.microsoft.com/office/drawing/2014/main" id="{45E9CD6D-0351-C0FE-28B1-AF9B9F4C09E8}"/>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30" name="Group 30">
            <a:extLst>
              <a:ext uri="{FF2B5EF4-FFF2-40B4-BE49-F238E27FC236}">
                <a16:creationId xmlns:a16="http://schemas.microsoft.com/office/drawing/2014/main" id="{29457AD1-3D41-4456-F74E-59DB19891277}"/>
              </a:ext>
            </a:extLst>
          </p:cNvPr>
          <p:cNvGrpSpPr/>
          <p:nvPr/>
        </p:nvGrpSpPr>
        <p:grpSpPr>
          <a:xfrm>
            <a:off x="9487217" y="1"/>
            <a:ext cx="914699" cy="7324231"/>
            <a:chOff x="0" y="0"/>
            <a:chExt cx="1219598" cy="9765642"/>
          </a:xfrm>
        </p:grpSpPr>
        <p:sp>
          <p:nvSpPr>
            <p:cNvPr id="31" name="Freeform 31">
              <a:extLst>
                <a:ext uri="{FF2B5EF4-FFF2-40B4-BE49-F238E27FC236}">
                  <a16:creationId xmlns:a16="http://schemas.microsoft.com/office/drawing/2014/main" id="{DCF06CD4-7518-4068-B89F-80B251ACF9A1}"/>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32" name="Group 32">
            <a:extLst>
              <a:ext uri="{FF2B5EF4-FFF2-40B4-BE49-F238E27FC236}">
                <a16:creationId xmlns:a16="http://schemas.microsoft.com/office/drawing/2014/main" id="{0029A932-3E45-F7A5-6265-C6EE16761991}"/>
              </a:ext>
            </a:extLst>
          </p:cNvPr>
          <p:cNvGrpSpPr/>
          <p:nvPr/>
        </p:nvGrpSpPr>
        <p:grpSpPr>
          <a:xfrm>
            <a:off x="9272165" y="0"/>
            <a:ext cx="1137888" cy="7324231"/>
            <a:chOff x="0" y="0"/>
            <a:chExt cx="1517184" cy="9765642"/>
          </a:xfrm>
        </p:grpSpPr>
        <p:sp>
          <p:nvSpPr>
            <p:cNvPr id="33" name="Freeform 33">
              <a:extLst>
                <a:ext uri="{FF2B5EF4-FFF2-40B4-BE49-F238E27FC236}">
                  <a16:creationId xmlns:a16="http://schemas.microsoft.com/office/drawing/2014/main" id="{0D185A2E-D3CA-1326-70D6-1F9A0F333374}"/>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34" name="Group 34">
            <a:extLst>
              <a:ext uri="{FF2B5EF4-FFF2-40B4-BE49-F238E27FC236}">
                <a16:creationId xmlns:a16="http://schemas.microsoft.com/office/drawing/2014/main" id="{393F5471-0E1D-58D1-D076-18B789148C57}"/>
              </a:ext>
            </a:extLst>
          </p:cNvPr>
          <p:cNvGrpSpPr/>
          <p:nvPr/>
        </p:nvGrpSpPr>
        <p:grpSpPr>
          <a:xfrm>
            <a:off x="9245071" y="5229014"/>
            <a:ext cx="1167025" cy="2095218"/>
            <a:chOff x="0" y="0"/>
            <a:chExt cx="1556033" cy="2793624"/>
          </a:xfrm>
        </p:grpSpPr>
        <p:sp>
          <p:nvSpPr>
            <p:cNvPr id="35" name="Freeform 35">
              <a:extLst>
                <a:ext uri="{FF2B5EF4-FFF2-40B4-BE49-F238E27FC236}">
                  <a16:creationId xmlns:a16="http://schemas.microsoft.com/office/drawing/2014/main" id="{A40F61F6-6F9C-EAE3-239A-24715409E639}"/>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36" name="Group 36">
            <a:extLst>
              <a:ext uri="{FF2B5EF4-FFF2-40B4-BE49-F238E27FC236}">
                <a16:creationId xmlns:a16="http://schemas.microsoft.com/office/drawing/2014/main" id="{B5F16875-CB3F-D907-2AF6-2EC0556A55DD}"/>
              </a:ext>
            </a:extLst>
          </p:cNvPr>
          <p:cNvGrpSpPr/>
          <p:nvPr/>
        </p:nvGrpSpPr>
        <p:grpSpPr>
          <a:xfrm>
            <a:off x="-9030" y="-9033"/>
            <a:ext cx="921173" cy="6077938"/>
            <a:chOff x="0" y="0"/>
            <a:chExt cx="1228231" cy="8103918"/>
          </a:xfrm>
        </p:grpSpPr>
        <p:sp>
          <p:nvSpPr>
            <p:cNvPr id="37" name="Freeform 37">
              <a:extLst>
                <a:ext uri="{FF2B5EF4-FFF2-40B4-BE49-F238E27FC236}">
                  <a16:creationId xmlns:a16="http://schemas.microsoft.com/office/drawing/2014/main" id="{DF324525-E54E-9512-C0D2-137A113672AA}"/>
                </a:ext>
              </a:extLst>
            </p:cNvPr>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45" name="Group 18">
            <a:extLst>
              <a:ext uri="{FF2B5EF4-FFF2-40B4-BE49-F238E27FC236}">
                <a16:creationId xmlns:a16="http://schemas.microsoft.com/office/drawing/2014/main" id="{0C04D691-C296-77ED-A066-C1AC49C9E3BA}"/>
              </a:ext>
            </a:extLst>
          </p:cNvPr>
          <p:cNvGrpSpPr/>
          <p:nvPr/>
        </p:nvGrpSpPr>
        <p:grpSpPr>
          <a:xfrm>
            <a:off x="977594" y="1373277"/>
            <a:ext cx="7809452" cy="3389028"/>
            <a:chOff x="0" y="0"/>
            <a:chExt cx="10412603" cy="4518707"/>
          </a:xfrm>
        </p:grpSpPr>
        <p:sp>
          <p:nvSpPr>
            <p:cNvPr id="46" name="Freeform 19">
              <a:extLst>
                <a:ext uri="{FF2B5EF4-FFF2-40B4-BE49-F238E27FC236}">
                  <a16:creationId xmlns:a16="http://schemas.microsoft.com/office/drawing/2014/main" id="{7977C7DD-2AAC-52E5-D3A6-C5201C914084}"/>
                </a:ext>
              </a:extLst>
            </p:cNvPr>
            <p:cNvSpPr/>
            <p:nvPr/>
          </p:nvSpPr>
          <p:spPr>
            <a:xfrm>
              <a:off x="0" y="0"/>
              <a:ext cx="9536550" cy="1878471"/>
            </a:xfrm>
            <a:custGeom>
              <a:avLst/>
              <a:gdLst/>
              <a:ahLst/>
              <a:cxnLst/>
              <a:rect l="l" t="t" r="r" b="b"/>
              <a:pathLst>
                <a:path w="9536550" h="1878471">
                  <a:moveTo>
                    <a:pt x="0" y="0"/>
                  </a:moveTo>
                  <a:lnTo>
                    <a:pt x="9536550" y="0"/>
                  </a:lnTo>
                  <a:lnTo>
                    <a:pt x="9536550" y="1878471"/>
                  </a:lnTo>
                  <a:lnTo>
                    <a:pt x="0" y="1878471"/>
                  </a:lnTo>
                  <a:close/>
                </a:path>
              </a:pathLst>
            </a:custGeom>
            <a:solidFill>
              <a:srgbClr val="000000">
                <a:alpha val="0"/>
              </a:srgbClr>
            </a:solidFill>
          </p:spPr>
        </p:sp>
        <p:sp>
          <p:nvSpPr>
            <p:cNvPr id="47" name="TextBox 20">
              <a:extLst>
                <a:ext uri="{FF2B5EF4-FFF2-40B4-BE49-F238E27FC236}">
                  <a16:creationId xmlns:a16="http://schemas.microsoft.com/office/drawing/2014/main" id="{056FB1AF-E7AB-9712-2BCC-B7625D92478B}"/>
                </a:ext>
              </a:extLst>
            </p:cNvPr>
            <p:cNvSpPr txBox="1"/>
            <p:nvPr/>
          </p:nvSpPr>
          <p:spPr>
            <a:xfrm>
              <a:off x="876053" y="2630711"/>
              <a:ext cx="9536550" cy="1887996"/>
            </a:xfrm>
            <a:prstGeom prst="rect">
              <a:avLst/>
            </a:prstGeom>
          </p:spPr>
          <p:txBody>
            <a:bodyPr lIns="0" tIns="0" rIns="0" bIns="0" rtlCol="0" anchor="t"/>
            <a:lstStyle/>
            <a:p>
              <a:pPr algn="l">
                <a:lnSpc>
                  <a:spcPts val="4967"/>
                </a:lnSpc>
              </a:pPr>
              <a:r>
                <a:rPr lang="en-US" sz="4800" dirty="0">
                  <a:solidFill>
                    <a:srgbClr val="5FCBEF"/>
                  </a:solidFill>
                  <a:latin typeface="Trebuchet MS"/>
                  <a:ea typeface="Trebuchet MS"/>
                  <a:cs typeface="Trebuchet MS"/>
                  <a:sym typeface="Trebuchet MS"/>
                </a:rPr>
                <a:t>ARCHITECTURE DIAGRAM</a:t>
              </a:r>
            </a:p>
          </p:txBody>
        </p:sp>
      </p:grpSp>
    </p:spTree>
    <p:extLst>
      <p:ext uri="{BB962C8B-B14F-4D97-AF65-F5344CB8AC3E}">
        <p14:creationId xmlns:p14="http://schemas.microsoft.com/office/powerpoint/2010/main" val="4169350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4E159-3D9C-F1FE-0CE3-0637C80D1E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B9BE85D-D719-4C70-205E-ECD52E6F1D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52400"/>
            <a:ext cx="8991599" cy="7467600"/>
          </a:xfrm>
          <a:prstGeom prst="rect">
            <a:avLst/>
          </a:prstGeom>
        </p:spPr>
      </p:pic>
    </p:spTree>
    <p:extLst>
      <p:ext uri="{BB962C8B-B14F-4D97-AF65-F5344CB8AC3E}">
        <p14:creationId xmlns:p14="http://schemas.microsoft.com/office/powerpoint/2010/main" val="2512447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067FD-E37A-C0FB-FD21-4014E7D02E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6DAFAE-1A70-E1E3-1296-D41620C34D0B}"/>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070D6BBA-C65C-106A-2BB5-0B9016EFDFDD}"/>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5432CF63-D9CE-62EB-B467-ADBEFA756A63}"/>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B7B2852F-C0F2-A8C9-0A84-7636A15C0F7B}"/>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27D5FB1E-2126-8855-3692-EB79E139B299}"/>
              </a:ext>
            </a:extLst>
          </p:cNvPr>
          <p:cNvGrpSpPr/>
          <p:nvPr/>
        </p:nvGrpSpPr>
        <p:grpSpPr>
          <a:xfrm>
            <a:off x="7989745" y="9034"/>
            <a:ext cx="2420738" cy="7324230"/>
            <a:chOff x="0" y="0"/>
            <a:chExt cx="3227651" cy="9765641"/>
          </a:xfrm>
        </p:grpSpPr>
        <p:sp>
          <p:nvSpPr>
            <p:cNvPr id="7" name="Freeform 7">
              <a:extLst>
                <a:ext uri="{FF2B5EF4-FFF2-40B4-BE49-F238E27FC236}">
                  <a16:creationId xmlns:a16="http://schemas.microsoft.com/office/drawing/2014/main" id="{F16DB188-26D9-CF64-473A-AC2F5C101F5F}"/>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E17AE821-E283-81C7-212D-879FD5113267}"/>
              </a:ext>
            </a:extLst>
          </p:cNvPr>
          <p:cNvGrpSpPr/>
          <p:nvPr/>
        </p:nvGrpSpPr>
        <p:grpSpPr>
          <a:xfrm>
            <a:off x="8323891" y="1"/>
            <a:ext cx="2078023" cy="7324231"/>
            <a:chOff x="0" y="0"/>
            <a:chExt cx="2770698" cy="9765642"/>
          </a:xfrm>
        </p:grpSpPr>
        <p:sp>
          <p:nvSpPr>
            <p:cNvPr id="9" name="Freeform 9">
              <a:extLst>
                <a:ext uri="{FF2B5EF4-FFF2-40B4-BE49-F238E27FC236}">
                  <a16:creationId xmlns:a16="http://schemas.microsoft.com/office/drawing/2014/main" id="{C1C7286E-6A60-1398-92F1-4C6000126C7B}"/>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39573B14-45CB-59CB-9D8D-A736A7300AE3}"/>
              </a:ext>
            </a:extLst>
          </p:cNvPr>
          <p:cNvGrpSpPr/>
          <p:nvPr/>
        </p:nvGrpSpPr>
        <p:grpSpPr>
          <a:xfrm>
            <a:off x="7718812" y="4190436"/>
            <a:ext cx="2681136" cy="3133795"/>
            <a:chOff x="0" y="0"/>
            <a:chExt cx="3574848" cy="4178394"/>
          </a:xfrm>
        </p:grpSpPr>
        <p:sp>
          <p:nvSpPr>
            <p:cNvPr id="11" name="Freeform 11">
              <a:extLst>
                <a:ext uri="{FF2B5EF4-FFF2-40B4-BE49-F238E27FC236}">
                  <a16:creationId xmlns:a16="http://schemas.microsoft.com/office/drawing/2014/main" id="{E5B66CB8-1139-DE4D-2DA9-ED964DE1FE45}"/>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3135E121-31F8-E290-6665-C98DEECBDA00}"/>
              </a:ext>
            </a:extLst>
          </p:cNvPr>
          <p:cNvGrpSpPr/>
          <p:nvPr/>
        </p:nvGrpSpPr>
        <p:grpSpPr>
          <a:xfrm>
            <a:off x="8116180" y="1"/>
            <a:ext cx="2285734" cy="7324231"/>
            <a:chOff x="0" y="0"/>
            <a:chExt cx="3047646" cy="9765642"/>
          </a:xfrm>
        </p:grpSpPr>
        <p:sp>
          <p:nvSpPr>
            <p:cNvPr id="13" name="Freeform 13">
              <a:extLst>
                <a:ext uri="{FF2B5EF4-FFF2-40B4-BE49-F238E27FC236}">
                  <a16:creationId xmlns:a16="http://schemas.microsoft.com/office/drawing/2014/main" id="{AC4C78D1-09E7-E4F9-9059-988746A455E9}"/>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9F12F312-590C-B905-7DA0-729F120EEAF1}"/>
              </a:ext>
            </a:extLst>
          </p:cNvPr>
          <p:cNvGrpSpPr/>
          <p:nvPr/>
        </p:nvGrpSpPr>
        <p:grpSpPr>
          <a:xfrm>
            <a:off x="9487217" y="1"/>
            <a:ext cx="914699" cy="7324231"/>
            <a:chOff x="0" y="0"/>
            <a:chExt cx="1219598" cy="9765642"/>
          </a:xfrm>
        </p:grpSpPr>
        <p:sp>
          <p:nvSpPr>
            <p:cNvPr id="15" name="Freeform 15">
              <a:extLst>
                <a:ext uri="{FF2B5EF4-FFF2-40B4-BE49-F238E27FC236}">
                  <a16:creationId xmlns:a16="http://schemas.microsoft.com/office/drawing/2014/main" id="{1068900F-8D2E-B197-FB3D-C59F90F1172D}"/>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5885E7B7-89FF-91F0-FB26-320F121782BC}"/>
              </a:ext>
            </a:extLst>
          </p:cNvPr>
          <p:cNvGrpSpPr/>
          <p:nvPr/>
        </p:nvGrpSpPr>
        <p:grpSpPr>
          <a:xfrm>
            <a:off x="9272165" y="0"/>
            <a:ext cx="1137888" cy="7324231"/>
            <a:chOff x="0" y="0"/>
            <a:chExt cx="1517184" cy="9765642"/>
          </a:xfrm>
        </p:grpSpPr>
        <p:sp>
          <p:nvSpPr>
            <p:cNvPr id="17" name="Freeform 17">
              <a:extLst>
                <a:ext uri="{FF2B5EF4-FFF2-40B4-BE49-F238E27FC236}">
                  <a16:creationId xmlns:a16="http://schemas.microsoft.com/office/drawing/2014/main" id="{03B10B05-C452-50BD-92AC-FE04BB8E9D23}"/>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C5696BFB-B775-2698-A4C7-748EEE00AE1F}"/>
              </a:ext>
            </a:extLst>
          </p:cNvPr>
          <p:cNvGrpSpPr/>
          <p:nvPr/>
        </p:nvGrpSpPr>
        <p:grpSpPr>
          <a:xfrm>
            <a:off x="9245071" y="5229014"/>
            <a:ext cx="1167025" cy="2095218"/>
            <a:chOff x="0" y="0"/>
            <a:chExt cx="1556033" cy="2793624"/>
          </a:xfrm>
        </p:grpSpPr>
        <p:sp>
          <p:nvSpPr>
            <p:cNvPr id="19" name="Freeform 19">
              <a:extLst>
                <a:ext uri="{FF2B5EF4-FFF2-40B4-BE49-F238E27FC236}">
                  <a16:creationId xmlns:a16="http://schemas.microsoft.com/office/drawing/2014/main" id="{EE096FAC-6EDF-6C11-D0E6-88530FE2A182}"/>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20" name="AutoShape 20">
            <a:extLst>
              <a:ext uri="{FF2B5EF4-FFF2-40B4-BE49-F238E27FC236}">
                <a16:creationId xmlns:a16="http://schemas.microsoft.com/office/drawing/2014/main" id="{A1C2E566-174D-2322-1839-44D9518265AD}"/>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21" name="AutoShape 21">
            <a:extLst>
              <a:ext uri="{FF2B5EF4-FFF2-40B4-BE49-F238E27FC236}">
                <a16:creationId xmlns:a16="http://schemas.microsoft.com/office/drawing/2014/main" id="{F52655FA-5E73-96FE-21E2-DDEFBD28B44C}"/>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22" name="Group 22">
            <a:extLst>
              <a:ext uri="{FF2B5EF4-FFF2-40B4-BE49-F238E27FC236}">
                <a16:creationId xmlns:a16="http://schemas.microsoft.com/office/drawing/2014/main" id="{6DA341D2-6863-F3C4-EC33-063CF9C2125B}"/>
              </a:ext>
            </a:extLst>
          </p:cNvPr>
          <p:cNvGrpSpPr/>
          <p:nvPr/>
        </p:nvGrpSpPr>
        <p:grpSpPr>
          <a:xfrm>
            <a:off x="7989745" y="9034"/>
            <a:ext cx="2420738" cy="7324230"/>
            <a:chOff x="0" y="0"/>
            <a:chExt cx="3227651" cy="9765641"/>
          </a:xfrm>
        </p:grpSpPr>
        <p:sp>
          <p:nvSpPr>
            <p:cNvPr id="23" name="Freeform 23">
              <a:extLst>
                <a:ext uri="{FF2B5EF4-FFF2-40B4-BE49-F238E27FC236}">
                  <a16:creationId xmlns:a16="http://schemas.microsoft.com/office/drawing/2014/main" id="{68DBA955-E637-FDBD-84C8-9F40E49F3A9E}"/>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4" name="Group 24">
            <a:extLst>
              <a:ext uri="{FF2B5EF4-FFF2-40B4-BE49-F238E27FC236}">
                <a16:creationId xmlns:a16="http://schemas.microsoft.com/office/drawing/2014/main" id="{BFD5A0AC-F1D4-D4D5-A89B-B16843ECF717}"/>
              </a:ext>
            </a:extLst>
          </p:cNvPr>
          <p:cNvGrpSpPr/>
          <p:nvPr/>
        </p:nvGrpSpPr>
        <p:grpSpPr>
          <a:xfrm>
            <a:off x="8323891" y="1"/>
            <a:ext cx="2078023" cy="7324231"/>
            <a:chOff x="0" y="0"/>
            <a:chExt cx="2770698" cy="9765642"/>
          </a:xfrm>
        </p:grpSpPr>
        <p:sp>
          <p:nvSpPr>
            <p:cNvPr id="25" name="Freeform 25">
              <a:extLst>
                <a:ext uri="{FF2B5EF4-FFF2-40B4-BE49-F238E27FC236}">
                  <a16:creationId xmlns:a16="http://schemas.microsoft.com/office/drawing/2014/main" id="{2A52D292-C5B1-9254-A40D-BE388F76B9A8}"/>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6" name="Group 26">
            <a:extLst>
              <a:ext uri="{FF2B5EF4-FFF2-40B4-BE49-F238E27FC236}">
                <a16:creationId xmlns:a16="http://schemas.microsoft.com/office/drawing/2014/main" id="{49B7623E-2C83-817C-7F76-2119217C0036}"/>
              </a:ext>
            </a:extLst>
          </p:cNvPr>
          <p:cNvGrpSpPr/>
          <p:nvPr/>
        </p:nvGrpSpPr>
        <p:grpSpPr>
          <a:xfrm>
            <a:off x="7718812" y="4190436"/>
            <a:ext cx="2681136" cy="3133795"/>
            <a:chOff x="0" y="0"/>
            <a:chExt cx="3574848" cy="4178394"/>
          </a:xfrm>
        </p:grpSpPr>
        <p:sp>
          <p:nvSpPr>
            <p:cNvPr id="27" name="Freeform 27">
              <a:extLst>
                <a:ext uri="{FF2B5EF4-FFF2-40B4-BE49-F238E27FC236}">
                  <a16:creationId xmlns:a16="http://schemas.microsoft.com/office/drawing/2014/main" id="{214332AC-AF97-B9C8-594F-87B9B5043934}"/>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8" name="Group 28">
            <a:extLst>
              <a:ext uri="{FF2B5EF4-FFF2-40B4-BE49-F238E27FC236}">
                <a16:creationId xmlns:a16="http://schemas.microsoft.com/office/drawing/2014/main" id="{BA718BED-3F41-D3C2-BB3C-9FAF715FA90F}"/>
              </a:ext>
            </a:extLst>
          </p:cNvPr>
          <p:cNvGrpSpPr/>
          <p:nvPr/>
        </p:nvGrpSpPr>
        <p:grpSpPr>
          <a:xfrm>
            <a:off x="8116180" y="1"/>
            <a:ext cx="2285734" cy="7324231"/>
            <a:chOff x="0" y="0"/>
            <a:chExt cx="3047646" cy="9765642"/>
          </a:xfrm>
        </p:grpSpPr>
        <p:sp>
          <p:nvSpPr>
            <p:cNvPr id="29" name="Freeform 29">
              <a:extLst>
                <a:ext uri="{FF2B5EF4-FFF2-40B4-BE49-F238E27FC236}">
                  <a16:creationId xmlns:a16="http://schemas.microsoft.com/office/drawing/2014/main" id="{BF35DE5D-7461-38AB-190E-CC871B37DC2C}"/>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30" name="Group 30">
            <a:extLst>
              <a:ext uri="{FF2B5EF4-FFF2-40B4-BE49-F238E27FC236}">
                <a16:creationId xmlns:a16="http://schemas.microsoft.com/office/drawing/2014/main" id="{206E48CC-F9AE-9009-3C19-E5D2076CDDA1}"/>
              </a:ext>
            </a:extLst>
          </p:cNvPr>
          <p:cNvGrpSpPr/>
          <p:nvPr/>
        </p:nvGrpSpPr>
        <p:grpSpPr>
          <a:xfrm>
            <a:off x="9487217" y="1"/>
            <a:ext cx="914699" cy="7324231"/>
            <a:chOff x="0" y="0"/>
            <a:chExt cx="1219598" cy="9765642"/>
          </a:xfrm>
        </p:grpSpPr>
        <p:sp>
          <p:nvSpPr>
            <p:cNvPr id="31" name="Freeform 31">
              <a:extLst>
                <a:ext uri="{FF2B5EF4-FFF2-40B4-BE49-F238E27FC236}">
                  <a16:creationId xmlns:a16="http://schemas.microsoft.com/office/drawing/2014/main" id="{1F778793-33F0-7FAA-BE9E-B8142774AD7D}"/>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32" name="Group 32">
            <a:extLst>
              <a:ext uri="{FF2B5EF4-FFF2-40B4-BE49-F238E27FC236}">
                <a16:creationId xmlns:a16="http://schemas.microsoft.com/office/drawing/2014/main" id="{061FC835-DE97-C230-11B9-843928B13187}"/>
              </a:ext>
            </a:extLst>
          </p:cNvPr>
          <p:cNvGrpSpPr/>
          <p:nvPr/>
        </p:nvGrpSpPr>
        <p:grpSpPr>
          <a:xfrm>
            <a:off x="9272165" y="0"/>
            <a:ext cx="1137888" cy="7324231"/>
            <a:chOff x="0" y="0"/>
            <a:chExt cx="1517184" cy="9765642"/>
          </a:xfrm>
        </p:grpSpPr>
        <p:sp>
          <p:nvSpPr>
            <p:cNvPr id="33" name="Freeform 33">
              <a:extLst>
                <a:ext uri="{FF2B5EF4-FFF2-40B4-BE49-F238E27FC236}">
                  <a16:creationId xmlns:a16="http://schemas.microsoft.com/office/drawing/2014/main" id="{3AA101AC-03B4-6BA7-BB5F-9C46011A3F12}"/>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34" name="Group 34">
            <a:extLst>
              <a:ext uri="{FF2B5EF4-FFF2-40B4-BE49-F238E27FC236}">
                <a16:creationId xmlns:a16="http://schemas.microsoft.com/office/drawing/2014/main" id="{3EBE2BEF-29F9-78CF-53B8-CA0B8F5FEC94}"/>
              </a:ext>
            </a:extLst>
          </p:cNvPr>
          <p:cNvGrpSpPr/>
          <p:nvPr/>
        </p:nvGrpSpPr>
        <p:grpSpPr>
          <a:xfrm>
            <a:off x="9245071" y="5229014"/>
            <a:ext cx="1167025" cy="2095218"/>
            <a:chOff x="0" y="0"/>
            <a:chExt cx="1556033" cy="2793624"/>
          </a:xfrm>
        </p:grpSpPr>
        <p:sp>
          <p:nvSpPr>
            <p:cNvPr id="35" name="Freeform 35">
              <a:extLst>
                <a:ext uri="{FF2B5EF4-FFF2-40B4-BE49-F238E27FC236}">
                  <a16:creationId xmlns:a16="http://schemas.microsoft.com/office/drawing/2014/main" id="{82614BFF-9725-DF11-1C75-2D3C3BD7C9DF}"/>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36" name="Group 36">
            <a:extLst>
              <a:ext uri="{FF2B5EF4-FFF2-40B4-BE49-F238E27FC236}">
                <a16:creationId xmlns:a16="http://schemas.microsoft.com/office/drawing/2014/main" id="{EE3B4235-F16F-F60C-BCF3-C26F6D1CB33C}"/>
              </a:ext>
            </a:extLst>
          </p:cNvPr>
          <p:cNvGrpSpPr/>
          <p:nvPr/>
        </p:nvGrpSpPr>
        <p:grpSpPr>
          <a:xfrm>
            <a:off x="-9030" y="-9033"/>
            <a:ext cx="921173" cy="6077938"/>
            <a:chOff x="0" y="0"/>
            <a:chExt cx="1228231" cy="8103918"/>
          </a:xfrm>
        </p:grpSpPr>
        <p:sp>
          <p:nvSpPr>
            <p:cNvPr id="37" name="Freeform 37">
              <a:extLst>
                <a:ext uri="{FF2B5EF4-FFF2-40B4-BE49-F238E27FC236}">
                  <a16:creationId xmlns:a16="http://schemas.microsoft.com/office/drawing/2014/main" id="{A0815BF1-A3D7-E958-BC25-6E633DE6A2FA}"/>
                </a:ext>
              </a:extLst>
            </p:cNvPr>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45" name="Group 18">
            <a:extLst>
              <a:ext uri="{FF2B5EF4-FFF2-40B4-BE49-F238E27FC236}">
                <a16:creationId xmlns:a16="http://schemas.microsoft.com/office/drawing/2014/main" id="{10D13938-B7AB-4FA1-D87C-A13BCE2573B8}"/>
              </a:ext>
            </a:extLst>
          </p:cNvPr>
          <p:cNvGrpSpPr/>
          <p:nvPr/>
        </p:nvGrpSpPr>
        <p:grpSpPr>
          <a:xfrm>
            <a:off x="977594" y="1373277"/>
            <a:ext cx="9070418" cy="3319319"/>
            <a:chOff x="0" y="0"/>
            <a:chExt cx="12093891" cy="4425761"/>
          </a:xfrm>
        </p:grpSpPr>
        <p:sp>
          <p:nvSpPr>
            <p:cNvPr id="46" name="Freeform 19">
              <a:extLst>
                <a:ext uri="{FF2B5EF4-FFF2-40B4-BE49-F238E27FC236}">
                  <a16:creationId xmlns:a16="http://schemas.microsoft.com/office/drawing/2014/main" id="{E0F83D43-CC8F-63F3-496C-F0859C33C83C}"/>
                </a:ext>
              </a:extLst>
            </p:cNvPr>
            <p:cNvSpPr/>
            <p:nvPr/>
          </p:nvSpPr>
          <p:spPr>
            <a:xfrm>
              <a:off x="0" y="0"/>
              <a:ext cx="9536550" cy="1878471"/>
            </a:xfrm>
            <a:custGeom>
              <a:avLst/>
              <a:gdLst/>
              <a:ahLst/>
              <a:cxnLst/>
              <a:rect l="l" t="t" r="r" b="b"/>
              <a:pathLst>
                <a:path w="9536550" h="1878471">
                  <a:moveTo>
                    <a:pt x="0" y="0"/>
                  </a:moveTo>
                  <a:lnTo>
                    <a:pt x="9536550" y="0"/>
                  </a:lnTo>
                  <a:lnTo>
                    <a:pt x="9536550" y="1878471"/>
                  </a:lnTo>
                  <a:lnTo>
                    <a:pt x="0" y="1878471"/>
                  </a:lnTo>
                  <a:close/>
                </a:path>
              </a:pathLst>
            </a:custGeom>
            <a:solidFill>
              <a:srgbClr val="000000">
                <a:alpha val="0"/>
              </a:srgbClr>
            </a:solidFill>
          </p:spPr>
        </p:sp>
        <p:sp>
          <p:nvSpPr>
            <p:cNvPr id="47" name="TextBox 20">
              <a:extLst>
                <a:ext uri="{FF2B5EF4-FFF2-40B4-BE49-F238E27FC236}">
                  <a16:creationId xmlns:a16="http://schemas.microsoft.com/office/drawing/2014/main" id="{BD1F9F72-52B2-FBB7-105C-CA1857FEA346}"/>
                </a:ext>
              </a:extLst>
            </p:cNvPr>
            <p:cNvSpPr txBox="1"/>
            <p:nvPr/>
          </p:nvSpPr>
          <p:spPr>
            <a:xfrm>
              <a:off x="2557341" y="2537765"/>
              <a:ext cx="9536550" cy="1887996"/>
            </a:xfrm>
            <a:prstGeom prst="rect">
              <a:avLst/>
            </a:prstGeom>
          </p:spPr>
          <p:txBody>
            <a:bodyPr lIns="0" tIns="0" rIns="0" bIns="0" rtlCol="0" anchor="t"/>
            <a:lstStyle/>
            <a:p>
              <a:pPr algn="l">
                <a:lnSpc>
                  <a:spcPts val="4967"/>
                </a:lnSpc>
              </a:pPr>
              <a:r>
                <a:rPr lang="en-US" sz="4800" dirty="0">
                  <a:solidFill>
                    <a:srgbClr val="5FCBEF"/>
                  </a:solidFill>
                  <a:latin typeface="Trebuchet MS"/>
                  <a:ea typeface="Trebuchet MS"/>
                  <a:cs typeface="Trebuchet MS"/>
                  <a:sym typeface="Trebuchet MS"/>
                </a:rPr>
                <a:t>FLOW DIAGRAM</a:t>
              </a:r>
            </a:p>
          </p:txBody>
        </p:sp>
      </p:grpSp>
    </p:spTree>
    <p:extLst>
      <p:ext uri="{BB962C8B-B14F-4D97-AF65-F5344CB8AC3E}">
        <p14:creationId xmlns:p14="http://schemas.microsoft.com/office/powerpoint/2010/main" val="33461986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92941-BA7F-9085-006C-B101D154FFC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C3ABDC-C527-A603-A68B-DED5F812F23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5000" y="228600"/>
            <a:ext cx="5791200" cy="6629400"/>
          </a:xfrm>
          <a:prstGeom prst="rect">
            <a:avLst/>
          </a:prstGeom>
        </p:spPr>
      </p:pic>
    </p:spTree>
    <p:extLst>
      <p:ext uri="{BB962C8B-B14F-4D97-AF65-F5344CB8AC3E}">
        <p14:creationId xmlns:p14="http://schemas.microsoft.com/office/powerpoint/2010/main" val="1038263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1A736-D8DC-8D8F-D5BE-0A8CFE2AD7B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9C11F82-1C54-9DF2-822C-B62975FBE3CE}"/>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4F3F9B0D-6871-7908-AA69-EF41FCD98AE1}"/>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0869CB1A-11A0-3452-68E8-6C3522342BF0}"/>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33C678E4-C772-AB54-DA74-0ED77C6E639A}"/>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0D5EB88C-EFE0-EC7A-5EA5-B6B5FC160EC4}"/>
              </a:ext>
            </a:extLst>
          </p:cNvPr>
          <p:cNvGrpSpPr/>
          <p:nvPr/>
        </p:nvGrpSpPr>
        <p:grpSpPr>
          <a:xfrm>
            <a:off x="7989745" y="9034"/>
            <a:ext cx="2420738" cy="7324230"/>
            <a:chOff x="0" y="0"/>
            <a:chExt cx="3227651" cy="9765641"/>
          </a:xfrm>
        </p:grpSpPr>
        <p:sp>
          <p:nvSpPr>
            <p:cNvPr id="7" name="Freeform 7">
              <a:extLst>
                <a:ext uri="{FF2B5EF4-FFF2-40B4-BE49-F238E27FC236}">
                  <a16:creationId xmlns:a16="http://schemas.microsoft.com/office/drawing/2014/main" id="{6507BE94-4EA3-2709-ACD5-B90FFB7328D4}"/>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DD1807D8-5AB0-2BC3-C9F6-C46A300C86EA}"/>
              </a:ext>
            </a:extLst>
          </p:cNvPr>
          <p:cNvGrpSpPr/>
          <p:nvPr/>
        </p:nvGrpSpPr>
        <p:grpSpPr>
          <a:xfrm>
            <a:off x="8323891" y="1"/>
            <a:ext cx="2078023" cy="7324231"/>
            <a:chOff x="0" y="0"/>
            <a:chExt cx="2770698" cy="9765642"/>
          </a:xfrm>
        </p:grpSpPr>
        <p:sp>
          <p:nvSpPr>
            <p:cNvPr id="9" name="Freeform 9">
              <a:extLst>
                <a:ext uri="{FF2B5EF4-FFF2-40B4-BE49-F238E27FC236}">
                  <a16:creationId xmlns:a16="http://schemas.microsoft.com/office/drawing/2014/main" id="{D051E811-7D02-2051-398B-A8AC8AF6122D}"/>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7D789D44-E2F8-FEB0-BDA2-61D5CA8DD960}"/>
              </a:ext>
            </a:extLst>
          </p:cNvPr>
          <p:cNvGrpSpPr/>
          <p:nvPr/>
        </p:nvGrpSpPr>
        <p:grpSpPr>
          <a:xfrm>
            <a:off x="7718812" y="4190436"/>
            <a:ext cx="2681136" cy="3133795"/>
            <a:chOff x="0" y="0"/>
            <a:chExt cx="3574848" cy="4178394"/>
          </a:xfrm>
        </p:grpSpPr>
        <p:sp>
          <p:nvSpPr>
            <p:cNvPr id="11" name="Freeform 11">
              <a:extLst>
                <a:ext uri="{FF2B5EF4-FFF2-40B4-BE49-F238E27FC236}">
                  <a16:creationId xmlns:a16="http://schemas.microsoft.com/office/drawing/2014/main" id="{5FB6FB33-00C4-6AEA-91C8-5BC5CD396023}"/>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3EC021DD-26EE-07AB-E40D-3F25DAA27492}"/>
              </a:ext>
            </a:extLst>
          </p:cNvPr>
          <p:cNvGrpSpPr/>
          <p:nvPr/>
        </p:nvGrpSpPr>
        <p:grpSpPr>
          <a:xfrm>
            <a:off x="8116180" y="1"/>
            <a:ext cx="2285734" cy="7324231"/>
            <a:chOff x="0" y="0"/>
            <a:chExt cx="3047646" cy="9765642"/>
          </a:xfrm>
        </p:grpSpPr>
        <p:sp>
          <p:nvSpPr>
            <p:cNvPr id="13" name="Freeform 13">
              <a:extLst>
                <a:ext uri="{FF2B5EF4-FFF2-40B4-BE49-F238E27FC236}">
                  <a16:creationId xmlns:a16="http://schemas.microsoft.com/office/drawing/2014/main" id="{A8153C92-5F13-088C-0DE2-9A4245B493AB}"/>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DF340DB7-F529-AC8E-703F-1AA38C012716}"/>
              </a:ext>
            </a:extLst>
          </p:cNvPr>
          <p:cNvGrpSpPr/>
          <p:nvPr/>
        </p:nvGrpSpPr>
        <p:grpSpPr>
          <a:xfrm>
            <a:off x="9487217" y="1"/>
            <a:ext cx="914699" cy="7324231"/>
            <a:chOff x="0" y="0"/>
            <a:chExt cx="1219598" cy="9765642"/>
          </a:xfrm>
        </p:grpSpPr>
        <p:sp>
          <p:nvSpPr>
            <p:cNvPr id="15" name="Freeform 15">
              <a:extLst>
                <a:ext uri="{FF2B5EF4-FFF2-40B4-BE49-F238E27FC236}">
                  <a16:creationId xmlns:a16="http://schemas.microsoft.com/office/drawing/2014/main" id="{FA91B519-B91F-121D-1FDD-D11A8BD7B7E5}"/>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700E2E37-9666-8C55-6B53-13348A693423}"/>
              </a:ext>
            </a:extLst>
          </p:cNvPr>
          <p:cNvGrpSpPr/>
          <p:nvPr/>
        </p:nvGrpSpPr>
        <p:grpSpPr>
          <a:xfrm>
            <a:off x="9272165" y="0"/>
            <a:ext cx="1137888" cy="7324231"/>
            <a:chOff x="0" y="0"/>
            <a:chExt cx="1517184" cy="9765642"/>
          </a:xfrm>
        </p:grpSpPr>
        <p:sp>
          <p:nvSpPr>
            <p:cNvPr id="17" name="Freeform 17">
              <a:extLst>
                <a:ext uri="{FF2B5EF4-FFF2-40B4-BE49-F238E27FC236}">
                  <a16:creationId xmlns:a16="http://schemas.microsoft.com/office/drawing/2014/main" id="{4728B3DE-9E1C-F063-E440-6B2A34287C29}"/>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027DA596-5476-462E-D0D8-CA808428842D}"/>
              </a:ext>
            </a:extLst>
          </p:cNvPr>
          <p:cNvGrpSpPr/>
          <p:nvPr/>
        </p:nvGrpSpPr>
        <p:grpSpPr>
          <a:xfrm>
            <a:off x="9245071" y="5229014"/>
            <a:ext cx="1167025" cy="2095218"/>
            <a:chOff x="0" y="0"/>
            <a:chExt cx="1556033" cy="2793624"/>
          </a:xfrm>
        </p:grpSpPr>
        <p:sp>
          <p:nvSpPr>
            <p:cNvPr id="19" name="Freeform 19">
              <a:extLst>
                <a:ext uri="{FF2B5EF4-FFF2-40B4-BE49-F238E27FC236}">
                  <a16:creationId xmlns:a16="http://schemas.microsoft.com/office/drawing/2014/main" id="{B82EC950-78D2-4A76-4413-07EED5D08234}"/>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20" name="AutoShape 20">
            <a:extLst>
              <a:ext uri="{FF2B5EF4-FFF2-40B4-BE49-F238E27FC236}">
                <a16:creationId xmlns:a16="http://schemas.microsoft.com/office/drawing/2014/main" id="{CDFD1F46-A7DA-7AFB-FFFB-C29A6A3B2F54}"/>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21" name="AutoShape 21">
            <a:extLst>
              <a:ext uri="{FF2B5EF4-FFF2-40B4-BE49-F238E27FC236}">
                <a16:creationId xmlns:a16="http://schemas.microsoft.com/office/drawing/2014/main" id="{61353280-53D5-4E43-3242-CDB6435E7202}"/>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22" name="Group 22">
            <a:extLst>
              <a:ext uri="{FF2B5EF4-FFF2-40B4-BE49-F238E27FC236}">
                <a16:creationId xmlns:a16="http://schemas.microsoft.com/office/drawing/2014/main" id="{CC58D013-8D76-2030-7408-9B2CDECCD5AB}"/>
              </a:ext>
            </a:extLst>
          </p:cNvPr>
          <p:cNvGrpSpPr/>
          <p:nvPr/>
        </p:nvGrpSpPr>
        <p:grpSpPr>
          <a:xfrm>
            <a:off x="7989745" y="9034"/>
            <a:ext cx="2420738" cy="7324230"/>
            <a:chOff x="0" y="0"/>
            <a:chExt cx="3227651" cy="9765641"/>
          </a:xfrm>
        </p:grpSpPr>
        <p:sp>
          <p:nvSpPr>
            <p:cNvPr id="23" name="Freeform 23">
              <a:extLst>
                <a:ext uri="{FF2B5EF4-FFF2-40B4-BE49-F238E27FC236}">
                  <a16:creationId xmlns:a16="http://schemas.microsoft.com/office/drawing/2014/main" id="{D1D5F468-9B24-A67D-6EED-02EDE3E3A4A7}"/>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4" name="Group 24">
            <a:extLst>
              <a:ext uri="{FF2B5EF4-FFF2-40B4-BE49-F238E27FC236}">
                <a16:creationId xmlns:a16="http://schemas.microsoft.com/office/drawing/2014/main" id="{3F830718-4FD6-EA44-D601-92373F1DC60E}"/>
              </a:ext>
            </a:extLst>
          </p:cNvPr>
          <p:cNvGrpSpPr/>
          <p:nvPr/>
        </p:nvGrpSpPr>
        <p:grpSpPr>
          <a:xfrm>
            <a:off x="8323891" y="1"/>
            <a:ext cx="2078023" cy="7324231"/>
            <a:chOff x="0" y="0"/>
            <a:chExt cx="2770698" cy="9765642"/>
          </a:xfrm>
        </p:grpSpPr>
        <p:sp>
          <p:nvSpPr>
            <p:cNvPr id="25" name="Freeform 25">
              <a:extLst>
                <a:ext uri="{FF2B5EF4-FFF2-40B4-BE49-F238E27FC236}">
                  <a16:creationId xmlns:a16="http://schemas.microsoft.com/office/drawing/2014/main" id="{734926E7-C6FA-358F-D782-DA557F99F702}"/>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6" name="Group 26">
            <a:extLst>
              <a:ext uri="{FF2B5EF4-FFF2-40B4-BE49-F238E27FC236}">
                <a16:creationId xmlns:a16="http://schemas.microsoft.com/office/drawing/2014/main" id="{E6E0F84A-7D77-4FCA-C2C3-E9E7035F50FF}"/>
              </a:ext>
            </a:extLst>
          </p:cNvPr>
          <p:cNvGrpSpPr/>
          <p:nvPr/>
        </p:nvGrpSpPr>
        <p:grpSpPr>
          <a:xfrm>
            <a:off x="7718812" y="4190436"/>
            <a:ext cx="2681136" cy="3133795"/>
            <a:chOff x="0" y="0"/>
            <a:chExt cx="3574848" cy="4178394"/>
          </a:xfrm>
        </p:grpSpPr>
        <p:sp>
          <p:nvSpPr>
            <p:cNvPr id="27" name="Freeform 27">
              <a:extLst>
                <a:ext uri="{FF2B5EF4-FFF2-40B4-BE49-F238E27FC236}">
                  <a16:creationId xmlns:a16="http://schemas.microsoft.com/office/drawing/2014/main" id="{7C994AB5-CCFA-AF2D-B6F4-1595970C5C2C}"/>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8" name="Group 28">
            <a:extLst>
              <a:ext uri="{FF2B5EF4-FFF2-40B4-BE49-F238E27FC236}">
                <a16:creationId xmlns:a16="http://schemas.microsoft.com/office/drawing/2014/main" id="{FAACD1E0-B13F-6D47-3B8A-DA7DF5BF3A1A}"/>
              </a:ext>
            </a:extLst>
          </p:cNvPr>
          <p:cNvGrpSpPr/>
          <p:nvPr/>
        </p:nvGrpSpPr>
        <p:grpSpPr>
          <a:xfrm>
            <a:off x="8116180" y="1"/>
            <a:ext cx="2285734" cy="7324231"/>
            <a:chOff x="0" y="0"/>
            <a:chExt cx="3047646" cy="9765642"/>
          </a:xfrm>
        </p:grpSpPr>
        <p:sp>
          <p:nvSpPr>
            <p:cNvPr id="29" name="Freeform 29">
              <a:extLst>
                <a:ext uri="{FF2B5EF4-FFF2-40B4-BE49-F238E27FC236}">
                  <a16:creationId xmlns:a16="http://schemas.microsoft.com/office/drawing/2014/main" id="{C6A8968B-6C0C-C968-DE4E-CA1EDB87B09B}"/>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30" name="Group 30">
            <a:extLst>
              <a:ext uri="{FF2B5EF4-FFF2-40B4-BE49-F238E27FC236}">
                <a16:creationId xmlns:a16="http://schemas.microsoft.com/office/drawing/2014/main" id="{FE66CF8E-C1E6-DA14-2AB2-21FC33B9BB34}"/>
              </a:ext>
            </a:extLst>
          </p:cNvPr>
          <p:cNvGrpSpPr/>
          <p:nvPr/>
        </p:nvGrpSpPr>
        <p:grpSpPr>
          <a:xfrm>
            <a:off x="9487217" y="1"/>
            <a:ext cx="914699" cy="7324231"/>
            <a:chOff x="0" y="0"/>
            <a:chExt cx="1219598" cy="9765642"/>
          </a:xfrm>
        </p:grpSpPr>
        <p:sp>
          <p:nvSpPr>
            <p:cNvPr id="31" name="Freeform 31">
              <a:extLst>
                <a:ext uri="{FF2B5EF4-FFF2-40B4-BE49-F238E27FC236}">
                  <a16:creationId xmlns:a16="http://schemas.microsoft.com/office/drawing/2014/main" id="{14883C50-897E-A373-168E-5CCD2B09BB62}"/>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32" name="Group 32">
            <a:extLst>
              <a:ext uri="{FF2B5EF4-FFF2-40B4-BE49-F238E27FC236}">
                <a16:creationId xmlns:a16="http://schemas.microsoft.com/office/drawing/2014/main" id="{19AEC8D4-348A-932A-AE3C-B1F9EFEFF0CB}"/>
              </a:ext>
            </a:extLst>
          </p:cNvPr>
          <p:cNvGrpSpPr/>
          <p:nvPr/>
        </p:nvGrpSpPr>
        <p:grpSpPr>
          <a:xfrm>
            <a:off x="9272165" y="0"/>
            <a:ext cx="1137888" cy="7324231"/>
            <a:chOff x="0" y="0"/>
            <a:chExt cx="1517184" cy="9765642"/>
          </a:xfrm>
        </p:grpSpPr>
        <p:sp>
          <p:nvSpPr>
            <p:cNvPr id="33" name="Freeform 33">
              <a:extLst>
                <a:ext uri="{FF2B5EF4-FFF2-40B4-BE49-F238E27FC236}">
                  <a16:creationId xmlns:a16="http://schemas.microsoft.com/office/drawing/2014/main" id="{57477CED-9BFD-5C09-A7A1-94081F96C490}"/>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34" name="Group 34">
            <a:extLst>
              <a:ext uri="{FF2B5EF4-FFF2-40B4-BE49-F238E27FC236}">
                <a16:creationId xmlns:a16="http://schemas.microsoft.com/office/drawing/2014/main" id="{973974D9-A58F-FAF4-505C-476AAC7DDA5F}"/>
              </a:ext>
            </a:extLst>
          </p:cNvPr>
          <p:cNvGrpSpPr/>
          <p:nvPr/>
        </p:nvGrpSpPr>
        <p:grpSpPr>
          <a:xfrm>
            <a:off x="9245071" y="5229014"/>
            <a:ext cx="1167025" cy="2095218"/>
            <a:chOff x="0" y="0"/>
            <a:chExt cx="1556033" cy="2793624"/>
          </a:xfrm>
        </p:grpSpPr>
        <p:sp>
          <p:nvSpPr>
            <p:cNvPr id="35" name="Freeform 35">
              <a:extLst>
                <a:ext uri="{FF2B5EF4-FFF2-40B4-BE49-F238E27FC236}">
                  <a16:creationId xmlns:a16="http://schemas.microsoft.com/office/drawing/2014/main" id="{F33FCA08-355B-148B-6B6B-4D40CC58123F}"/>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36" name="Group 36">
            <a:extLst>
              <a:ext uri="{FF2B5EF4-FFF2-40B4-BE49-F238E27FC236}">
                <a16:creationId xmlns:a16="http://schemas.microsoft.com/office/drawing/2014/main" id="{EB008322-68EC-6B6C-8A2A-8C6A892DD8A0}"/>
              </a:ext>
            </a:extLst>
          </p:cNvPr>
          <p:cNvGrpSpPr/>
          <p:nvPr/>
        </p:nvGrpSpPr>
        <p:grpSpPr>
          <a:xfrm>
            <a:off x="-9030" y="-9033"/>
            <a:ext cx="921173" cy="6077938"/>
            <a:chOff x="0" y="0"/>
            <a:chExt cx="1228231" cy="8103918"/>
          </a:xfrm>
        </p:grpSpPr>
        <p:sp>
          <p:nvSpPr>
            <p:cNvPr id="37" name="Freeform 37">
              <a:extLst>
                <a:ext uri="{FF2B5EF4-FFF2-40B4-BE49-F238E27FC236}">
                  <a16:creationId xmlns:a16="http://schemas.microsoft.com/office/drawing/2014/main" id="{7DB63E06-4CD6-463A-9D89-CDEEB5427DD5}"/>
                </a:ext>
              </a:extLst>
            </p:cNvPr>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45" name="Group 18">
            <a:extLst>
              <a:ext uri="{FF2B5EF4-FFF2-40B4-BE49-F238E27FC236}">
                <a16:creationId xmlns:a16="http://schemas.microsoft.com/office/drawing/2014/main" id="{76D8F60F-CF0D-DC40-44B0-BABAC741F1C7}"/>
              </a:ext>
            </a:extLst>
          </p:cNvPr>
          <p:cNvGrpSpPr/>
          <p:nvPr/>
        </p:nvGrpSpPr>
        <p:grpSpPr>
          <a:xfrm>
            <a:off x="977594" y="1373277"/>
            <a:ext cx="7567849" cy="2557319"/>
            <a:chOff x="0" y="0"/>
            <a:chExt cx="10090465" cy="3409761"/>
          </a:xfrm>
        </p:grpSpPr>
        <p:sp>
          <p:nvSpPr>
            <p:cNvPr id="46" name="Freeform 19">
              <a:extLst>
                <a:ext uri="{FF2B5EF4-FFF2-40B4-BE49-F238E27FC236}">
                  <a16:creationId xmlns:a16="http://schemas.microsoft.com/office/drawing/2014/main" id="{CDBBA3DA-99D8-4684-FF62-313B666099C3}"/>
                </a:ext>
              </a:extLst>
            </p:cNvPr>
            <p:cNvSpPr/>
            <p:nvPr/>
          </p:nvSpPr>
          <p:spPr>
            <a:xfrm>
              <a:off x="0" y="0"/>
              <a:ext cx="9536550" cy="1878471"/>
            </a:xfrm>
            <a:custGeom>
              <a:avLst/>
              <a:gdLst/>
              <a:ahLst/>
              <a:cxnLst/>
              <a:rect l="l" t="t" r="r" b="b"/>
              <a:pathLst>
                <a:path w="9536550" h="1878471">
                  <a:moveTo>
                    <a:pt x="0" y="0"/>
                  </a:moveTo>
                  <a:lnTo>
                    <a:pt x="9536550" y="0"/>
                  </a:lnTo>
                  <a:lnTo>
                    <a:pt x="9536550" y="1878471"/>
                  </a:lnTo>
                  <a:lnTo>
                    <a:pt x="0" y="1878471"/>
                  </a:lnTo>
                  <a:close/>
                </a:path>
              </a:pathLst>
            </a:custGeom>
            <a:solidFill>
              <a:srgbClr val="000000">
                <a:alpha val="0"/>
              </a:srgbClr>
            </a:solidFill>
          </p:spPr>
        </p:sp>
        <p:sp>
          <p:nvSpPr>
            <p:cNvPr id="47" name="TextBox 20">
              <a:extLst>
                <a:ext uri="{FF2B5EF4-FFF2-40B4-BE49-F238E27FC236}">
                  <a16:creationId xmlns:a16="http://schemas.microsoft.com/office/drawing/2014/main" id="{F9B43D1B-50AD-E425-AD58-7A52BE5A8B20}"/>
                </a:ext>
              </a:extLst>
            </p:cNvPr>
            <p:cNvSpPr txBox="1"/>
            <p:nvPr/>
          </p:nvSpPr>
          <p:spPr>
            <a:xfrm>
              <a:off x="553915" y="1521765"/>
              <a:ext cx="9536550" cy="1887996"/>
            </a:xfrm>
            <a:prstGeom prst="rect">
              <a:avLst/>
            </a:prstGeom>
          </p:spPr>
          <p:txBody>
            <a:bodyPr lIns="0" tIns="0" rIns="0" bIns="0" rtlCol="0" anchor="t"/>
            <a:lstStyle/>
            <a:p>
              <a:pPr algn="ctr">
                <a:lnSpc>
                  <a:spcPts val="4967"/>
                </a:lnSpc>
              </a:pPr>
              <a:r>
                <a:rPr lang="en-US" sz="4800" dirty="0">
                  <a:solidFill>
                    <a:srgbClr val="5FCBEF"/>
                  </a:solidFill>
                  <a:latin typeface="Trebuchet MS"/>
                  <a:ea typeface="Trebuchet MS"/>
                  <a:cs typeface="Trebuchet MS"/>
                  <a:sym typeface="Trebuchet MS"/>
                </a:rPr>
                <a:t>PERFORMANCE ANALYSIS OF FINALIZED MACHINE LEARNING MODEL IN PATCHEZ</a:t>
              </a:r>
            </a:p>
          </p:txBody>
        </p:sp>
      </p:grpSp>
    </p:spTree>
    <p:extLst>
      <p:ext uri="{BB962C8B-B14F-4D97-AF65-F5344CB8AC3E}">
        <p14:creationId xmlns:p14="http://schemas.microsoft.com/office/powerpoint/2010/main" val="4158338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E1777B-E2B4-A7C5-9CEB-AC103D84C727}"/>
              </a:ext>
            </a:extLst>
          </p:cNvPr>
          <p:cNvPicPr>
            <a:picLocks noChangeAspect="1"/>
          </p:cNvPicPr>
          <p:nvPr/>
        </p:nvPicPr>
        <p:blipFill>
          <a:blip r:embed="rId2"/>
          <a:stretch>
            <a:fillRect/>
          </a:stretch>
        </p:blipFill>
        <p:spPr>
          <a:xfrm>
            <a:off x="2343938" y="304800"/>
            <a:ext cx="5065723" cy="4329472"/>
          </a:xfrm>
          <a:prstGeom prst="rect">
            <a:avLst/>
          </a:prstGeom>
        </p:spPr>
      </p:pic>
      <p:sp>
        <p:nvSpPr>
          <p:cNvPr id="4" name="TextBox 3">
            <a:extLst>
              <a:ext uri="{FF2B5EF4-FFF2-40B4-BE49-F238E27FC236}">
                <a16:creationId xmlns:a16="http://schemas.microsoft.com/office/drawing/2014/main" id="{B5C5A0FF-F50D-8AE0-0CE0-E3C3C25D8E4C}"/>
              </a:ext>
            </a:extLst>
          </p:cNvPr>
          <p:cNvSpPr txBox="1"/>
          <p:nvPr/>
        </p:nvSpPr>
        <p:spPr>
          <a:xfrm>
            <a:off x="1219200" y="5105400"/>
            <a:ext cx="7391400" cy="1569660"/>
          </a:xfrm>
          <a:prstGeom prst="rect">
            <a:avLst/>
          </a:prstGeom>
          <a:noFill/>
        </p:spPr>
        <p:txBody>
          <a:bodyPr wrap="square">
            <a:spAutoFit/>
          </a:bodyPr>
          <a:lstStyle/>
          <a:p>
            <a:pPr algn="just"/>
            <a:r>
              <a:rPr lang="en-US" sz="2400" b="1" dirty="0">
                <a:solidFill>
                  <a:schemeClr val="accent5">
                    <a:lumMod val="75000"/>
                  </a:schemeClr>
                </a:solidFill>
              </a:rPr>
              <a:t>1. Confusion Matrix </a:t>
            </a:r>
            <a:r>
              <a:rPr lang="en-US" sz="2400" dirty="0">
                <a:solidFill>
                  <a:schemeClr val="accent5">
                    <a:lumMod val="75000"/>
                  </a:schemeClr>
                </a:solidFill>
              </a:rPr>
              <a:t>– Model Performance Overview. This confusion matrix visualizes the classification performance of the stress level prediction model across five categories (0 to 4). </a:t>
            </a:r>
            <a:endParaRPr lang="en-IN" sz="2400" dirty="0">
              <a:solidFill>
                <a:schemeClr val="accent5">
                  <a:lumMod val="75000"/>
                </a:schemeClr>
              </a:solidFill>
            </a:endParaRPr>
          </a:p>
        </p:txBody>
      </p:sp>
    </p:spTree>
    <p:extLst>
      <p:ext uri="{BB962C8B-B14F-4D97-AF65-F5344CB8AC3E}">
        <p14:creationId xmlns:p14="http://schemas.microsoft.com/office/powerpoint/2010/main" val="1300339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9B47A1-D5EC-0217-B1EA-CE5D875993DF}"/>
              </a:ext>
            </a:extLst>
          </p:cNvPr>
          <p:cNvPicPr>
            <a:picLocks noChangeAspect="1"/>
          </p:cNvPicPr>
          <p:nvPr/>
        </p:nvPicPr>
        <p:blipFill>
          <a:blip r:embed="rId2"/>
          <a:stretch>
            <a:fillRect/>
          </a:stretch>
        </p:blipFill>
        <p:spPr>
          <a:xfrm>
            <a:off x="1600200" y="442234"/>
            <a:ext cx="6887643" cy="4631790"/>
          </a:xfrm>
          <a:prstGeom prst="rect">
            <a:avLst/>
          </a:prstGeom>
        </p:spPr>
      </p:pic>
      <p:sp>
        <p:nvSpPr>
          <p:cNvPr id="4" name="TextBox 3">
            <a:extLst>
              <a:ext uri="{FF2B5EF4-FFF2-40B4-BE49-F238E27FC236}">
                <a16:creationId xmlns:a16="http://schemas.microsoft.com/office/drawing/2014/main" id="{ABEE91E7-E84B-91AA-B8FE-64868D793174}"/>
              </a:ext>
            </a:extLst>
          </p:cNvPr>
          <p:cNvSpPr txBox="1"/>
          <p:nvPr/>
        </p:nvSpPr>
        <p:spPr>
          <a:xfrm>
            <a:off x="1348321" y="5410200"/>
            <a:ext cx="7391400" cy="1569660"/>
          </a:xfrm>
          <a:prstGeom prst="rect">
            <a:avLst/>
          </a:prstGeom>
          <a:noFill/>
        </p:spPr>
        <p:txBody>
          <a:bodyPr wrap="square">
            <a:spAutoFit/>
          </a:bodyPr>
          <a:lstStyle/>
          <a:p>
            <a:pPr algn="just"/>
            <a:r>
              <a:rPr lang="en-US" sz="2400" b="1" dirty="0">
                <a:solidFill>
                  <a:schemeClr val="accent5">
                    <a:lumMod val="75000"/>
                  </a:schemeClr>
                </a:solidFill>
              </a:rPr>
              <a:t>2. Feature Importance – </a:t>
            </a:r>
            <a:r>
              <a:rPr lang="en-US" sz="2400" dirty="0">
                <a:solidFill>
                  <a:schemeClr val="accent5">
                    <a:lumMod val="75000"/>
                  </a:schemeClr>
                </a:solidFill>
              </a:rPr>
              <a:t>Key Physiological Indicators. This bar chart highlights the top 8 physiological features ranked by their contribution to the model’s predictions (based on F-score).</a:t>
            </a:r>
            <a:endParaRPr lang="en-IN" sz="2400" dirty="0">
              <a:solidFill>
                <a:schemeClr val="accent5">
                  <a:lumMod val="75000"/>
                </a:schemeClr>
              </a:solidFill>
            </a:endParaRPr>
          </a:p>
        </p:txBody>
      </p:sp>
    </p:spTree>
    <p:extLst>
      <p:ext uri="{BB962C8B-B14F-4D97-AF65-F5344CB8AC3E}">
        <p14:creationId xmlns:p14="http://schemas.microsoft.com/office/powerpoint/2010/main" val="1983899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2757B7-CC0B-0894-56BC-081EE2B691D6}"/>
              </a:ext>
            </a:extLst>
          </p:cNvPr>
          <p:cNvPicPr>
            <a:picLocks noChangeAspect="1"/>
          </p:cNvPicPr>
          <p:nvPr/>
        </p:nvPicPr>
        <p:blipFill>
          <a:blip r:embed="rId2"/>
          <a:stretch>
            <a:fillRect/>
          </a:stretch>
        </p:blipFill>
        <p:spPr>
          <a:xfrm>
            <a:off x="381000" y="152400"/>
            <a:ext cx="8824178" cy="4340776"/>
          </a:xfrm>
          <a:prstGeom prst="rect">
            <a:avLst/>
          </a:prstGeom>
        </p:spPr>
      </p:pic>
      <p:sp>
        <p:nvSpPr>
          <p:cNvPr id="4" name="TextBox 3">
            <a:extLst>
              <a:ext uri="{FF2B5EF4-FFF2-40B4-BE49-F238E27FC236}">
                <a16:creationId xmlns:a16="http://schemas.microsoft.com/office/drawing/2014/main" id="{CD009D61-22B8-65CC-97E2-38014F5A8BE1}"/>
              </a:ext>
            </a:extLst>
          </p:cNvPr>
          <p:cNvSpPr txBox="1"/>
          <p:nvPr/>
        </p:nvSpPr>
        <p:spPr>
          <a:xfrm>
            <a:off x="754489" y="4953000"/>
            <a:ext cx="8077200" cy="1938992"/>
          </a:xfrm>
          <a:prstGeom prst="rect">
            <a:avLst/>
          </a:prstGeom>
          <a:noFill/>
        </p:spPr>
        <p:txBody>
          <a:bodyPr wrap="square">
            <a:spAutoFit/>
          </a:bodyPr>
          <a:lstStyle/>
          <a:p>
            <a:pPr algn="just"/>
            <a:r>
              <a:rPr lang="en-US" sz="2400" b="1" dirty="0">
                <a:solidFill>
                  <a:schemeClr val="accent5">
                    <a:lumMod val="75000"/>
                  </a:schemeClr>
                </a:solidFill>
              </a:rPr>
              <a:t> 3. Actual vs Predicted Stress Levels – </a:t>
            </a:r>
            <a:r>
              <a:rPr lang="en-US" sz="2400" dirty="0">
                <a:solidFill>
                  <a:schemeClr val="accent5">
                    <a:lumMod val="75000"/>
                  </a:schemeClr>
                </a:solidFill>
              </a:rPr>
              <a:t>Model Accuracy Visualization. This line plot compares actual and predicted stress levels across 125+ samples. The close alignment between the blue (actual) and red (predicted) lines signifies excellent prediction accuracy.</a:t>
            </a:r>
            <a:endParaRPr lang="en-IN" sz="2400" dirty="0">
              <a:solidFill>
                <a:schemeClr val="accent5">
                  <a:lumMod val="75000"/>
                </a:schemeClr>
              </a:solidFill>
            </a:endParaRPr>
          </a:p>
        </p:txBody>
      </p:sp>
    </p:spTree>
    <p:extLst>
      <p:ext uri="{BB962C8B-B14F-4D97-AF65-F5344CB8AC3E}">
        <p14:creationId xmlns:p14="http://schemas.microsoft.com/office/powerpoint/2010/main" val="3716921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C2DAA-8BE7-A96C-A3D6-DFBB4D90C8B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1BC196-7303-8932-4E0F-CACF619DCABB}"/>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DFA519A5-0606-F05E-B74D-CCED41F0DC16}"/>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F08D30F6-8DD5-AEE2-3CEE-6079A95A67E7}"/>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3FFB7331-E51C-65C3-4C7D-4E07210792E3}"/>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E00ECFB8-E0DF-81D9-2723-EC67C87EC9AD}"/>
              </a:ext>
            </a:extLst>
          </p:cNvPr>
          <p:cNvGrpSpPr/>
          <p:nvPr/>
        </p:nvGrpSpPr>
        <p:grpSpPr>
          <a:xfrm>
            <a:off x="7989745" y="9034"/>
            <a:ext cx="2420738" cy="7324230"/>
            <a:chOff x="0" y="0"/>
            <a:chExt cx="3227651" cy="9765641"/>
          </a:xfrm>
        </p:grpSpPr>
        <p:sp>
          <p:nvSpPr>
            <p:cNvPr id="7" name="Freeform 7">
              <a:extLst>
                <a:ext uri="{FF2B5EF4-FFF2-40B4-BE49-F238E27FC236}">
                  <a16:creationId xmlns:a16="http://schemas.microsoft.com/office/drawing/2014/main" id="{8CD6B9E9-EA67-5A28-8ACE-11958EDF041B}"/>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5ABB6752-8C60-87B3-7B55-F43034E1D858}"/>
              </a:ext>
            </a:extLst>
          </p:cNvPr>
          <p:cNvGrpSpPr/>
          <p:nvPr/>
        </p:nvGrpSpPr>
        <p:grpSpPr>
          <a:xfrm>
            <a:off x="8323891" y="1"/>
            <a:ext cx="2078023" cy="7324231"/>
            <a:chOff x="0" y="0"/>
            <a:chExt cx="2770698" cy="9765642"/>
          </a:xfrm>
        </p:grpSpPr>
        <p:sp>
          <p:nvSpPr>
            <p:cNvPr id="9" name="Freeform 9">
              <a:extLst>
                <a:ext uri="{FF2B5EF4-FFF2-40B4-BE49-F238E27FC236}">
                  <a16:creationId xmlns:a16="http://schemas.microsoft.com/office/drawing/2014/main" id="{1A2647F8-A9DF-59A4-E7BC-23C589E8C2D0}"/>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D76E94F6-092B-EF45-1C8A-E5CDDA48D0FD}"/>
              </a:ext>
            </a:extLst>
          </p:cNvPr>
          <p:cNvGrpSpPr/>
          <p:nvPr/>
        </p:nvGrpSpPr>
        <p:grpSpPr>
          <a:xfrm>
            <a:off x="7718812" y="4190436"/>
            <a:ext cx="2681136" cy="3133795"/>
            <a:chOff x="0" y="0"/>
            <a:chExt cx="3574848" cy="4178394"/>
          </a:xfrm>
        </p:grpSpPr>
        <p:sp>
          <p:nvSpPr>
            <p:cNvPr id="11" name="Freeform 11">
              <a:extLst>
                <a:ext uri="{FF2B5EF4-FFF2-40B4-BE49-F238E27FC236}">
                  <a16:creationId xmlns:a16="http://schemas.microsoft.com/office/drawing/2014/main" id="{92696BE5-6BFA-0B71-4548-E357C596B5E9}"/>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27218414-9842-56B0-728F-AD6B89551FE2}"/>
              </a:ext>
            </a:extLst>
          </p:cNvPr>
          <p:cNvGrpSpPr/>
          <p:nvPr/>
        </p:nvGrpSpPr>
        <p:grpSpPr>
          <a:xfrm>
            <a:off x="8116180" y="1"/>
            <a:ext cx="2285734" cy="7324231"/>
            <a:chOff x="0" y="0"/>
            <a:chExt cx="3047646" cy="9765642"/>
          </a:xfrm>
        </p:grpSpPr>
        <p:sp>
          <p:nvSpPr>
            <p:cNvPr id="13" name="Freeform 13">
              <a:extLst>
                <a:ext uri="{FF2B5EF4-FFF2-40B4-BE49-F238E27FC236}">
                  <a16:creationId xmlns:a16="http://schemas.microsoft.com/office/drawing/2014/main" id="{21FC178E-62CD-4417-A16C-AFF124CE4E54}"/>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97B0FFC9-2C6D-8E5C-A84B-547B0EEF7833}"/>
              </a:ext>
            </a:extLst>
          </p:cNvPr>
          <p:cNvGrpSpPr/>
          <p:nvPr/>
        </p:nvGrpSpPr>
        <p:grpSpPr>
          <a:xfrm>
            <a:off x="9487217" y="1"/>
            <a:ext cx="914699" cy="7324231"/>
            <a:chOff x="0" y="0"/>
            <a:chExt cx="1219598" cy="9765642"/>
          </a:xfrm>
        </p:grpSpPr>
        <p:sp>
          <p:nvSpPr>
            <p:cNvPr id="15" name="Freeform 15">
              <a:extLst>
                <a:ext uri="{FF2B5EF4-FFF2-40B4-BE49-F238E27FC236}">
                  <a16:creationId xmlns:a16="http://schemas.microsoft.com/office/drawing/2014/main" id="{A3A8D047-EE3D-EA0C-6F50-F761222994EE}"/>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F1FF6FBC-4ED2-F952-41AC-7D3A8AEB1383}"/>
              </a:ext>
            </a:extLst>
          </p:cNvPr>
          <p:cNvGrpSpPr/>
          <p:nvPr/>
        </p:nvGrpSpPr>
        <p:grpSpPr>
          <a:xfrm>
            <a:off x="9272165" y="0"/>
            <a:ext cx="1137888" cy="7324231"/>
            <a:chOff x="0" y="0"/>
            <a:chExt cx="1517184" cy="9765642"/>
          </a:xfrm>
        </p:grpSpPr>
        <p:sp>
          <p:nvSpPr>
            <p:cNvPr id="17" name="Freeform 17">
              <a:extLst>
                <a:ext uri="{FF2B5EF4-FFF2-40B4-BE49-F238E27FC236}">
                  <a16:creationId xmlns:a16="http://schemas.microsoft.com/office/drawing/2014/main" id="{FA4F986B-8961-9258-263F-740B13C48586}"/>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326CC04E-0D7F-2CA5-0E7B-38AD5AF5709B}"/>
              </a:ext>
            </a:extLst>
          </p:cNvPr>
          <p:cNvGrpSpPr/>
          <p:nvPr/>
        </p:nvGrpSpPr>
        <p:grpSpPr>
          <a:xfrm>
            <a:off x="9245071" y="5229014"/>
            <a:ext cx="1167025" cy="2095218"/>
            <a:chOff x="0" y="0"/>
            <a:chExt cx="1556033" cy="2793624"/>
          </a:xfrm>
        </p:grpSpPr>
        <p:sp>
          <p:nvSpPr>
            <p:cNvPr id="19" name="Freeform 19">
              <a:extLst>
                <a:ext uri="{FF2B5EF4-FFF2-40B4-BE49-F238E27FC236}">
                  <a16:creationId xmlns:a16="http://schemas.microsoft.com/office/drawing/2014/main" id="{6AD81F7B-FCCE-A118-0C69-F354DBD768E0}"/>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20" name="AutoShape 20">
            <a:extLst>
              <a:ext uri="{FF2B5EF4-FFF2-40B4-BE49-F238E27FC236}">
                <a16:creationId xmlns:a16="http://schemas.microsoft.com/office/drawing/2014/main" id="{392DFD25-36A6-1DC3-8A05-AAF2EE5A818E}"/>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21" name="AutoShape 21">
            <a:extLst>
              <a:ext uri="{FF2B5EF4-FFF2-40B4-BE49-F238E27FC236}">
                <a16:creationId xmlns:a16="http://schemas.microsoft.com/office/drawing/2014/main" id="{5D75EF0C-CC62-8CAF-FAB5-F1F7E580ED0B}"/>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22" name="Group 22">
            <a:extLst>
              <a:ext uri="{FF2B5EF4-FFF2-40B4-BE49-F238E27FC236}">
                <a16:creationId xmlns:a16="http://schemas.microsoft.com/office/drawing/2014/main" id="{C2690CA8-FE01-6E31-97B6-0D6248C83782}"/>
              </a:ext>
            </a:extLst>
          </p:cNvPr>
          <p:cNvGrpSpPr/>
          <p:nvPr/>
        </p:nvGrpSpPr>
        <p:grpSpPr>
          <a:xfrm>
            <a:off x="7989745" y="9034"/>
            <a:ext cx="2420738" cy="7324230"/>
            <a:chOff x="0" y="0"/>
            <a:chExt cx="3227651" cy="9765641"/>
          </a:xfrm>
        </p:grpSpPr>
        <p:sp>
          <p:nvSpPr>
            <p:cNvPr id="23" name="Freeform 23">
              <a:extLst>
                <a:ext uri="{FF2B5EF4-FFF2-40B4-BE49-F238E27FC236}">
                  <a16:creationId xmlns:a16="http://schemas.microsoft.com/office/drawing/2014/main" id="{309CA83B-011B-1AD6-ADD5-1C42AD45E7B2}"/>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4" name="Group 24">
            <a:extLst>
              <a:ext uri="{FF2B5EF4-FFF2-40B4-BE49-F238E27FC236}">
                <a16:creationId xmlns:a16="http://schemas.microsoft.com/office/drawing/2014/main" id="{38473A4B-A1F8-100A-CC53-5EABA4B4B7CB}"/>
              </a:ext>
            </a:extLst>
          </p:cNvPr>
          <p:cNvGrpSpPr/>
          <p:nvPr/>
        </p:nvGrpSpPr>
        <p:grpSpPr>
          <a:xfrm>
            <a:off x="8323891" y="1"/>
            <a:ext cx="2078023" cy="7324231"/>
            <a:chOff x="0" y="0"/>
            <a:chExt cx="2770698" cy="9765642"/>
          </a:xfrm>
        </p:grpSpPr>
        <p:sp>
          <p:nvSpPr>
            <p:cNvPr id="25" name="Freeform 25">
              <a:extLst>
                <a:ext uri="{FF2B5EF4-FFF2-40B4-BE49-F238E27FC236}">
                  <a16:creationId xmlns:a16="http://schemas.microsoft.com/office/drawing/2014/main" id="{CD84C092-043F-5467-6A96-519104648620}"/>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6" name="Group 26">
            <a:extLst>
              <a:ext uri="{FF2B5EF4-FFF2-40B4-BE49-F238E27FC236}">
                <a16:creationId xmlns:a16="http://schemas.microsoft.com/office/drawing/2014/main" id="{E63CC0CD-FEE6-35DD-A595-A63B0ED21982}"/>
              </a:ext>
            </a:extLst>
          </p:cNvPr>
          <p:cNvGrpSpPr/>
          <p:nvPr/>
        </p:nvGrpSpPr>
        <p:grpSpPr>
          <a:xfrm>
            <a:off x="7718812" y="4190436"/>
            <a:ext cx="2681136" cy="3133795"/>
            <a:chOff x="0" y="0"/>
            <a:chExt cx="3574848" cy="4178394"/>
          </a:xfrm>
        </p:grpSpPr>
        <p:sp>
          <p:nvSpPr>
            <p:cNvPr id="27" name="Freeform 27">
              <a:extLst>
                <a:ext uri="{FF2B5EF4-FFF2-40B4-BE49-F238E27FC236}">
                  <a16:creationId xmlns:a16="http://schemas.microsoft.com/office/drawing/2014/main" id="{DF9E30B1-4182-8D0C-E200-F9D88BE9A838}"/>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8" name="Group 28">
            <a:extLst>
              <a:ext uri="{FF2B5EF4-FFF2-40B4-BE49-F238E27FC236}">
                <a16:creationId xmlns:a16="http://schemas.microsoft.com/office/drawing/2014/main" id="{ACF6A4D9-DE37-D6B1-8B83-E1169EBFF804}"/>
              </a:ext>
            </a:extLst>
          </p:cNvPr>
          <p:cNvGrpSpPr/>
          <p:nvPr/>
        </p:nvGrpSpPr>
        <p:grpSpPr>
          <a:xfrm>
            <a:off x="8116180" y="1"/>
            <a:ext cx="2285734" cy="7324231"/>
            <a:chOff x="0" y="0"/>
            <a:chExt cx="3047646" cy="9765642"/>
          </a:xfrm>
        </p:grpSpPr>
        <p:sp>
          <p:nvSpPr>
            <p:cNvPr id="29" name="Freeform 29">
              <a:extLst>
                <a:ext uri="{FF2B5EF4-FFF2-40B4-BE49-F238E27FC236}">
                  <a16:creationId xmlns:a16="http://schemas.microsoft.com/office/drawing/2014/main" id="{F8D1E913-7278-EC03-5BE1-762398BD7D02}"/>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30" name="Group 30">
            <a:extLst>
              <a:ext uri="{FF2B5EF4-FFF2-40B4-BE49-F238E27FC236}">
                <a16:creationId xmlns:a16="http://schemas.microsoft.com/office/drawing/2014/main" id="{CC86FF29-24C1-2A9B-6E01-7447E7808118}"/>
              </a:ext>
            </a:extLst>
          </p:cNvPr>
          <p:cNvGrpSpPr/>
          <p:nvPr/>
        </p:nvGrpSpPr>
        <p:grpSpPr>
          <a:xfrm>
            <a:off x="9487217" y="1"/>
            <a:ext cx="914699" cy="7324231"/>
            <a:chOff x="0" y="0"/>
            <a:chExt cx="1219598" cy="9765642"/>
          </a:xfrm>
        </p:grpSpPr>
        <p:sp>
          <p:nvSpPr>
            <p:cNvPr id="31" name="Freeform 31">
              <a:extLst>
                <a:ext uri="{FF2B5EF4-FFF2-40B4-BE49-F238E27FC236}">
                  <a16:creationId xmlns:a16="http://schemas.microsoft.com/office/drawing/2014/main" id="{8014D885-61BC-137D-FDC8-320C333AF300}"/>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32" name="Group 32">
            <a:extLst>
              <a:ext uri="{FF2B5EF4-FFF2-40B4-BE49-F238E27FC236}">
                <a16:creationId xmlns:a16="http://schemas.microsoft.com/office/drawing/2014/main" id="{39100D45-BED3-CBBE-638C-DA5511CFA874}"/>
              </a:ext>
            </a:extLst>
          </p:cNvPr>
          <p:cNvGrpSpPr/>
          <p:nvPr/>
        </p:nvGrpSpPr>
        <p:grpSpPr>
          <a:xfrm>
            <a:off x="9272165" y="0"/>
            <a:ext cx="1137888" cy="7324231"/>
            <a:chOff x="0" y="0"/>
            <a:chExt cx="1517184" cy="9765642"/>
          </a:xfrm>
        </p:grpSpPr>
        <p:sp>
          <p:nvSpPr>
            <p:cNvPr id="33" name="Freeform 33">
              <a:extLst>
                <a:ext uri="{FF2B5EF4-FFF2-40B4-BE49-F238E27FC236}">
                  <a16:creationId xmlns:a16="http://schemas.microsoft.com/office/drawing/2014/main" id="{54BCD626-BB0A-3E75-5C9B-85B009E9CDBF}"/>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34" name="Group 34">
            <a:extLst>
              <a:ext uri="{FF2B5EF4-FFF2-40B4-BE49-F238E27FC236}">
                <a16:creationId xmlns:a16="http://schemas.microsoft.com/office/drawing/2014/main" id="{24B6A61E-2876-8CC5-ED92-B0A4F9636D34}"/>
              </a:ext>
            </a:extLst>
          </p:cNvPr>
          <p:cNvGrpSpPr/>
          <p:nvPr/>
        </p:nvGrpSpPr>
        <p:grpSpPr>
          <a:xfrm>
            <a:off x="9245071" y="5229014"/>
            <a:ext cx="1167025" cy="2095218"/>
            <a:chOff x="0" y="0"/>
            <a:chExt cx="1556033" cy="2793624"/>
          </a:xfrm>
        </p:grpSpPr>
        <p:sp>
          <p:nvSpPr>
            <p:cNvPr id="35" name="Freeform 35">
              <a:extLst>
                <a:ext uri="{FF2B5EF4-FFF2-40B4-BE49-F238E27FC236}">
                  <a16:creationId xmlns:a16="http://schemas.microsoft.com/office/drawing/2014/main" id="{5A00532F-9091-B58C-012B-23ABE81ABF83}"/>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36" name="Group 36">
            <a:extLst>
              <a:ext uri="{FF2B5EF4-FFF2-40B4-BE49-F238E27FC236}">
                <a16:creationId xmlns:a16="http://schemas.microsoft.com/office/drawing/2014/main" id="{F0193864-5B2D-A2C6-3B20-DDD252FBAF81}"/>
              </a:ext>
            </a:extLst>
          </p:cNvPr>
          <p:cNvGrpSpPr/>
          <p:nvPr/>
        </p:nvGrpSpPr>
        <p:grpSpPr>
          <a:xfrm>
            <a:off x="-9030" y="-9033"/>
            <a:ext cx="921173" cy="6077938"/>
            <a:chOff x="0" y="0"/>
            <a:chExt cx="1228231" cy="8103918"/>
          </a:xfrm>
        </p:grpSpPr>
        <p:sp>
          <p:nvSpPr>
            <p:cNvPr id="37" name="Freeform 37">
              <a:extLst>
                <a:ext uri="{FF2B5EF4-FFF2-40B4-BE49-F238E27FC236}">
                  <a16:creationId xmlns:a16="http://schemas.microsoft.com/office/drawing/2014/main" id="{84A73FC6-DA47-A5BB-CA02-B839B48CADFD}"/>
                </a:ext>
              </a:extLst>
            </p:cNvPr>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45" name="Group 18">
            <a:extLst>
              <a:ext uri="{FF2B5EF4-FFF2-40B4-BE49-F238E27FC236}">
                <a16:creationId xmlns:a16="http://schemas.microsoft.com/office/drawing/2014/main" id="{D8FCDC7F-E0AC-DD69-6A8E-D18922EB4796}"/>
              </a:ext>
            </a:extLst>
          </p:cNvPr>
          <p:cNvGrpSpPr/>
          <p:nvPr/>
        </p:nvGrpSpPr>
        <p:grpSpPr>
          <a:xfrm>
            <a:off x="1127185" y="1597968"/>
            <a:ext cx="8020884" cy="2059632"/>
            <a:chOff x="-1157963" y="-867706"/>
            <a:chExt cx="10694513" cy="2746177"/>
          </a:xfrm>
        </p:grpSpPr>
        <p:sp>
          <p:nvSpPr>
            <p:cNvPr id="46" name="Freeform 19">
              <a:extLst>
                <a:ext uri="{FF2B5EF4-FFF2-40B4-BE49-F238E27FC236}">
                  <a16:creationId xmlns:a16="http://schemas.microsoft.com/office/drawing/2014/main" id="{A68F8906-C0F9-19B4-E22F-302DBFF4A1EB}"/>
                </a:ext>
              </a:extLst>
            </p:cNvPr>
            <p:cNvSpPr/>
            <p:nvPr/>
          </p:nvSpPr>
          <p:spPr>
            <a:xfrm>
              <a:off x="0" y="0"/>
              <a:ext cx="9536550" cy="1878471"/>
            </a:xfrm>
            <a:custGeom>
              <a:avLst/>
              <a:gdLst/>
              <a:ahLst/>
              <a:cxnLst/>
              <a:rect l="l" t="t" r="r" b="b"/>
              <a:pathLst>
                <a:path w="9536550" h="1878471">
                  <a:moveTo>
                    <a:pt x="0" y="0"/>
                  </a:moveTo>
                  <a:lnTo>
                    <a:pt x="9536550" y="0"/>
                  </a:lnTo>
                  <a:lnTo>
                    <a:pt x="9536550" y="1878471"/>
                  </a:lnTo>
                  <a:lnTo>
                    <a:pt x="0" y="1878471"/>
                  </a:lnTo>
                  <a:close/>
                </a:path>
              </a:pathLst>
            </a:custGeom>
            <a:solidFill>
              <a:srgbClr val="000000">
                <a:alpha val="0"/>
              </a:srgbClr>
            </a:solidFill>
          </p:spPr>
        </p:sp>
        <p:sp>
          <p:nvSpPr>
            <p:cNvPr id="47" name="TextBox 20">
              <a:extLst>
                <a:ext uri="{FF2B5EF4-FFF2-40B4-BE49-F238E27FC236}">
                  <a16:creationId xmlns:a16="http://schemas.microsoft.com/office/drawing/2014/main" id="{DB2DB9FE-ED9E-9921-5796-9F394E155679}"/>
                </a:ext>
              </a:extLst>
            </p:cNvPr>
            <p:cNvSpPr txBox="1"/>
            <p:nvPr/>
          </p:nvSpPr>
          <p:spPr>
            <a:xfrm>
              <a:off x="-1157963" y="-867706"/>
              <a:ext cx="9536550" cy="1887996"/>
            </a:xfrm>
            <a:prstGeom prst="rect">
              <a:avLst/>
            </a:prstGeom>
          </p:spPr>
          <p:txBody>
            <a:bodyPr lIns="0" tIns="0" rIns="0" bIns="0" rtlCol="0" anchor="t"/>
            <a:lstStyle/>
            <a:p>
              <a:pPr algn="l">
                <a:lnSpc>
                  <a:spcPts val="4967"/>
                </a:lnSpc>
              </a:pPr>
              <a:r>
                <a:rPr lang="en-US" sz="4800" dirty="0">
                  <a:solidFill>
                    <a:srgbClr val="5FCBEF"/>
                  </a:solidFill>
                  <a:latin typeface="Trebuchet MS"/>
                  <a:ea typeface="Trebuchet MS"/>
                  <a:cs typeface="Trebuchet MS"/>
                  <a:sym typeface="Trebuchet MS"/>
                </a:rPr>
                <a:t>WEBSITE OVERVIEW</a:t>
              </a:r>
            </a:p>
          </p:txBody>
        </p:sp>
      </p:grpSp>
      <p:sp>
        <p:nvSpPr>
          <p:cNvPr id="39" name="TextBox 38">
            <a:extLst>
              <a:ext uri="{FF2B5EF4-FFF2-40B4-BE49-F238E27FC236}">
                <a16:creationId xmlns:a16="http://schemas.microsoft.com/office/drawing/2014/main" id="{E078060F-0F29-AF4C-4C6E-A64AC05E7A52}"/>
              </a:ext>
            </a:extLst>
          </p:cNvPr>
          <p:cNvSpPr txBox="1"/>
          <p:nvPr/>
        </p:nvSpPr>
        <p:spPr>
          <a:xfrm>
            <a:off x="1114008" y="2715479"/>
            <a:ext cx="6867484" cy="2677656"/>
          </a:xfrm>
          <a:prstGeom prst="rect">
            <a:avLst/>
          </a:prstGeom>
          <a:noFill/>
        </p:spPr>
        <p:txBody>
          <a:bodyPr wrap="square">
            <a:spAutoFit/>
          </a:bodyPr>
          <a:lstStyle/>
          <a:p>
            <a:pPr algn="just"/>
            <a:r>
              <a:rPr lang="en-US" sz="2400" dirty="0" err="1">
                <a:solidFill>
                  <a:schemeClr val="accent5">
                    <a:lumMod val="75000"/>
                  </a:schemeClr>
                </a:solidFill>
              </a:rPr>
              <a:t>PatchEZ</a:t>
            </a:r>
            <a:r>
              <a:rPr lang="en-US" sz="2400" dirty="0">
                <a:solidFill>
                  <a:schemeClr val="accent5">
                    <a:lumMod val="75000"/>
                  </a:schemeClr>
                </a:solidFill>
              </a:rPr>
              <a:t> is a web application designed to support a wearable iontophoresis-based drug delivery system. It provides users with real-time tracking, stress level monitoring, and device status updates. The platform ensures an efficient and controlled drug delivery process while integrating machine learning for stress detection.</a:t>
            </a:r>
            <a:endParaRPr lang="en-IN" sz="2400" dirty="0">
              <a:solidFill>
                <a:schemeClr val="accent5">
                  <a:lumMod val="75000"/>
                </a:schemeClr>
              </a:solidFill>
            </a:endParaRPr>
          </a:p>
        </p:txBody>
      </p:sp>
    </p:spTree>
    <p:extLst>
      <p:ext uri="{BB962C8B-B14F-4D97-AF65-F5344CB8AC3E}">
        <p14:creationId xmlns:p14="http://schemas.microsoft.com/office/powerpoint/2010/main" val="1131328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C52D7-0A03-5BEB-DAD6-745E52ADF26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A943544-B425-9B5C-4EA1-E770840813D5}"/>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5062D046-03F0-5FF8-6FD8-8AF75002242E}"/>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EEF7FCCE-11BD-CE54-BAE9-34B1C7D81F19}"/>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071125DA-D4A8-7544-A79B-A98B63513927}"/>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94D071DB-B92F-1D94-93C8-6007384CD9C7}"/>
              </a:ext>
            </a:extLst>
          </p:cNvPr>
          <p:cNvGrpSpPr/>
          <p:nvPr/>
        </p:nvGrpSpPr>
        <p:grpSpPr>
          <a:xfrm>
            <a:off x="7989745" y="9034"/>
            <a:ext cx="2420738" cy="7324230"/>
            <a:chOff x="0" y="0"/>
            <a:chExt cx="3227651" cy="9765641"/>
          </a:xfrm>
        </p:grpSpPr>
        <p:sp>
          <p:nvSpPr>
            <p:cNvPr id="7" name="Freeform 7">
              <a:extLst>
                <a:ext uri="{FF2B5EF4-FFF2-40B4-BE49-F238E27FC236}">
                  <a16:creationId xmlns:a16="http://schemas.microsoft.com/office/drawing/2014/main" id="{9CEB686C-8B06-AB98-7DE3-21682778AB1B}"/>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43284593-08CA-D994-CDF0-9E92D4B749DF}"/>
              </a:ext>
            </a:extLst>
          </p:cNvPr>
          <p:cNvGrpSpPr/>
          <p:nvPr/>
        </p:nvGrpSpPr>
        <p:grpSpPr>
          <a:xfrm>
            <a:off x="8323891" y="1"/>
            <a:ext cx="2078023" cy="7324231"/>
            <a:chOff x="0" y="0"/>
            <a:chExt cx="2770698" cy="9765642"/>
          </a:xfrm>
        </p:grpSpPr>
        <p:sp>
          <p:nvSpPr>
            <p:cNvPr id="9" name="Freeform 9">
              <a:extLst>
                <a:ext uri="{FF2B5EF4-FFF2-40B4-BE49-F238E27FC236}">
                  <a16:creationId xmlns:a16="http://schemas.microsoft.com/office/drawing/2014/main" id="{F6B9715B-A43C-A85D-5BF6-DAD0E6B1749D}"/>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38942494-302E-1864-2AAF-C466E8C5DEE4}"/>
              </a:ext>
            </a:extLst>
          </p:cNvPr>
          <p:cNvGrpSpPr/>
          <p:nvPr/>
        </p:nvGrpSpPr>
        <p:grpSpPr>
          <a:xfrm>
            <a:off x="7718812" y="4190436"/>
            <a:ext cx="2681136" cy="3133795"/>
            <a:chOff x="0" y="0"/>
            <a:chExt cx="3574848" cy="4178394"/>
          </a:xfrm>
        </p:grpSpPr>
        <p:sp>
          <p:nvSpPr>
            <p:cNvPr id="11" name="Freeform 11">
              <a:extLst>
                <a:ext uri="{FF2B5EF4-FFF2-40B4-BE49-F238E27FC236}">
                  <a16:creationId xmlns:a16="http://schemas.microsoft.com/office/drawing/2014/main" id="{81E1D02B-5C87-B176-E67F-521FB2CE83F0}"/>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2082A78F-ACA4-EA6E-81AC-F237F097D159}"/>
              </a:ext>
            </a:extLst>
          </p:cNvPr>
          <p:cNvGrpSpPr/>
          <p:nvPr/>
        </p:nvGrpSpPr>
        <p:grpSpPr>
          <a:xfrm>
            <a:off x="8116180" y="1"/>
            <a:ext cx="2285734" cy="7324231"/>
            <a:chOff x="0" y="0"/>
            <a:chExt cx="3047646" cy="9765642"/>
          </a:xfrm>
        </p:grpSpPr>
        <p:sp>
          <p:nvSpPr>
            <p:cNvPr id="13" name="Freeform 13">
              <a:extLst>
                <a:ext uri="{FF2B5EF4-FFF2-40B4-BE49-F238E27FC236}">
                  <a16:creationId xmlns:a16="http://schemas.microsoft.com/office/drawing/2014/main" id="{78DF9E8A-E805-5979-3701-0A17B6309B51}"/>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D4636685-1CF0-3EC0-6CC3-B92E7549ACFC}"/>
              </a:ext>
            </a:extLst>
          </p:cNvPr>
          <p:cNvGrpSpPr/>
          <p:nvPr/>
        </p:nvGrpSpPr>
        <p:grpSpPr>
          <a:xfrm>
            <a:off x="9487217" y="1"/>
            <a:ext cx="914699" cy="7324231"/>
            <a:chOff x="0" y="0"/>
            <a:chExt cx="1219598" cy="9765642"/>
          </a:xfrm>
        </p:grpSpPr>
        <p:sp>
          <p:nvSpPr>
            <p:cNvPr id="15" name="Freeform 15">
              <a:extLst>
                <a:ext uri="{FF2B5EF4-FFF2-40B4-BE49-F238E27FC236}">
                  <a16:creationId xmlns:a16="http://schemas.microsoft.com/office/drawing/2014/main" id="{53A91DFA-E944-2D81-1E7E-FED2CF838B2D}"/>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88230999-A927-A8F4-9463-655E508267EB}"/>
              </a:ext>
            </a:extLst>
          </p:cNvPr>
          <p:cNvGrpSpPr/>
          <p:nvPr/>
        </p:nvGrpSpPr>
        <p:grpSpPr>
          <a:xfrm>
            <a:off x="9272165" y="0"/>
            <a:ext cx="1137888" cy="7324231"/>
            <a:chOff x="0" y="0"/>
            <a:chExt cx="1517184" cy="9765642"/>
          </a:xfrm>
        </p:grpSpPr>
        <p:sp>
          <p:nvSpPr>
            <p:cNvPr id="17" name="Freeform 17">
              <a:extLst>
                <a:ext uri="{FF2B5EF4-FFF2-40B4-BE49-F238E27FC236}">
                  <a16:creationId xmlns:a16="http://schemas.microsoft.com/office/drawing/2014/main" id="{87B6A5F4-F7C1-9D6C-22D6-58A41B176E28}"/>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3AB174D7-0FBD-559E-5F36-9FC4D04ADAA4}"/>
              </a:ext>
            </a:extLst>
          </p:cNvPr>
          <p:cNvGrpSpPr/>
          <p:nvPr/>
        </p:nvGrpSpPr>
        <p:grpSpPr>
          <a:xfrm>
            <a:off x="9245071" y="5229014"/>
            <a:ext cx="1167025" cy="2095218"/>
            <a:chOff x="0" y="0"/>
            <a:chExt cx="1556033" cy="2793624"/>
          </a:xfrm>
        </p:grpSpPr>
        <p:sp>
          <p:nvSpPr>
            <p:cNvPr id="19" name="Freeform 19">
              <a:extLst>
                <a:ext uri="{FF2B5EF4-FFF2-40B4-BE49-F238E27FC236}">
                  <a16:creationId xmlns:a16="http://schemas.microsoft.com/office/drawing/2014/main" id="{4698F3D5-4245-04E2-7077-581C0BA74176}"/>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sp>
        <p:nvSpPr>
          <p:cNvPr id="20" name="AutoShape 20">
            <a:extLst>
              <a:ext uri="{FF2B5EF4-FFF2-40B4-BE49-F238E27FC236}">
                <a16:creationId xmlns:a16="http://schemas.microsoft.com/office/drawing/2014/main" id="{5DFED623-B834-7266-3478-513396E87708}"/>
              </a:ext>
            </a:extLst>
          </p:cNvPr>
          <p:cNvSpPr/>
          <p:nvPr/>
        </p:nvSpPr>
        <p:spPr>
          <a:xfrm flipV="1">
            <a:off x="6106194" y="4462694"/>
            <a:ext cx="4300800" cy="2871382"/>
          </a:xfrm>
          <a:prstGeom prst="line">
            <a:avLst/>
          </a:prstGeom>
          <a:ln w="9525" cap="rnd">
            <a:solidFill>
              <a:srgbClr val="5FCBEF"/>
            </a:solidFill>
            <a:prstDash val="solid"/>
            <a:headEnd type="none" w="sm" len="sm"/>
            <a:tailEnd type="none" w="sm" len="sm"/>
          </a:ln>
        </p:spPr>
      </p:sp>
      <p:sp>
        <p:nvSpPr>
          <p:cNvPr id="21" name="AutoShape 21">
            <a:extLst>
              <a:ext uri="{FF2B5EF4-FFF2-40B4-BE49-F238E27FC236}">
                <a16:creationId xmlns:a16="http://schemas.microsoft.com/office/drawing/2014/main" id="{509D8558-AAD7-A2A9-DB4B-EE833B06E1CB}"/>
              </a:ext>
            </a:extLst>
          </p:cNvPr>
          <p:cNvSpPr/>
          <p:nvPr/>
        </p:nvSpPr>
        <p:spPr>
          <a:xfrm>
            <a:off x="8145530" y="8715"/>
            <a:ext cx="1310640" cy="7325360"/>
          </a:xfrm>
          <a:prstGeom prst="line">
            <a:avLst/>
          </a:prstGeom>
          <a:ln w="9525" cap="rnd">
            <a:solidFill>
              <a:srgbClr val="5FCBEF"/>
            </a:solidFill>
            <a:prstDash val="solid"/>
            <a:headEnd type="none" w="sm" len="sm"/>
            <a:tailEnd type="none" w="sm" len="sm"/>
          </a:ln>
        </p:spPr>
      </p:sp>
      <p:grpSp>
        <p:nvGrpSpPr>
          <p:cNvPr id="22" name="Group 22">
            <a:extLst>
              <a:ext uri="{FF2B5EF4-FFF2-40B4-BE49-F238E27FC236}">
                <a16:creationId xmlns:a16="http://schemas.microsoft.com/office/drawing/2014/main" id="{035EC7F4-D737-7913-64F8-89B6B6C7B34B}"/>
              </a:ext>
            </a:extLst>
          </p:cNvPr>
          <p:cNvGrpSpPr/>
          <p:nvPr/>
        </p:nvGrpSpPr>
        <p:grpSpPr>
          <a:xfrm>
            <a:off x="7989745" y="9034"/>
            <a:ext cx="2420738" cy="7324230"/>
            <a:chOff x="0" y="0"/>
            <a:chExt cx="3227651" cy="9765641"/>
          </a:xfrm>
        </p:grpSpPr>
        <p:sp>
          <p:nvSpPr>
            <p:cNvPr id="23" name="Freeform 23">
              <a:extLst>
                <a:ext uri="{FF2B5EF4-FFF2-40B4-BE49-F238E27FC236}">
                  <a16:creationId xmlns:a16="http://schemas.microsoft.com/office/drawing/2014/main" id="{278D1C7D-F09F-8BBA-CD3B-6D20C5FF1ECA}"/>
                </a:ext>
              </a:extLst>
            </p:cNvPr>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24" name="Group 24">
            <a:extLst>
              <a:ext uri="{FF2B5EF4-FFF2-40B4-BE49-F238E27FC236}">
                <a16:creationId xmlns:a16="http://schemas.microsoft.com/office/drawing/2014/main" id="{119F5013-3B4C-627C-8356-79D00741DD9B}"/>
              </a:ext>
            </a:extLst>
          </p:cNvPr>
          <p:cNvGrpSpPr/>
          <p:nvPr/>
        </p:nvGrpSpPr>
        <p:grpSpPr>
          <a:xfrm>
            <a:off x="8323891" y="1"/>
            <a:ext cx="2078023" cy="7324231"/>
            <a:chOff x="0" y="0"/>
            <a:chExt cx="2770698" cy="9765642"/>
          </a:xfrm>
        </p:grpSpPr>
        <p:sp>
          <p:nvSpPr>
            <p:cNvPr id="25" name="Freeform 25">
              <a:extLst>
                <a:ext uri="{FF2B5EF4-FFF2-40B4-BE49-F238E27FC236}">
                  <a16:creationId xmlns:a16="http://schemas.microsoft.com/office/drawing/2014/main" id="{41159A72-1691-A6D2-B303-A446B85DE61B}"/>
                </a:ext>
              </a:extLst>
            </p:cNvPr>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26" name="Group 26">
            <a:extLst>
              <a:ext uri="{FF2B5EF4-FFF2-40B4-BE49-F238E27FC236}">
                <a16:creationId xmlns:a16="http://schemas.microsoft.com/office/drawing/2014/main" id="{794250E3-DAAB-4C23-0AF4-3B8573BA04D4}"/>
              </a:ext>
            </a:extLst>
          </p:cNvPr>
          <p:cNvGrpSpPr/>
          <p:nvPr/>
        </p:nvGrpSpPr>
        <p:grpSpPr>
          <a:xfrm>
            <a:off x="7718812" y="4190436"/>
            <a:ext cx="2681136" cy="3133795"/>
            <a:chOff x="0" y="0"/>
            <a:chExt cx="3574848" cy="4178394"/>
          </a:xfrm>
        </p:grpSpPr>
        <p:sp>
          <p:nvSpPr>
            <p:cNvPr id="27" name="Freeform 27">
              <a:extLst>
                <a:ext uri="{FF2B5EF4-FFF2-40B4-BE49-F238E27FC236}">
                  <a16:creationId xmlns:a16="http://schemas.microsoft.com/office/drawing/2014/main" id="{77EEC660-B35E-ECB8-A6DD-01EB3DC828B8}"/>
                </a:ext>
              </a:extLst>
            </p:cNvPr>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28" name="Group 28">
            <a:extLst>
              <a:ext uri="{FF2B5EF4-FFF2-40B4-BE49-F238E27FC236}">
                <a16:creationId xmlns:a16="http://schemas.microsoft.com/office/drawing/2014/main" id="{5C05CB33-A412-39AE-A67A-DB313BF58E55}"/>
              </a:ext>
            </a:extLst>
          </p:cNvPr>
          <p:cNvGrpSpPr/>
          <p:nvPr/>
        </p:nvGrpSpPr>
        <p:grpSpPr>
          <a:xfrm>
            <a:off x="8116180" y="1"/>
            <a:ext cx="2285734" cy="7324231"/>
            <a:chOff x="0" y="0"/>
            <a:chExt cx="3047646" cy="9765642"/>
          </a:xfrm>
        </p:grpSpPr>
        <p:sp>
          <p:nvSpPr>
            <p:cNvPr id="29" name="Freeform 29">
              <a:extLst>
                <a:ext uri="{FF2B5EF4-FFF2-40B4-BE49-F238E27FC236}">
                  <a16:creationId xmlns:a16="http://schemas.microsoft.com/office/drawing/2014/main" id="{6D250E4D-A7A7-0C44-6589-55F4757BAD74}"/>
                </a:ext>
              </a:extLst>
            </p:cNvPr>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30" name="Group 30">
            <a:extLst>
              <a:ext uri="{FF2B5EF4-FFF2-40B4-BE49-F238E27FC236}">
                <a16:creationId xmlns:a16="http://schemas.microsoft.com/office/drawing/2014/main" id="{62DA04C3-E326-40A0-B88E-B9BC3E4CD340}"/>
              </a:ext>
            </a:extLst>
          </p:cNvPr>
          <p:cNvGrpSpPr/>
          <p:nvPr/>
        </p:nvGrpSpPr>
        <p:grpSpPr>
          <a:xfrm>
            <a:off x="9487217" y="1"/>
            <a:ext cx="914699" cy="7324231"/>
            <a:chOff x="0" y="0"/>
            <a:chExt cx="1219598" cy="9765642"/>
          </a:xfrm>
        </p:grpSpPr>
        <p:sp>
          <p:nvSpPr>
            <p:cNvPr id="31" name="Freeform 31">
              <a:extLst>
                <a:ext uri="{FF2B5EF4-FFF2-40B4-BE49-F238E27FC236}">
                  <a16:creationId xmlns:a16="http://schemas.microsoft.com/office/drawing/2014/main" id="{8C3B08DB-DF6C-08AE-3919-3CBE1FC2DF29}"/>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32" name="Group 32">
            <a:extLst>
              <a:ext uri="{FF2B5EF4-FFF2-40B4-BE49-F238E27FC236}">
                <a16:creationId xmlns:a16="http://schemas.microsoft.com/office/drawing/2014/main" id="{0EF23D32-5782-880C-1016-F5093ACC15DA}"/>
              </a:ext>
            </a:extLst>
          </p:cNvPr>
          <p:cNvGrpSpPr/>
          <p:nvPr/>
        </p:nvGrpSpPr>
        <p:grpSpPr>
          <a:xfrm>
            <a:off x="9272165" y="0"/>
            <a:ext cx="1137888" cy="7324231"/>
            <a:chOff x="0" y="0"/>
            <a:chExt cx="1517184" cy="9765642"/>
          </a:xfrm>
        </p:grpSpPr>
        <p:sp>
          <p:nvSpPr>
            <p:cNvPr id="33" name="Freeform 33">
              <a:extLst>
                <a:ext uri="{FF2B5EF4-FFF2-40B4-BE49-F238E27FC236}">
                  <a16:creationId xmlns:a16="http://schemas.microsoft.com/office/drawing/2014/main" id="{F3C85059-ABD4-F9E4-7995-346EC67E9B40}"/>
                </a:ext>
              </a:extLst>
            </p:cNvPr>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34" name="Group 34">
            <a:extLst>
              <a:ext uri="{FF2B5EF4-FFF2-40B4-BE49-F238E27FC236}">
                <a16:creationId xmlns:a16="http://schemas.microsoft.com/office/drawing/2014/main" id="{BAD533C6-1436-0743-C47F-C7B83856A1C5}"/>
              </a:ext>
            </a:extLst>
          </p:cNvPr>
          <p:cNvGrpSpPr/>
          <p:nvPr/>
        </p:nvGrpSpPr>
        <p:grpSpPr>
          <a:xfrm>
            <a:off x="9245071" y="5229014"/>
            <a:ext cx="1167025" cy="2095218"/>
            <a:chOff x="0" y="0"/>
            <a:chExt cx="1556033" cy="2793624"/>
          </a:xfrm>
        </p:grpSpPr>
        <p:sp>
          <p:nvSpPr>
            <p:cNvPr id="35" name="Freeform 35">
              <a:extLst>
                <a:ext uri="{FF2B5EF4-FFF2-40B4-BE49-F238E27FC236}">
                  <a16:creationId xmlns:a16="http://schemas.microsoft.com/office/drawing/2014/main" id="{72679534-8DC1-82C4-9F31-9C10BF9B219F}"/>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36" name="Group 36">
            <a:extLst>
              <a:ext uri="{FF2B5EF4-FFF2-40B4-BE49-F238E27FC236}">
                <a16:creationId xmlns:a16="http://schemas.microsoft.com/office/drawing/2014/main" id="{344B9E81-415E-A8EC-BA2D-4FBF565D30BA}"/>
              </a:ext>
            </a:extLst>
          </p:cNvPr>
          <p:cNvGrpSpPr/>
          <p:nvPr/>
        </p:nvGrpSpPr>
        <p:grpSpPr>
          <a:xfrm>
            <a:off x="-9030" y="-9033"/>
            <a:ext cx="921173" cy="6077938"/>
            <a:chOff x="0" y="0"/>
            <a:chExt cx="1228231" cy="8103918"/>
          </a:xfrm>
        </p:grpSpPr>
        <p:sp>
          <p:nvSpPr>
            <p:cNvPr id="37" name="Freeform 37">
              <a:extLst>
                <a:ext uri="{FF2B5EF4-FFF2-40B4-BE49-F238E27FC236}">
                  <a16:creationId xmlns:a16="http://schemas.microsoft.com/office/drawing/2014/main" id="{C4F4129B-808B-6839-4E3F-9C4604ADA579}"/>
                </a:ext>
              </a:extLst>
            </p:cNvPr>
            <p:cNvSpPr/>
            <p:nvPr/>
          </p:nvSpPr>
          <p:spPr>
            <a:xfrm>
              <a:off x="0" y="0"/>
              <a:ext cx="1228217" cy="8103870"/>
            </a:xfrm>
            <a:custGeom>
              <a:avLst/>
              <a:gdLst/>
              <a:ahLst/>
              <a:cxnLst/>
              <a:rect l="l" t="t" r="r" b="b"/>
              <a:pathLst>
                <a:path w="1228217" h="8103870">
                  <a:moveTo>
                    <a:pt x="0" y="12065"/>
                  </a:moveTo>
                  <a:lnTo>
                    <a:pt x="1228217" y="0"/>
                  </a:lnTo>
                  <a:lnTo>
                    <a:pt x="1228217" y="24130"/>
                  </a:lnTo>
                  <a:lnTo>
                    <a:pt x="0" y="8103870"/>
                  </a:lnTo>
                  <a:lnTo>
                    <a:pt x="0" y="12065"/>
                  </a:lnTo>
                  <a:close/>
                </a:path>
              </a:pathLst>
            </a:custGeom>
            <a:solidFill>
              <a:srgbClr val="5FCBEF">
                <a:alpha val="72157"/>
              </a:srgbClr>
            </a:solidFill>
          </p:spPr>
        </p:sp>
      </p:grpSp>
      <p:grpSp>
        <p:nvGrpSpPr>
          <p:cNvPr id="45" name="Group 18">
            <a:extLst>
              <a:ext uri="{FF2B5EF4-FFF2-40B4-BE49-F238E27FC236}">
                <a16:creationId xmlns:a16="http://schemas.microsoft.com/office/drawing/2014/main" id="{76382528-A230-1B02-FC95-BF8284D19D8B}"/>
              </a:ext>
            </a:extLst>
          </p:cNvPr>
          <p:cNvGrpSpPr/>
          <p:nvPr/>
        </p:nvGrpSpPr>
        <p:grpSpPr>
          <a:xfrm>
            <a:off x="1127185" y="1597968"/>
            <a:ext cx="8020884" cy="2059632"/>
            <a:chOff x="-1157963" y="-867706"/>
            <a:chExt cx="10694513" cy="2746177"/>
          </a:xfrm>
        </p:grpSpPr>
        <p:sp>
          <p:nvSpPr>
            <p:cNvPr id="46" name="Freeform 19">
              <a:extLst>
                <a:ext uri="{FF2B5EF4-FFF2-40B4-BE49-F238E27FC236}">
                  <a16:creationId xmlns:a16="http://schemas.microsoft.com/office/drawing/2014/main" id="{93E6F5CC-7598-8A24-F829-94146D5C67A8}"/>
                </a:ext>
              </a:extLst>
            </p:cNvPr>
            <p:cNvSpPr/>
            <p:nvPr/>
          </p:nvSpPr>
          <p:spPr>
            <a:xfrm>
              <a:off x="0" y="0"/>
              <a:ext cx="9536550" cy="1878471"/>
            </a:xfrm>
            <a:custGeom>
              <a:avLst/>
              <a:gdLst/>
              <a:ahLst/>
              <a:cxnLst/>
              <a:rect l="l" t="t" r="r" b="b"/>
              <a:pathLst>
                <a:path w="9536550" h="1878471">
                  <a:moveTo>
                    <a:pt x="0" y="0"/>
                  </a:moveTo>
                  <a:lnTo>
                    <a:pt x="9536550" y="0"/>
                  </a:lnTo>
                  <a:lnTo>
                    <a:pt x="9536550" y="1878471"/>
                  </a:lnTo>
                  <a:lnTo>
                    <a:pt x="0" y="1878471"/>
                  </a:lnTo>
                  <a:close/>
                </a:path>
              </a:pathLst>
            </a:custGeom>
            <a:solidFill>
              <a:srgbClr val="000000">
                <a:alpha val="0"/>
              </a:srgbClr>
            </a:solidFill>
          </p:spPr>
        </p:sp>
        <p:sp>
          <p:nvSpPr>
            <p:cNvPr id="47" name="TextBox 20">
              <a:extLst>
                <a:ext uri="{FF2B5EF4-FFF2-40B4-BE49-F238E27FC236}">
                  <a16:creationId xmlns:a16="http://schemas.microsoft.com/office/drawing/2014/main" id="{1900A962-ECBC-C104-C82F-FA2C98554BFB}"/>
                </a:ext>
              </a:extLst>
            </p:cNvPr>
            <p:cNvSpPr txBox="1"/>
            <p:nvPr/>
          </p:nvSpPr>
          <p:spPr>
            <a:xfrm>
              <a:off x="-1157963" y="-867706"/>
              <a:ext cx="9536550" cy="1887996"/>
            </a:xfrm>
            <a:prstGeom prst="rect">
              <a:avLst/>
            </a:prstGeom>
          </p:spPr>
          <p:txBody>
            <a:bodyPr lIns="0" tIns="0" rIns="0" bIns="0" rtlCol="0" anchor="t"/>
            <a:lstStyle/>
            <a:p>
              <a:pPr algn="l">
                <a:lnSpc>
                  <a:spcPts val="4967"/>
                </a:lnSpc>
              </a:pPr>
              <a:r>
                <a:rPr lang="en-US" sz="4800" dirty="0">
                  <a:solidFill>
                    <a:srgbClr val="5FCBEF"/>
                  </a:solidFill>
                  <a:latin typeface="Trebuchet MS"/>
                  <a:ea typeface="Trebuchet MS"/>
                  <a:cs typeface="Trebuchet MS"/>
                  <a:sym typeface="Trebuchet MS"/>
                </a:rPr>
                <a:t>WEBSITE OVERVIEW</a:t>
              </a:r>
            </a:p>
          </p:txBody>
        </p:sp>
      </p:grpSp>
      <p:sp>
        <p:nvSpPr>
          <p:cNvPr id="39" name="TextBox 38">
            <a:extLst>
              <a:ext uri="{FF2B5EF4-FFF2-40B4-BE49-F238E27FC236}">
                <a16:creationId xmlns:a16="http://schemas.microsoft.com/office/drawing/2014/main" id="{6223C0CF-9B4F-88E8-CCE6-8533463E310A}"/>
              </a:ext>
            </a:extLst>
          </p:cNvPr>
          <p:cNvSpPr txBox="1"/>
          <p:nvPr/>
        </p:nvSpPr>
        <p:spPr>
          <a:xfrm>
            <a:off x="1114008" y="2715479"/>
            <a:ext cx="6867484" cy="2677656"/>
          </a:xfrm>
          <a:prstGeom prst="rect">
            <a:avLst/>
          </a:prstGeom>
          <a:noFill/>
        </p:spPr>
        <p:txBody>
          <a:bodyPr wrap="square">
            <a:spAutoFit/>
          </a:bodyPr>
          <a:lstStyle/>
          <a:p>
            <a:pPr algn="just"/>
            <a:r>
              <a:rPr lang="en-US" sz="2400" dirty="0" err="1">
                <a:solidFill>
                  <a:schemeClr val="accent5">
                    <a:lumMod val="75000"/>
                  </a:schemeClr>
                </a:solidFill>
              </a:rPr>
              <a:t>PatchEZ</a:t>
            </a:r>
            <a:r>
              <a:rPr lang="en-US" sz="2400" dirty="0">
                <a:solidFill>
                  <a:schemeClr val="accent5">
                    <a:lumMod val="75000"/>
                  </a:schemeClr>
                </a:solidFill>
              </a:rPr>
              <a:t> is a web application designed to support a wearable iontophoresis-based drug delivery system. It provides users with real-time tracking, stress level monitoring, and device status updates. The platform ensures an efficient and controlled drug delivery process while integrating machine learning for stress detection.</a:t>
            </a:r>
            <a:endParaRPr lang="en-IN" sz="2400" dirty="0">
              <a:solidFill>
                <a:schemeClr val="accent5">
                  <a:lumMod val="75000"/>
                </a:schemeClr>
              </a:solidFill>
            </a:endParaRPr>
          </a:p>
        </p:txBody>
      </p:sp>
    </p:spTree>
    <p:extLst>
      <p:ext uri="{BB962C8B-B14F-4D97-AF65-F5344CB8AC3E}">
        <p14:creationId xmlns:p14="http://schemas.microsoft.com/office/powerpoint/2010/main" val="3496566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169-99A5-14DC-4D37-30AD2EB20A9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601D899-6DD3-D218-6B74-A45058E10F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410332"/>
            <a:ext cx="8991600" cy="6494535"/>
          </a:xfrm>
          <a:prstGeom prst="rect">
            <a:avLst/>
          </a:prstGeom>
        </p:spPr>
      </p:pic>
      <p:sp>
        <p:nvSpPr>
          <p:cNvPr id="5" name="Oval 4">
            <a:extLst>
              <a:ext uri="{FF2B5EF4-FFF2-40B4-BE49-F238E27FC236}">
                <a16:creationId xmlns:a16="http://schemas.microsoft.com/office/drawing/2014/main" id="{D3C3A41A-AD3B-DBC6-C62D-1D55E71EFD28}"/>
              </a:ext>
            </a:extLst>
          </p:cNvPr>
          <p:cNvSpPr/>
          <p:nvPr/>
        </p:nvSpPr>
        <p:spPr>
          <a:xfrm>
            <a:off x="7239000" y="457200"/>
            <a:ext cx="609600" cy="304800"/>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spTree>
    <p:extLst>
      <p:ext uri="{BB962C8B-B14F-4D97-AF65-F5344CB8AC3E}">
        <p14:creationId xmlns:p14="http://schemas.microsoft.com/office/powerpoint/2010/main" val="4843079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AB6FB-2F0A-5633-A579-45DF16DFC9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3ACC370-9428-3F94-1F19-C6BB5D056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888" y="451691"/>
            <a:ext cx="9089823" cy="6411817"/>
          </a:xfrm>
          <a:prstGeom prst="rect">
            <a:avLst/>
          </a:prstGeom>
        </p:spPr>
      </p:pic>
      <p:sp>
        <p:nvSpPr>
          <p:cNvPr id="4" name="Oval 3">
            <a:extLst>
              <a:ext uri="{FF2B5EF4-FFF2-40B4-BE49-F238E27FC236}">
                <a16:creationId xmlns:a16="http://schemas.microsoft.com/office/drawing/2014/main" id="{E29046F8-2076-6771-0D8D-AE8C12931807}"/>
              </a:ext>
            </a:extLst>
          </p:cNvPr>
          <p:cNvSpPr/>
          <p:nvPr/>
        </p:nvSpPr>
        <p:spPr>
          <a:xfrm>
            <a:off x="7772400" y="451691"/>
            <a:ext cx="609600" cy="304800"/>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spTree>
    <p:extLst>
      <p:ext uri="{BB962C8B-B14F-4D97-AF65-F5344CB8AC3E}">
        <p14:creationId xmlns:p14="http://schemas.microsoft.com/office/powerpoint/2010/main" val="30178834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6DF8A-C280-2AF7-C7C1-2C66D4AB8B5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40B1174-AF97-4551-1863-A40E06FD88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261" y="446181"/>
            <a:ext cx="9221078" cy="6203660"/>
          </a:xfrm>
          <a:prstGeom prst="rect">
            <a:avLst/>
          </a:prstGeom>
        </p:spPr>
      </p:pic>
      <p:sp>
        <p:nvSpPr>
          <p:cNvPr id="4" name="Oval 3">
            <a:extLst>
              <a:ext uri="{FF2B5EF4-FFF2-40B4-BE49-F238E27FC236}">
                <a16:creationId xmlns:a16="http://schemas.microsoft.com/office/drawing/2014/main" id="{4B57A75F-E376-E2B3-DD00-0774F411F6DF}"/>
              </a:ext>
            </a:extLst>
          </p:cNvPr>
          <p:cNvSpPr/>
          <p:nvPr/>
        </p:nvSpPr>
        <p:spPr>
          <a:xfrm>
            <a:off x="8229600" y="512959"/>
            <a:ext cx="609600" cy="304800"/>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dirty="0"/>
          </a:p>
        </p:txBody>
      </p:sp>
    </p:spTree>
    <p:extLst>
      <p:ext uri="{BB962C8B-B14F-4D97-AF65-F5344CB8AC3E}">
        <p14:creationId xmlns:p14="http://schemas.microsoft.com/office/powerpoint/2010/main" val="4429773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F6378E-8DF1-BB25-BF9F-698E0A6068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262" y="615043"/>
            <a:ext cx="9061076" cy="6085114"/>
          </a:xfrm>
          <a:prstGeom prst="rect">
            <a:avLst/>
          </a:prstGeom>
        </p:spPr>
      </p:pic>
      <p:sp>
        <p:nvSpPr>
          <p:cNvPr id="4" name="Oval 3">
            <a:extLst>
              <a:ext uri="{FF2B5EF4-FFF2-40B4-BE49-F238E27FC236}">
                <a16:creationId xmlns:a16="http://schemas.microsoft.com/office/drawing/2014/main" id="{61DFCE4B-AD53-C1C4-61E9-FA8D03ACDB60}"/>
              </a:ext>
            </a:extLst>
          </p:cNvPr>
          <p:cNvSpPr/>
          <p:nvPr/>
        </p:nvSpPr>
        <p:spPr>
          <a:xfrm>
            <a:off x="8610600" y="685800"/>
            <a:ext cx="609600" cy="304800"/>
          </a:xfrm>
          <a:prstGeom prst="ellipse">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IN"/>
          </a:p>
        </p:txBody>
      </p:sp>
    </p:spTree>
    <p:extLst>
      <p:ext uri="{BB962C8B-B14F-4D97-AF65-F5344CB8AC3E}">
        <p14:creationId xmlns:p14="http://schemas.microsoft.com/office/powerpoint/2010/main" val="135400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a:off x="8193508" y="840"/>
            <a:ext cx="1310640" cy="7325360"/>
          </a:xfrm>
          <a:prstGeom prst="line">
            <a:avLst/>
          </a:prstGeom>
          <a:ln w="9525" cap="rnd">
            <a:solidFill>
              <a:srgbClr val="5FCBEF"/>
            </a:solidFill>
            <a:prstDash val="solid"/>
            <a:headEnd type="none" w="sm" len="sm"/>
            <a:tailEnd type="none" w="sm" len="sm"/>
          </a:ln>
        </p:spPr>
      </p:sp>
      <p:grpSp>
        <p:nvGrpSpPr>
          <p:cNvPr id="5" name="Group 5"/>
          <p:cNvGrpSpPr/>
          <p:nvPr/>
        </p:nvGrpSpPr>
        <p:grpSpPr>
          <a:xfrm>
            <a:off x="8561725" y="1"/>
            <a:ext cx="1210369" cy="7324230"/>
            <a:chOff x="0" y="0"/>
            <a:chExt cx="1613825" cy="9765641"/>
          </a:xfrm>
        </p:grpSpPr>
        <p:sp>
          <p:nvSpPr>
            <p:cNvPr id="6" name="Freeform 6"/>
            <p:cNvSpPr/>
            <p:nvPr/>
          </p:nvSpPr>
          <p:spPr>
            <a:xfrm>
              <a:off x="0" y="0"/>
              <a:ext cx="1617309" cy="9765665"/>
            </a:xfrm>
            <a:custGeom>
              <a:avLst/>
              <a:gdLst/>
              <a:ahLst/>
              <a:cxnLst/>
              <a:rect l="l" t="t" r="r" b="b"/>
              <a:pathLst>
                <a:path w="1617309" h="9765665">
                  <a:moveTo>
                    <a:pt x="1438974" y="0"/>
                  </a:moveTo>
                  <a:lnTo>
                    <a:pt x="0" y="9753600"/>
                  </a:lnTo>
                  <a:lnTo>
                    <a:pt x="1613535" y="9765665"/>
                  </a:lnTo>
                  <a:cubicBezTo>
                    <a:pt x="1617309" y="6514465"/>
                    <a:pt x="1605534" y="3263265"/>
                    <a:pt x="1607503" y="12065"/>
                  </a:cubicBezTo>
                  <a:lnTo>
                    <a:pt x="1438974" y="0"/>
                  </a:lnTo>
                  <a:close/>
                </a:path>
              </a:pathLst>
            </a:custGeom>
            <a:solidFill>
              <a:srgbClr val="5FCBEF">
                <a:alpha val="12941"/>
              </a:srgbClr>
            </a:solidFill>
          </p:spPr>
        </p:sp>
      </p:grpSp>
      <p:grpSp>
        <p:nvGrpSpPr>
          <p:cNvPr id="7" name="Group 7"/>
          <p:cNvGrpSpPr/>
          <p:nvPr/>
        </p:nvGrpSpPr>
        <p:grpSpPr>
          <a:xfrm>
            <a:off x="8561725" y="-9031"/>
            <a:ext cx="1201801" cy="7324231"/>
            <a:chOff x="0" y="0"/>
            <a:chExt cx="1602401" cy="9765642"/>
          </a:xfrm>
        </p:grpSpPr>
        <p:sp>
          <p:nvSpPr>
            <p:cNvPr id="8" name="Freeform 8"/>
            <p:cNvSpPr/>
            <p:nvPr/>
          </p:nvSpPr>
          <p:spPr>
            <a:xfrm>
              <a:off x="0" y="0"/>
              <a:ext cx="1605383" cy="9765665"/>
            </a:xfrm>
            <a:custGeom>
              <a:avLst/>
              <a:gdLst/>
              <a:ahLst/>
              <a:cxnLst/>
              <a:rect l="l" t="t" r="r" b="b"/>
              <a:pathLst>
                <a:path w="1605383" h="9765665">
                  <a:moveTo>
                    <a:pt x="0" y="0"/>
                  </a:moveTo>
                  <a:lnTo>
                    <a:pt x="988917" y="9765665"/>
                  </a:lnTo>
                  <a:lnTo>
                    <a:pt x="1601775" y="9765665"/>
                  </a:lnTo>
                  <a:cubicBezTo>
                    <a:pt x="1599425" y="6510401"/>
                    <a:pt x="1605383" y="3255264"/>
                    <a:pt x="1601775" y="0"/>
                  </a:cubicBezTo>
                  <a:lnTo>
                    <a:pt x="0" y="0"/>
                  </a:lnTo>
                  <a:close/>
                </a:path>
              </a:pathLst>
            </a:custGeom>
            <a:solidFill>
              <a:srgbClr val="5FCBEF">
                <a:alpha val="3922"/>
              </a:srgbClr>
            </a:solidFill>
          </p:spPr>
        </p:sp>
      </p:grpSp>
      <p:grpSp>
        <p:nvGrpSpPr>
          <p:cNvPr id="9" name="Group 9"/>
          <p:cNvGrpSpPr/>
          <p:nvPr/>
        </p:nvGrpSpPr>
        <p:grpSpPr>
          <a:xfrm>
            <a:off x="8561725" y="4181404"/>
            <a:ext cx="1199834" cy="3133795"/>
            <a:chOff x="0" y="0"/>
            <a:chExt cx="1599778" cy="4178394"/>
          </a:xfrm>
        </p:grpSpPr>
        <p:sp>
          <p:nvSpPr>
            <p:cNvPr id="10" name="Freeform 10"/>
            <p:cNvSpPr/>
            <p:nvPr/>
          </p:nvSpPr>
          <p:spPr>
            <a:xfrm>
              <a:off x="0" y="0"/>
              <a:ext cx="1599755" cy="4178427"/>
            </a:xfrm>
            <a:custGeom>
              <a:avLst/>
              <a:gdLst/>
              <a:ahLst/>
              <a:cxnLst/>
              <a:rect l="l" t="t" r="r" b="b"/>
              <a:pathLst>
                <a:path w="1599755" h="4178427">
                  <a:moveTo>
                    <a:pt x="0" y="4178427"/>
                  </a:moveTo>
                  <a:lnTo>
                    <a:pt x="1595606" y="0"/>
                  </a:lnTo>
                  <a:cubicBezTo>
                    <a:pt x="1596970" y="1392809"/>
                    <a:pt x="1598391" y="2785618"/>
                    <a:pt x="1599755" y="4178427"/>
                  </a:cubicBezTo>
                  <a:lnTo>
                    <a:pt x="0" y="4178427"/>
                  </a:lnTo>
                  <a:close/>
                </a:path>
              </a:pathLst>
            </a:custGeom>
            <a:solidFill>
              <a:srgbClr val="17B0E4">
                <a:alpha val="43529"/>
              </a:srgbClr>
            </a:solidFill>
          </p:spPr>
        </p:sp>
      </p:grpSp>
      <p:grpSp>
        <p:nvGrpSpPr>
          <p:cNvPr id="11" name="Group 11"/>
          <p:cNvGrpSpPr/>
          <p:nvPr/>
        </p:nvGrpSpPr>
        <p:grpSpPr>
          <a:xfrm>
            <a:off x="8420990" y="-9031"/>
            <a:ext cx="1342535" cy="7324231"/>
            <a:chOff x="0" y="0"/>
            <a:chExt cx="1790047" cy="9765642"/>
          </a:xfrm>
        </p:grpSpPr>
        <p:sp>
          <p:nvSpPr>
            <p:cNvPr id="12" name="Freeform 12"/>
            <p:cNvSpPr/>
            <p:nvPr/>
          </p:nvSpPr>
          <p:spPr>
            <a:xfrm>
              <a:off x="0" y="0"/>
              <a:ext cx="1790031" cy="9765665"/>
            </a:xfrm>
            <a:custGeom>
              <a:avLst/>
              <a:gdLst/>
              <a:ahLst/>
              <a:cxnLst/>
              <a:rect l="l" t="t" r="r" b="b"/>
              <a:pathLst>
                <a:path w="1790031" h="9765665">
                  <a:moveTo>
                    <a:pt x="0" y="0"/>
                  </a:moveTo>
                  <a:lnTo>
                    <a:pt x="1551032" y="9765665"/>
                  </a:lnTo>
                  <a:lnTo>
                    <a:pt x="1790031" y="9753600"/>
                  </a:lnTo>
                  <a:lnTo>
                    <a:pt x="1790031" y="0"/>
                  </a:lnTo>
                  <a:lnTo>
                    <a:pt x="0" y="0"/>
                  </a:lnTo>
                  <a:close/>
                </a:path>
              </a:pathLst>
            </a:custGeom>
            <a:solidFill>
              <a:srgbClr val="17B0E4">
                <a:alpha val="24706"/>
              </a:srgbClr>
            </a:solidFill>
          </p:spPr>
        </p:sp>
      </p:grpSp>
      <p:grpSp>
        <p:nvGrpSpPr>
          <p:cNvPr id="13" name="Group 13"/>
          <p:cNvGrpSpPr/>
          <p:nvPr/>
        </p:nvGrpSpPr>
        <p:grpSpPr>
          <a:xfrm>
            <a:off x="8848828" y="-9031"/>
            <a:ext cx="914699" cy="7324231"/>
            <a:chOff x="0" y="0"/>
            <a:chExt cx="1219598" cy="9765642"/>
          </a:xfrm>
        </p:grpSpPr>
        <p:sp>
          <p:nvSpPr>
            <p:cNvPr id="14" name="Freeform 14"/>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5" name="Group 15"/>
          <p:cNvGrpSpPr/>
          <p:nvPr/>
        </p:nvGrpSpPr>
        <p:grpSpPr>
          <a:xfrm>
            <a:off x="8877943" y="-28979"/>
            <a:ext cx="1137888" cy="7324231"/>
            <a:chOff x="0" y="0"/>
            <a:chExt cx="1517184" cy="9765642"/>
          </a:xfrm>
        </p:grpSpPr>
        <p:sp>
          <p:nvSpPr>
            <p:cNvPr id="16" name="Freeform 16"/>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7" name="Group 17"/>
          <p:cNvGrpSpPr/>
          <p:nvPr/>
        </p:nvGrpSpPr>
        <p:grpSpPr>
          <a:xfrm>
            <a:off x="8606682" y="5219982"/>
            <a:ext cx="1167025" cy="2095218"/>
            <a:chOff x="0" y="0"/>
            <a:chExt cx="1556033" cy="2793624"/>
          </a:xfrm>
        </p:grpSpPr>
        <p:sp>
          <p:nvSpPr>
            <p:cNvPr id="18" name="Freeform 18"/>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19" name="Group 19"/>
          <p:cNvGrpSpPr/>
          <p:nvPr/>
        </p:nvGrpSpPr>
        <p:grpSpPr>
          <a:xfrm>
            <a:off x="478670" y="516179"/>
            <a:ext cx="6793285" cy="903533"/>
            <a:chOff x="28" y="236917"/>
            <a:chExt cx="9057713" cy="1204709"/>
          </a:xfrm>
        </p:grpSpPr>
        <p:sp>
          <p:nvSpPr>
            <p:cNvPr id="20" name="Freeform 20"/>
            <p:cNvSpPr/>
            <p:nvPr/>
          </p:nvSpPr>
          <p:spPr>
            <a:xfrm>
              <a:off x="29883" y="236917"/>
              <a:ext cx="9027858" cy="1048078"/>
            </a:xfrm>
            <a:custGeom>
              <a:avLst/>
              <a:gdLst/>
              <a:ahLst/>
              <a:cxnLst/>
              <a:rect l="l" t="t" r="r" b="b"/>
              <a:pathLst>
                <a:path w="9027858" h="1048078">
                  <a:moveTo>
                    <a:pt x="0" y="0"/>
                  </a:moveTo>
                  <a:lnTo>
                    <a:pt x="9027858" y="0"/>
                  </a:lnTo>
                  <a:lnTo>
                    <a:pt x="9027858" y="1048078"/>
                  </a:lnTo>
                  <a:lnTo>
                    <a:pt x="0" y="1048078"/>
                  </a:lnTo>
                  <a:close/>
                </a:path>
              </a:pathLst>
            </a:custGeom>
            <a:solidFill>
              <a:srgbClr val="000000">
                <a:alpha val="0"/>
              </a:srgbClr>
            </a:solidFill>
          </p:spPr>
        </p:sp>
        <p:sp>
          <p:nvSpPr>
            <p:cNvPr id="21" name="TextBox 21"/>
            <p:cNvSpPr txBox="1"/>
            <p:nvPr/>
          </p:nvSpPr>
          <p:spPr>
            <a:xfrm>
              <a:off x="28" y="384023"/>
              <a:ext cx="9027858" cy="1057603"/>
            </a:xfrm>
            <a:prstGeom prst="rect">
              <a:avLst/>
            </a:prstGeom>
          </p:spPr>
          <p:txBody>
            <a:bodyPr lIns="0" tIns="0" rIns="0" bIns="0" rtlCol="0" anchor="t"/>
            <a:lstStyle/>
            <a:p>
              <a:pPr algn="l">
                <a:lnSpc>
                  <a:spcPts val="4608"/>
                </a:lnSpc>
              </a:pPr>
              <a:r>
                <a:rPr lang="en-US" sz="3840" dirty="0">
                  <a:solidFill>
                    <a:srgbClr val="5FCBEF"/>
                  </a:solidFill>
                  <a:latin typeface="Trebuchet MS" panose="020B0603020202020204" pitchFamily="34" charset="0"/>
                  <a:ea typeface="Trebuchet MS"/>
                  <a:cs typeface="Trebuchet MS"/>
                  <a:sym typeface="Trebuchet MS"/>
                </a:rPr>
                <a:t>REAL-TIME USAGE</a:t>
              </a:r>
            </a:p>
          </p:txBody>
        </p:sp>
      </p:grpSp>
      <p:sp>
        <p:nvSpPr>
          <p:cNvPr id="22" name="TextBox 22"/>
          <p:cNvSpPr txBox="1"/>
          <p:nvPr/>
        </p:nvSpPr>
        <p:spPr>
          <a:xfrm>
            <a:off x="513909" y="1537185"/>
            <a:ext cx="7848907" cy="4911409"/>
          </a:xfrm>
          <a:prstGeom prst="rect">
            <a:avLst/>
          </a:prstGeom>
        </p:spPr>
        <p:txBody>
          <a:bodyPr lIns="0" tIns="0" rIns="0" bIns="0" rtlCol="0" anchor="t">
            <a:spAutoFit/>
          </a:bodyPr>
          <a:lstStyle/>
          <a:p>
            <a:pPr algn="l">
              <a:lnSpc>
                <a:spcPts val="1559"/>
              </a:lnSpc>
            </a:pPr>
            <a:r>
              <a:rPr lang="en-US" sz="1299" b="1" u="sng" dirty="0">
                <a:solidFill>
                  <a:srgbClr val="5FCBEF"/>
                </a:solidFill>
                <a:latin typeface="Trebuchet MS" panose="020B0603020202020204" pitchFamily="34" charset="0"/>
                <a:ea typeface="Trebuchet MS Bold"/>
                <a:cs typeface="Trebuchet MS Bold"/>
                <a:sym typeface="Trebuchet MS Bold"/>
              </a:rPr>
              <a:t>1. ANXIETY &amp; STRESS MANAGEMENT</a:t>
            </a:r>
          </a:p>
          <a:p>
            <a:pPr algn="just">
              <a:lnSpc>
                <a:spcPts val="1559"/>
              </a:lnSpc>
            </a:pPr>
            <a:r>
              <a:rPr lang="en-US" sz="1299" b="1" dirty="0">
                <a:solidFill>
                  <a:srgbClr val="5FCBEF"/>
                </a:solidFill>
                <a:latin typeface="Trebuchet MS" panose="020B0603020202020204" pitchFamily="34" charset="0"/>
                <a:ea typeface="Trebuchet MS Bold"/>
                <a:cs typeface="Trebuchet MS Bold"/>
                <a:sym typeface="Trebuchet MS Bold"/>
              </a:rPr>
              <a:t>Individuals with generalized anxiety disorder (GAD), panic disorder, or PTSD often experience sudden anxiety episodes that require immediate intervention. Traditional medications like benzodiazepines take time to act and require oral intake, which may not be practical during a panic attack.</a:t>
            </a:r>
          </a:p>
          <a:p>
            <a:pPr algn="just">
              <a:lnSpc>
                <a:spcPts val="1559"/>
              </a:lnSpc>
            </a:pPr>
            <a:endParaRPr lang="en-US" sz="1299" b="1" dirty="0">
              <a:solidFill>
                <a:srgbClr val="5FCBEF"/>
              </a:solidFill>
              <a:latin typeface="Trebuchet MS" panose="020B0603020202020204" pitchFamily="34" charset="0"/>
              <a:ea typeface="Trebuchet MS Bold"/>
              <a:cs typeface="Trebuchet MS Bold"/>
              <a:sym typeface="Trebuchet MS Bold"/>
            </a:endParaRPr>
          </a:p>
          <a:p>
            <a:pPr algn="just">
              <a:lnSpc>
                <a:spcPts val="1559"/>
              </a:lnSpc>
            </a:pPr>
            <a:r>
              <a:rPr lang="en-US" sz="1299" b="1" u="sng" dirty="0">
                <a:solidFill>
                  <a:srgbClr val="5FCBEF"/>
                </a:solidFill>
                <a:latin typeface="Trebuchet MS" panose="020B0603020202020204" pitchFamily="34" charset="0"/>
                <a:ea typeface="Trebuchet MS Bold"/>
                <a:cs typeface="Trebuchet MS Bold"/>
                <a:sym typeface="Trebuchet MS Bold"/>
              </a:rPr>
              <a:t>2. CHRONIC PAIN RELIEF</a:t>
            </a:r>
          </a:p>
          <a:p>
            <a:pPr algn="just">
              <a:lnSpc>
                <a:spcPts val="1559"/>
              </a:lnSpc>
            </a:pPr>
            <a:r>
              <a:rPr lang="en-US" sz="1299" b="1" dirty="0">
                <a:solidFill>
                  <a:srgbClr val="5FCBEF"/>
                </a:solidFill>
                <a:latin typeface="Trebuchet MS" panose="020B0603020202020204" pitchFamily="34" charset="0"/>
                <a:ea typeface="Trebuchet MS Bold"/>
                <a:cs typeface="Trebuchet MS Bold"/>
                <a:sym typeface="Trebuchet MS Bold"/>
              </a:rPr>
              <a:t>CHRONIC PAIN CONDITIONS SUCH AS FIBROMYALGIA, ARTHRITIS, AND LOWER BACK PAIN REQUIRE CONSISTENT MEDICATION, BUT TRADITIONAL METHODS LIKE PAINKILLERS HAVE SYSTEMIC SIDE EFFECTS AND RISK OF DEPENDENCY.</a:t>
            </a:r>
          </a:p>
          <a:p>
            <a:pPr algn="just">
              <a:lnSpc>
                <a:spcPts val="1559"/>
              </a:lnSpc>
            </a:pPr>
            <a:endParaRPr lang="en-US" sz="1299" b="1" dirty="0">
              <a:solidFill>
                <a:srgbClr val="5FCBEF"/>
              </a:solidFill>
              <a:latin typeface="Trebuchet MS" panose="020B0603020202020204" pitchFamily="34" charset="0"/>
              <a:ea typeface="Trebuchet MS Bold"/>
              <a:cs typeface="Trebuchet MS Bold"/>
              <a:sym typeface="Trebuchet MS Bold"/>
            </a:endParaRPr>
          </a:p>
          <a:p>
            <a:pPr algn="just">
              <a:lnSpc>
                <a:spcPts val="1559"/>
              </a:lnSpc>
            </a:pPr>
            <a:r>
              <a:rPr lang="en-US" sz="1299" b="1" u="sng" dirty="0">
                <a:solidFill>
                  <a:srgbClr val="5FCBEF"/>
                </a:solidFill>
                <a:latin typeface="Trebuchet MS" panose="020B0603020202020204" pitchFamily="34" charset="0"/>
                <a:ea typeface="Trebuchet MS Bold"/>
                <a:cs typeface="Trebuchet MS Bold"/>
                <a:sym typeface="Trebuchet MS Bold"/>
              </a:rPr>
              <a:t>3. CARDIOVASCULAR HEALTH MONITORING &amp; BLOOD PRESSURE REGULATION</a:t>
            </a:r>
          </a:p>
          <a:p>
            <a:pPr algn="just">
              <a:lnSpc>
                <a:spcPts val="1559"/>
              </a:lnSpc>
            </a:pPr>
            <a:r>
              <a:rPr lang="en-US" sz="1299" b="1" dirty="0">
                <a:solidFill>
                  <a:srgbClr val="5FCBEF"/>
                </a:solidFill>
                <a:latin typeface="Trebuchet MS" panose="020B0603020202020204" pitchFamily="34" charset="0"/>
                <a:ea typeface="Trebuchet MS Bold"/>
                <a:cs typeface="Trebuchet MS Bold"/>
                <a:sym typeface="Trebuchet MS Bold"/>
              </a:rPr>
              <a:t>HIGH BLOOD PRESSURE (HYPERTENSION) IS A LEADING CAUSE OF HEART DISEASE, STROKE, AND KIDNEY FAILURE. MANY PATIENTS EXPERIENCE STRESS-INDUCED HYPERTENSION, REQUIRING IMMEDIATE INTERVENTION TO PREVENT COMPLICATIONS.</a:t>
            </a:r>
          </a:p>
          <a:p>
            <a:pPr algn="just">
              <a:lnSpc>
                <a:spcPts val="1559"/>
              </a:lnSpc>
            </a:pPr>
            <a:endParaRPr lang="en-US" sz="1299" b="1" dirty="0">
              <a:solidFill>
                <a:srgbClr val="5FCBEF"/>
              </a:solidFill>
              <a:latin typeface="Trebuchet MS" panose="020B0603020202020204" pitchFamily="34" charset="0"/>
              <a:ea typeface="Trebuchet MS Bold"/>
              <a:cs typeface="Trebuchet MS Bold"/>
              <a:sym typeface="Trebuchet MS Bold"/>
            </a:endParaRPr>
          </a:p>
          <a:p>
            <a:pPr algn="just">
              <a:lnSpc>
                <a:spcPts val="1559"/>
              </a:lnSpc>
            </a:pPr>
            <a:r>
              <a:rPr lang="en-US" sz="1299" b="1" u="sng" dirty="0">
                <a:solidFill>
                  <a:srgbClr val="5FCBEF"/>
                </a:solidFill>
                <a:latin typeface="Trebuchet MS" panose="020B0603020202020204" pitchFamily="34" charset="0"/>
                <a:ea typeface="Trebuchet MS Bold"/>
                <a:cs typeface="Trebuchet MS Bold"/>
                <a:sym typeface="Trebuchet MS Bold"/>
              </a:rPr>
              <a:t>4. POST-SURGICAL RECOVERY &amp; PAIN MANAGEMENT</a:t>
            </a:r>
          </a:p>
          <a:p>
            <a:pPr algn="just">
              <a:lnSpc>
                <a:spcPts val="1559"/>
              </a:lnSpc>
            </a:pPr>
            <a:r>
              <a:rPr lang="en-US" sz="1299" b="1" dirty="0">
                <a:solidFill>
                  <a:srgbClr val="5FCBEF"/>
                </a:solidFill>
                <a:latin typeface="Trebuchet MS" panose="020B0603020202020204" pitchFamily="34" charset="0"/>
                <a:ea typeface="Trebuchet MS Bold"/>
                <a:cs typeface="Trebuchet MS Bold"/>
                <a:sym typeface="Trebuchet MS Bold"/>
              </a:rPr>
              <a:t>AFTER SURGERY, PAIN MANAGEMENT AND CONTROLLED MEDICATION DOSING ARE CRUCIAL TO PREVENT OPIOID OVERUSE AND COMPLICATIONS SUCH AS DEEP VEIN THROMBOSIS (DVT).</a:t>
            </a:r>
          </a:p>
          <a:p>
            <a:pPr algn="just">
              <a:lnSpc>
                <a:spcPts val="1559"/>
              </a:lnSpc>
            </a:pPr>
            <a:endParaRPr lang="en-US" sz="1299" b="1" dirty="0">
              <a:solidFill>
                <a:srgbClr val="5FCBEF"/>
              </a:solidFill>
              <a:latin typeface="Trebuchet MS" panose="020B0603020202020204" pitchFamily="34" charset="0"/>
              <a:ea typeface="Trebuchet MS Bold"/>
              <a:cs typeface="Trebuchet MS Bold"/>
              <a:sym typeface="Trebuchet MS Bold"/>
            </a:endParaRPr>
          </a:p>
          <a:p>
            <a:pPr algn="just">
              <a:lnSpc>
                <a:spcPts val="1559"/>
              </a:lnSpc>
            </a:pPr>
            <a:r>
              <a:rPr lang="en-US" sz="1299" b="1" u="sng" dirty="0">
                <a:solidFill>
                  <a:srgbClr val="5FCBEF"/>
                </a:solidFill>
                <a:latin typeface="Trebuchet MS" panose="020B0603020202020204" pitchFamily="34" charset="0"/>
                <a:ea typeface="Trebuchet MS Bold"/>
                <a:cs typeface="Trebuchet MS Bold"/>
                <a:sym typeface="Trebuchet MS Bold"/>
              </a:rPr>
              <a:t>5. ATHLETE RECOVERY &amp; PERFORMANCE OPTIMIZATION</a:t>
            </a:r>
          </a:p>
          <a:p>
            <a:pPr algn="just">
              <a:lnSpc>
                <a:spcPts val="1559"/>
              </a:lnSpc>
              <a:spcBef>
                <a:spcPct val="0"/>
              </a:spcBef>
            </a:pPr>
            <a:r>
              <a:rPr lang="en-US" sz="1299" b="1" dirty="0">
                <a:solidFill>
                  <a:srgbClr val="5FCBEF"/>
                </a:solidFill>
                <a:latin typeface="Trebuchet MS" panose="020B0603020202020204" pitchFamily="34" charset="0"/>
                <a:ea typeface="Trebuchet MS Bold"/>
                <a:cs typeface="Trebuchet MS Bold"/>
                <a:sym typeface="Trebuchet MS Bold"/>
              </a:rPr>
              <a:t>PROFESSIONAL ATHLETES FREQUENTLY SUFFER FROM MUSCLE FATIGUE, INFLAMMATION, AND INJURIES THAT REQUIRE IMMEDIATE PAIN RELIEF AND RECOVERY AGENTS. TRADITIONAL ORAL MEDICATIONS ARE SLOW, AND INJECTIONS CAN INTERFERE WITH TRAINING.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rot="-2023717">
            <a:off x="5032586" y="5884590"/>
            <a:ext cx="5171239" cy="0"/>
          </a:xfrm>
          <a:prstGeom prst="line">
            <a:avLst/>
          </a:prstGeom>
          <a:ln w="9525" cap="rnd">
            <a:solidFill>
              <a:srgbClr val="5FCBEF"/>
            </a:solidFill>
            <a:prstDash val="solid"/>
            <a:headEnd type="none" w="sm" len="sm"/>
            <a:tailEnd type="none" w="sm" len="sm"/>
          </a:ln>
        </p:spPr>
      </p:sp>
      <p:sp>
        <p:nvSpPr>
          <p:cNvPr id="5" name="AutoShape 5"/>
          <p:cNvSpPr/>
          <p:nvPr/>
        </p:nvSpPr>
        <p:spPr>
          <a:xfrm rot="4791364">
            <a:off x="4441618" y="3657600"/>
            <a:ext cx="7441685" cy="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7351356" y="1"/>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7685502" y="-9031"/>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7080422" y="4181404"/>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7477791" y="-9031"/>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8848828" y="-9031"/>
            <a:ext cx="914699" cy="7324231"/>
            <a:chOff x="0" y="0"/>
            <a:chExt cx="1219598" cy="9765642"/>
          </a:xfrm>
        </p:grpSpPr>
        <p:sp>
          <p:nvSpPr>
            <p:cNvPr id="15" name="Freeform 15"/>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p:cNvGrpSpPr/>
          <p:nvPr/>
        </p:nvGrpSpPr>
        <p:grpSpPr>
          <a:xfrm>
            <a:off x="8633776" y="-9033"/>
            <a:ext cx="1137888" cy="7324231"/>
            <a:chOff x="0" y="0"/>
            <a:chExt cx="1517184" cy="9765642"/>
          </a:xfrm>
        </p:grpSpPr>
        <p:sp>
          <p:nvSpPr>
            <p:cNvPr id="17" name="Freeform 17"/>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p:cNvGrpSpPr/>
          <p:nvPr/>
        </p:nvGrpSpPr>
        <p:grpSpPr>
          <a:xfrm>
            <a:off x="8606682" y="5219982"/>
            <a:ext cx="1167025" cy="2095218"/>
            <a:chOff x="0" y="0"/>
            <a:chExt cx="1556033" cy="2793624"/>
          </a:xfrm>
        </p:grpSpPr>
        <p:sp>
          <p:nvSpPr>
            <p:cNvPr id="19" name="Freeform 19"/>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p:cNvGrpSpPr/>
          <p:nvPr/>
        </p:nvGrpSpPr>
        <p:grpSpPr>
          <a:xfrm>
            <a:off x="478649" y="731520"/>
            <a:ext cx="6906570" cy="1938813"/>
            <a:chOff x="0" y="0"/>
            <a:chExt cx="9208759" cy="2585084"/>
          </a:xfrm>
        </p:grpSpPr>
        <p:sp>
          <p:nvSpPr>
            <p:cNvPr id="21" name="Freeform 21"/>
            <p:cNvSpPr/>
            <p:nvPr/>
          </p:nvSpPr>
          <p:spPr>
            <a:xfrm>
              <a:off x="0" y="0"/>
              <a:ext cx="9027858"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p:cNvSpPr txBox="1"/>
            <p:nvPr/>
          </p:nvSpPr>
          <p:spPr>
            <a:xfrm>
              <a:off x="180901" y="697088"/>
              <a:ext cx="9027858" cy="1887996"/>
            </a:xfrm>
            <a:prstGeom prst="rect">
              <a:avLst/>
            </a:prstGeom>
          </p:spPr>
          <p:txBody>
            <a:bodyPr lIns="0" tIns="0" rIns="0" bIns="0" rtlCol="0" anchor="t"/>
            <a:lstStyle/>
            <a:p>
              <a:pPr algn="l">
                <a:lnSpc>
                  <a:spcPts val="5687"/>
                </a:lnSpc>
              </a:pPr>
              <a:r>
                <a:rPr lang="en-US" sz="4739" dirty="0">
                  <a:solidFill>
                    <a:srgbClr val="5FCBEF"/>
                  </a:solidFill>
                  <a:latin typeface="Trebuchet MS"/>
                  <a:ea typeface="Trebuchet MS"/>
                  <a:cs typeface="Trebuchet MS"/>
                  <a:sym typeface="Trebuchet MS"/>
                </a:rPr>
                <a:t>OTHER APPLICATIONS</a:t>
              </a:r>
            </a:p>
          </p:txBody>
        </p:sp>
      </p:grpSp>
      <p:grpSp>
        <p:nvGrpSpPr>
          <p:cNvPr id="23" name="Group 23"/>
          <p:cNvGrpSpPr/>
          <p:nvPr/>
        </p:nvGrpSpPr>
        <p:grpSpPr>
          <a:xfrm>
            <a:off x="234809" y="1048074"/>
            <a:ext cx="7420155" cy="5950299"/>
            <a:chOff x="0" y="0"/>
            <a:chExt cx="9969069" cy="7994300"/>
          </a:xfrm>
        </p:grpSpPr>
        <p:sp>
          <p:nvSpPr>
            <p:cNvPr id="24" name="Freeform 24"/>
            <p:cNvSpPr/>
            <p:nvPr/>
          </p:nvSpPr>
          <p:spPr>
            <a:xfrm>
              <a:off x="0" y="0"/>
              <a:ext cx="9969069" cy="7994300"/>
            </a:xfrm>
            <a:custGeom>
              <a:avLst/>
              <a:gdLst/>
              <a:ahLst/>
              <a:cxnLst/>
              <a:rect l="l" t="t" r="r" b="b"/>
              <a:pathLst>
                <a:path w="9969069" h="7994300">
                  <a:moveTo>
                    <a:pt x="0" y="0"/>
                  </a:moveTo>
                  <a:lnTo>
                    <a:pt x="9969069" y="0"/>
                  </a:lnTo>
                  <a:lnTo>
                    <a:pt x="9969069" y="7994300"/>
                  </a:lnTo>
                  <a:lnTo>
                    <a:pt x="0" y="7994300"/>
                  </a:lnTo>
                  <a:close/>
                </a:path>
              </a:pathLst>
            </a:custGeom>
            <a:solidFill>
              <a:srgbClr val="000000">
                <a:alpha val="0"/>
              </a:srgbClr>
            </a:solidFill>
          </p:spPr>
        </p:sp>
        <p:sp>
          <p:nvSpPr>
            <p:cNvPr id="25" name="TextBox 25"/>
            <p:cNvSpPr txBox="1"/>
            <p:nvPr/>
          </p:nvSpPr>
          <p:spPr>
            <a:xfrm>
              <a:off x="0" y="-9525"/>
              <a:ext cx="9969069" cy="8003825"/>
            </a:xfrm>
            <a:prstGeom prst="rect">
              <a:avLst/>
            </a:prstGeom>
          </p:spPr>
          <p:txBody>
            <a:bodyPr lIns="0" tIns="0" rIns="0" bIns="0" rtlCol="0" anchor="ctr"/>
            <a:lstStyle/>
            <a:p>
              <a:pPr marL="500886" lvl="1" indent="-250443" algn="l">
                <a:lnSpc>
                  <a:spcPts val="2783"/>
                </a:lnSpc>
                <a:buFont typeface="Arial"/>
                <a:buChar char="•"/>
              </a:pPr>
              <a:r>
                <a:rPr lang="en-US" sz="2319" dirty="0">
                  <a:solidFill>
                    <a:srgbClr val="5FCBEF"/>
                  </a:solidFill>
                  <a:latin typeface="Trebuchet MS"/>
                  <a:ea typeface="Trebuchet MS"/>
                  <a:cs typeface="Trebuchet MS"/>
                  <a:sym typeface="Trebuchet MS"/>
                </a:rPr>
                <a:t>Patients with chronic conditions (e.g., hypertension, anxiety disorders) benefit from automated drug administration.</a:t>
              </a:r>
            </a:p>
            <a:p>
              <a:pPr marL="500886" lvl="1" indent="-250443" algn="l">
                <a:lnSpc>
                  <a:spcPts val="2783"/>
                </a:lnSpc>
                <a:buFont typeface="Arial"/>
                <a:buChar char="•"/>
              </a:pPr>
              <a:r>
                <a:rPr lang="en-US" sz="2319" dirty="0">
                  <a:solidFill>
                    <a:srgbClr val="5FCBEF"/>
                  </a:solidFill>
                  <a:latin typeface="Trebuchet MS"/>
                  <a:ea typeface="Trebuchet MS"/>
                  <a:cs typeface="Trebuchet MS"/>
                  <a:sym typeface="Trebuchet MS"/>
                </a:rPr>
                <a:t>Post-surgical pain management with controlled drug delivery.</a:t>
              </a:r>
            </a:p>
            <a:p>
              <a:pPr marL="500886" lvl="1" indent="-250443" algn="l">
                <a:lnSpc>
                  <a:spcPts val="2783"/>
                </a:lnSpc>
                <a:buFont typeface="Arial"/>
                <a:buChar char="•"/>
              </a:pPr>
              <a:r>
                <a:rPr lang="en-US" sz="2319" dirty="0">
                  <a:solidFill>
                    <a:srgbClr val="5FCBEF"/>
                  </a:solidFill>
                  <a:latin typeface="Trebuchet MS"/>
                  <a:ea typeface="Trebuchet MS"/>
                  <a:cs typeface="Trebuchet MS"/>
                  <a:sym typeface="Trebuchet MS"/>
                </a:rPr>
                <a:t>Athlete recovery through stress-adaptive pain relief patches.</a:t>
              </a:r>
            </a:p>
            <a:p>
              <a:pPr marL="500886" lvl="1" indent="-250443" algn="l">
                <a:lnSpc>
                  <a:spcPts val="2783"/>
                </a:lnSpc>
                <a:buFont typeface="Arial"/>
                <a:buChar char="•"/>
              </a:pPr>
              <a:r>
                <a:rPr lang="en-US" sz="2319" dirty="0">
                  <a:solidFill>
                    <a:srgbClr val="5FCBEF"/>
                  </a:solidFill>
                  <a:latin typeface="Trebuchet MS"/>
                  <a:ea typeface="Trebuchet MS"/>
                  <a:cs typeface="Trebuchet MS"/>
                  <a:sym typeface="Trebuchet MS"/>
                </a:rPr>
                <a:t>Neurological disorder treatments (e.g. Epilepsy).</a:t>
              </a:r>
            </a:p>
            <a:p>
              <a:pPr algn="l">
                <a:lnSpc>
                  <a:spcPts val="3383"/>
                </a:lnSpc>
              </a:pPr>
              <a:endParaRPr lang="en-US" sz="2319" dirty="0">
                <a:solidFill>
                  <a:srgbClr val="5FCBEF"/>
                </a:solidFill>
                <a:latin typeface="Trebuchet MS"/>
                <a:ea typeface="Trebuchet MS"/>
                <a:cs typeface="Trebuchet MS"/>
                <a:sym typeface="Trebuchet MS"/>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rot="-2023717">
            <a:off x="5032586" y="5884590"/>
            <a:ext cx="5171239" cy="0"/>
          </a:xfrm>
          <a:prstGeom prst="line">
            <a:avLst/>
          </a:prstGeom>
          <a:ln w="9525" cap="rnd">
            <a:solidFill>
              <a:srgbClr val="5FCBEF"/>
            </a:solidFill>
            <a:prstDash val="solid"/>
            <a:headEnd type="none" w="sm" len="sm"/>
            <a:tailEnd type="none" w="sm" len="sm"/>
          </a:ln>
        </p:spPr>
      </p:sp>
      <p:sp>
        <p:nvSpPr>
          <p:cNvPr id="5" name="AutoShape 5"/>
          <p:cNvSpPr/>
          <p:nvPr/>
        </p:nvSpPr>
        <p:spPr>
          <a:xfrm rot="4791364">
            <a:off x="4441618" y="3657600"/>
            <a:ext cx="7441685" cy="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7351356" y="1"/>
            <a:ext cx="2420738" cy="7324230"/>
            <a:chOff x="0" y="0"/>
            <a:chExt cx="3227651" cy="9765641"/>
          </a:xfrm>
        </p:grpSpPr>
        <p:sp>
          <p:nvSpPr>
            <p:cNvPr id="7" name="Freeform 7"/>
            <p:cNvSpPr/>
            <p:nvPr/>
          </p:nvSpPr>
          <p:spPr>
            <a:xfrm>
              <a:off x="0" y="0"/>
              <a:ext cx="3231134" cy="9765665"/>
            </a:xfrm>
            <a:custGeom>
              <a:avLst/>
              <a:gdLst/>
              <a:ahLst/>
              <a:cxnLst/>
              <a:rect l="l" t="t" r="r" b="b"/>
              <a:pathLst>
                <a:path w="3231134" h="9765665">
                  <a:moveTo>
                    <a:pt x="2877947" y="0"/>
                  </a:moveTo>
                  <a:lnTo>
                    <a:pt x="0" y="9753600"/>
                  </a:lnTo>
                  <a:lnTo>
                    <a:pt x="3227070" y="9765665"/>
                  </a:lnTo>
                  <a:cubicBezTo>
                    <a:pt x="3231134" y="6514465"/>
                    <a:pt x="3211068" y="3263265"/>
                    <a:pt x="3215005" y="12065"/>
                  </a:cubicBezTo>
                  <a:lnTo>
                    <a:pt x="2877947" y="0"/>
                  </a:lnTo>
                  <a:close/>
                </a:path>
              </a:pathLst>
            </a:custGeom>
            <a:solidFill>
              <a:srgbClr val="5FCBEF">
                <a:alpha val="12941"/>
              </a:srgbClr>
            </a:solidFill>
          </p:spPr>
        </p:sp>
      </p:grpSp>
      <p:grpSp>
        <p:nvGrpSpPr>
          <p:cNvPr id="8" name="Group 8"/>
          <p:cNvGrpSpPr/>
          <p:nvPr/>
        </p:nvGrpSpPr>
        <p:grpSpPr>
          <a:xfrm>
            <a:off x="7685502" y="-9031"/>
            <a:ext cx="2078023" cy="7324231"/>
            <a:chOff x="0" y="0"/>
            <a:chExt cx="2770698" cy="9765642"/>
          </a:xfrm>
        </p:grpSpPr>
        <p:sp>
          <p:nvSpPr>
            <p:cNvPr id="9" name="Freeform 9"/>
            <p:cNvSpPr/>
            <p:nvPr/>
          </p:nvSpPr>
          <p:spPr>
            <a:xfrm>
              <a:off x="0" y="0"/>
              <a:ext cx="2773680" cy="9765665"/>
            </a:xfrm>
            <a:custGeom>
              <a:avLst/>
              <a:gdLst/>
              <a:ahLst/>
              <a:cxnLst/>
              <a:rect l="l" t="t" r="r" b="b"/>
              <a:pathLst>
                <a:path w="2773680" h="9765665">
                  <a:moveTo>
                    <a:pt x="0" y="0"/>
                  </a:moveTo>
                  <a:lnTo>
                    <a:pt x="1709928" y="9765665"/>
                  </a:lnTo>
                  <a:lnTo>
                    <a:pt x="2769616" y="9765665"/>
                  </a:lnTo>
                  <a:cubicBezTo>
                    <a:pt x="2765552" y="6510401"/>
                    <a:pt x="2773680" y="3255264"/>
                    <a:pt x="2769616" y="0"/>
                  </a:cubicBezTo>
                  <a:lnTo>
                    <a:pt x="0" y="0"/>
                  </a:lnTo>
                  <a:close/>
                </a:path>
              </a:pathLst>
            </a:custGeom>
            <a:solidFill>
              <a:srgbClr val="5FCBEF">
                <a:alpha val="3922"/>
              </a:srgbClr>
            </a:solidFill>
          </p:spPr>
        </p:sp>
      </p:grpSp>
      <p:grpSp>
        <p:nvGrpSpPr>
          <p:cNvPr id="10" name="Group 10"/>
          <p:cNvGrpSpPr/>
          <p:nvPr/>
        </p:nvGrpSpPr>
        <p:grpSpPr>
          <a:xfrm>
            <a:off x="7080422" y="4181404"/>
            <a:ext cx="2681136" cy="3133795"/>
            <a:chOff x="0" y="0"/>
            <a:chExt cx="3574848" cy="4178394"/>
          </a:xfrm>
        </p:grpSpPr>
        <p:sp>
          <p:nvSpPr>
            <p:cNvPr id="11" name="Freeform 11"/>
            <p:cNvSpPr/>
            <p:nvPr/>
          </p:nvSpPr>
          <p:spPr>
            <a:xfrm>
              <a:off x="0" y="0"/>
              <a:ext cx="3574796" cy="4178427"/>
            </a:xfrm>
            <a:custGeom>
              <a:avLst/>
              <a:gdLst/>
              <a:ahLst/>
              <a:cxnLst/>
              <a:rect l="l" t="t" r="r" b="b"/>
              <a:pathLst>
                <a:path w="3574796" h="4178427">
                  <a:moveTo>
                    <a:pt x="0" y="4178427"/>
                  </a:moveTo>
                  <a:lnTo>
                    <a:pt x="3565525" y="0"/>
                  </a:lnTo>
                  <a:cubicBezTo>
                    <a:pt x="3568573" y="1392809"/>
                    <a:pt x="3571748" y="2785618"/>
                    <a:pt x="3574796" y="4178427"/>
                  </a:cubicBezTo>
                  <a:lnTo>
                    <a:pt x="0" y="4178427"/>
                  </a:lnTo>
                  <a:close/>
                </a:path>
              </a:pathLst>
            </a:custGeom>
            <a:solidFill>
              <a:srgbClr val="17B0E4">
                <a:alpha val="43529"/>
              </a:srgbClr>
            </a:solidFill>
          </p:spPr>
        </p:sp>
      </p:grpSp>
      <p:grpSp>
        <p:nvGrpSpPr>
          <p:cNvPr id="12" name="Group 12"/>
          <p:cNvGrpSpPr/>
          <p:nvPr/>
        </p:nvGrpSpPr>
        <p:grpSpPr>
          <a:xfrm>
            <a:off x="7477791" y="-9031"/>
            <a:ext cx="2285734" cy="7324231"/>
            <a:chOff x="0" y="0"/>
            <a:chExt cx="3047646" cy="9765642"/>
          </a:xfrm>
        </p:grpSpPr>
        <p:sp>
          <p:nvSpPr>
            <p:cNvPr id="13" name="Freeform 13"/>
            <p:cNvSpPr/>
            <p:nvPr/>
          </p:nvSpPr>
          <p:spPr>
            <a:xfrm>
              <a:off x="0" y="0"/>
              <a:ext cx="3047619" cy="9765665"/>
            </a:xfrm>
            <a:custGeom>
              <a:avLst/>
              <a:gdLst/>
              <a:ahLst/>
              <a:cxnLst/>
              <a:rect l="l" t="t" r="r" b="b"/>
              <a:pathLst>
                <a:path w="3047619" h="9765665">
                  <a:moveTo>
                    <a:pt x="0" y="0"/>
                  </a:moveTo>
                  <a:lnTo>
                    <a:pt x="2640711" y="9765665"/>
                  </a:lnTo>
                  <a:lnTo>
                    <a:pt x="3047619" y="9753600"/>
                  </a:lnTo>
                  <a:lnTo>
                    <a:pt x="3047619" y="0"/>
                  </a:lnTo>
                  <a:lnTo>
                    <a:pt x="0" y="0"/>
                  </a:lnTo>
                  <a:close/>
                </a:path>
              </a:pathLst>
            </a:custGeom>
            <a:solidFill>
              <a:srgbClr val="17B0E4">
                <a:alpha val="24706"/>
              </a:srgbClr>
            </a:solidFill>
          </p:spPr>
        </p:sp>
      </p:grpSp>
      <p:grpSp>
        <p:nvGrpSpPr>
          <p:cNvPr id="14" name="Group 14"/>
          <p:cNvGrpSpPr/>
          <p:nvPr/>
        </p:nvGrpSpPr>
        <p:grpSpPr>
          <a:xfrm>
            <a:off x="8848828" y="-9031"/>
            <a:ext cx="914699" cy="7324231"/>
            <a:chOff x="0" y="0"/>
            <a:chExt cx="1219598" cy="9765642"/>
          </a:xfrm>
        </p:grpSpPr>
        <p:sp>
          <p:nvSpPr>
            <p:cNvPr id="15" name="Freeform 15"/>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p:cNvGrpSpPr/>
          <p:nvPr/>
        </p:nvGrpSpPr>
        <p:grpSpPr>
          <a:xfrm>
            <a:off x="8633776" y="-9033"/>
            <a:ext cx="1137888" cy="7324231"/>
            <a:chOff x="0" y="0"/>
            <a:chExt cx="1517184" cy="9765642"/>
          </a:xfrm>
        </p:grpSpPr>
        <p:sp>
          <p:nvSpPr>
            <p:cNvPr id="17" name="Freeform 17"/>
            <p:cNvSpPr/>
            <p:nvPr/>
          </p:nvSpPr>
          <p:spPr>
            <a:xfrm>
              <a:off x="0" y="0"/>
              <a:ext cx="1520317" cy="9765665"/>
            </a:xfrm>
            <a:custGeom>
              <a:avLst/>
              <a:gdLst/>
              <a:ahLst/>
              <a:cxnLst/>
              <a:rect l="l" t="t" r="r" b="b"/>
              <a:pathLst>
                <a:path w="1520317" h="9765665">
                  <a:moveTo>
                    <a:pt x="0" y="0"/>
                  </a:moveTo>
                  <a:lnTo>
                    <a:pt x="1334897" y="9765665"/>
                  </a:lnTo>
                  <a:lnTo>
                    <a:pt x="1516888" y="9765665"/>
                  </a:lnTo>
                  <a:cubicBezTo>
                    <a:pt x="1520317" y="6506464"/>
                    <a:pt x="1493266" y="3259201"/>
                    <a:pt x="1496695" y="0"/>
                  </a:cubicBezTo>
                  <a:lnTo>
                    <a:pt x="0" y="0"/>
                  </a:lnTo>
                  <a:close/>
                </a:path>
              </a:pathLst>
            </a:custGeom>
            <a:solidFill>
              <a:srgbClr val="236292">
                <a:alpha val="67059"/>
              </a:srgbClr>
            </a:solidFill>
          </p:spPr>
        </p:sp>
      </p:grpSp>
      <p:grpSp>
        <p:nvGrpSpPr>
          <p:cNvPr id="18" name="Group 18"/>
          <p:cNvGrpSpPr/>
          <p:nvPr/>
        </p:nvGrpSpPr>
        <p:grpSpPr>
          <a:xfrm>
            <a:off x="8606682" y="5219982"/>
            <a:ext cx="1167025" cy="2095218"/>
            <a:chOff x="0" y="0"/>
            <a:chExt cx="1556033" cy="2793624"/>
          </a:xfrm>
        </p:grpSpPr>
        <p:sp>
          <p:nvSpPr>
            <p:cNvPr id="19" name="Freeform 19"/>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p:cNvGrpSpPr/>
          <p:nvPr/>
        </p:nvGrpSpPr>
        <p:grpSpPr>
          <a:xfrm>
            <a:off x="650239" y="650240"/>
            <a:ext cx="6779009" cy="1574210"/>
            <a:chOff x="0" y="0"/>
            <a:chExt cx="9038678" cy="2098947"/>
          </a:xfrm>
        </p:grpSpPr>
        <p:sp>
          <p:nvSpPr>
            <p:cNvPr id="21" name="Freeform 21"/>
            <p:cNvSpPr/>
            <p:nvPr/>
          </p:nvSpPr>
          <p:spPr>
            <a:xfrm>
              <a:off x="0" y="0"/>
              <a:ext cx="9027858"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p:cNvSpPr txBox="1"/>
            <p:nvPr/>
          </p:nvSpPr>
          <p:spPr>
            <a:xfrm>
              <a:off x="10820" y="220476"/>
              <a:ext cx="9027858" cy="1878471"/>
            </a:xfrm>
            <a:prstGeom prst="rect">
              <a:avLst/>
            </a:prstGeom>
          </p:spPr>
          <p:txBody>
            <a:bodyPr lIns="0" tIns="0" rIns="0" bIns="0" rtlCol="0" anchor="t"/>
            <a:lstStyle/>
            <a:p>
              <a:pPr algn="l">
                <a:lnSpc>
                  <a:spcPts val="6167"/>
                </a:lnSpc>
              </a:pPr>
              <a:r>
                <a:rPr lang="en-US" sz="5139" dirty="0">
                  <a:solidFill>
                    <a:srgbClr val="5FCBEF"/>
                  </a:solidFill>
                  <a:latin typeface="Trebuchet MS" panose="020B0603020202020204" pitchFamily="34" charset="0"/>
                  <a:ea typeface="Trebuchet MS"/>
                  <a:cs typeface="Trebuchet MS"/>
                  <a:sym typeface="Trebuchet MS"/>
                </a:rPr>
                <a:t>MODULES</a:t>
              </a:r>
            </a:p>
          </p:txBody>
        </p:sp>
      </p:grpSp>
      <p:grpSp>
        <p:nvGrpSpPr>
          <p:cNvPr id="23" name="Group 23"/>
          <p:cNvGrpSpPr/>
          <p:nvPr/>
        </p:nvGrpSpPr>
        <p:grpSpPr>
          <a:xfrm>
            <a:off x="234809" y="1206254"/>
            <a:ext cx="7087972" cy="5950299"/>
            <a:chOff x="0" y="0"/>
            <a:chExt cx="9522777" cy="7994300"/>
          </a:xfrm>
        </p:grpSpPr>
        <p:sp>
          <p:nvSpPr>
            <p:cNvPr id="24" name="Freeform 24"/>
            <p:cNvSpPr/>
            <p:nvPr/>
          </p:nvSpPr>
          <p:spPr>
            <a:xfrm>
              <a:off x="0" y="0"/>
              <a:ext cx="9522777" cy="7994300"/>
            </a:xfrm>
            <a:custGeom>
              <a:avLst/>
              <a:gdLst/>
              <a:ahLst/>
              <a:cxnLst/>
              <a:rect l="l" t="t" r="r" b="b"/>
              <a:pathLst>
                <a:path w="9522777" h="7994300">
                  <a:moveTo>
                    <a:pt x="0" y="0"/>
                  </a:moveTo>
                  <a:lnTo>
                    <a:pt x="9522777" y="0"/>
                  </a:lnTo>
                  <a:lnTo>
                    <a:pt x="9522777" y="7994300"/>
                  </a:lnTo>
                  <a:lnTo>
                    <a:pt x="0" y="7994300"/>
                  </a:lnTo>
                  <a:close/>
                </a:path>
              </a:pathLst>
            </a:custGeom>
            <a:solidFill>
              <a:srgbClr val="000000">
                <a:alpha val="0"/>
              </a:srgbClr>
            </a:solidFill>
          </p:spPr>
        </p:sp>
        <p:sp>
          <p:nvSpPr>
            <p:cNvPr id="25" name="TextBox 25"/>
            <p:cNvSpPr txBox="1"/>
            <p:nvPr/>
          </p:nvSpPr>
          <p:spPr>
            <a:xfrm>
              <a:off x="0" y="-9525"/>
              <a:ext cx="9522777" cy="8003825"/>
            </a:xfrm>
            <a:prstGeom prst="rect">
              <a:avLst/>
            </a:prstGeom>
          </p:spPr>
          <p:txBody>
            <a:bodyPr lIns="0" tIns="0" rIns="0" bIns="0" rtlCol="0" anchor="ctr"/>
            <a:lstStyle/>
            <a:p>
              <a:pPr algn="just">
                <a:lnSpc>
                  <a:spcPts val="1824"/>
                </a:lnSpc>
              </a:pPr>
              <a:endParaRPr dirty="0">
                <a:latin typeface="Trebuchet MS" panose="020B0603020202020204" pitchFamily="34" charset="0"/>
              </a:endParaRPr>
            </a:p>
            <a:p>
              <a:pPr marL="500886" lvl="1" indent="-250443" algn="just">
                <a:lnSpc>
                  <a:spcPts val="2783"/>
                </a:lnSpc>
                <a:buFont typeface="Arial"/>
                <a:buChar char="•"/>
              </a:pPr>
              <a:r>
                <a:rPr lang="en-US" sz="2319" b="1" dirty="0">
                  <a:solidFill>
                    <a:srgbClr val="5FCBEF"/>
                  </a:solidFill>
                  <a:latin typeface="Trebuchet MS" panose="020B0603020202020204" pitchFamily="34" charset="0"/>
                  <a:ea typeface="Trebuchet MS Bold"/>
                  <a:cs typeface="Trebuchet MS Bold"/>
                  <a:sym typeface="Trebuchet MS Bold"/>
                </a:rPr>
                <a:t>Drug Monitoring System: </a:t>
              </a:r>
              <a:r>
                <a:rPr lang="en-US" sz="2319" dirty="0">
                  <a:solidFill>
                    <a:srgbClr val="5FCBEF"/>
                  </a:solidFill>
                  <a:latin typeface="Trebuchet MS" panose="020B0603020202020204" pitchFamily="34" charset="0"/>
                  <a:ea typeface="Trebuchet MS"/>
                  <a:cs typeface="Trebuchet MS"/>
                  <a:sym typeface="Trebuchet MS"/>
                </a:rPr>
                <a:t>Tracks dosage, delivery timing, and battery status.</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marL="500886" lvl="1" indent="-250443" algn="just">
                <a:lnSpc>
                  <a:spcPts val="2783"/>
                </a:lnSpc>
                <a:buFont typeface="Arial"/>
                <a:buChar char="•"/>
              </a:pPr>
              <a:r>
                <a:rPr lang="en-US" sz="2319" b="1" dirty="0">
                  <a:solidFill>
                    <a:srgbClr val="5FCBEF"/>
                  </a:solidFill>
                  <a:latin typeface="Trebuchet MS" panose="020B0603020202020204" pitchFamily="34" charset="0"/>
                  <a:ea typeface="Trebuchet MS Bold"/>
                  <a:cs typeface="Trebuchet MS Bold"/>
                  <a:sym typeface="Trebuchet MS Bold"/>
                </a:rPr>
                <a:t>Stress Detection Module:</a:t>
              </a:r>
              <a:r>
                <a:rPr lang="en-US" sz="2319" dirty="0">
                  <a:solidFill>
                    <a:srgbClr val="5FCBEF"/>
                  </a:solidFill>
                  <a:latin typeface="Trebuchet MS" panose="020B0603020202020204" pitchFamily="34" charset="0"/>
                  <a:ea typeface="Trebuchet MS"/>
                  <a:cs typeface="Trebuchet MS"/>
                  <a:sym typeface="Trebuchet MS"/>
                </a:rPr>
                <a:t> ML model processes physiological signals to detect stress.</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marL="500886" lvl="1" indent="-250443" algn="just">
                <a:lnSpc>
                  <a:spcPts val="2783"/>
                </a:lnSpc>
                <a:buFont typeface="Arial"/>
                <a:buChar char="•"/>
              </a:pPr>
              <a:r>
                <a:rPr lang="en-US" sz="2319" b="1" dirty="0">
                  <a:solidFill>
                    <a:srgbClr val="5FCBEF"/>
                  </a:solidFill>
                  <a:latin typeface="Trebuchet MS" panose="020B0603020202020204" pitchFamily="34" charset="0"/>
                  <a:ea typeface="Trebuchet MS Bold"/>
                  <a:cs typeface="Trebuchet MS Bold"/>
                  <a:sym typeface="Trebuchet MS Bold"/>
                </a:rPr>
                <a:t>Wearable Device Control:</a:t>
              </a:r>
              <a:r>
                <a:rPr lang="en-US" sz="2319" dirty="0">
                  <a:solidFill>
                    <a:srgbClr val="5FCBEF"/>
                  </a:solidFill>
                  <a:latin typeface="Trebuchet MS" panose="020B0603020202020204" pitchFamily="34" charset="0"/>
                  <a:ea typeface="Trebuchet MS"/>
                  <a:cs typeface="Trebuchet MS"/>
                  <a:sym typeface="Trebuchet MS"/>
                </a:rPr>
                <a:t> Microcontroller regulates iontophoresis drug release.</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marL="500886" lvl="1" indent="-250443" algn="just">
                <a:lnSpc>
                  <a:spcPts val="2783"/>
                </a:lnSpc>
                <a:buFont typeface="Arial"/>
                <a:buChar char="•"/>
              </a:pPr>
              <a:r>
                <a:rPr lang="en-US" sz="2319" b="1" dirty="0">
                  <a:solidFill>
                    <a:srgbClr val="5FCBEF"/>
                  </a:solidFill>
                  <a:latin typeface="Trebuchet MS" panose="020B0603020202020204" pitchFamily="34" charset="0"/>
                  <a:ea typeface="Trebuchet MS Bold"/>
                  <a:cs typeface="Trebuchet MS Bold"/>
                  <a:sym typeface="Trebuchet MS Bold"/>
                </a:rPr>
                <a:t>Web Dashboard:</a:t>
              </a:r>
              <a:r>
                <a:rPr lang="en-US" sz="2319" dirty="0">
                  <a:solidFill>
                    <a:srgbClr val="5FCBEF"/>
                  </a:solidFill>
                  <a:latin typeface="Trebuchet MS" panose="020B0603020202020204" pitchFamily="34" charset="0"/>
                  <a:ea typeface="Trebuchet MS"/>
                  <a:cs typeface="Trebuchet MS"/>
                  <a:sym typeface="Trebuchet MS"/>
                </a:rPr>
                <a:t> Displays real-time data to users and healthcare providers.</a:t>
              </a: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algn="just">
                <a:lnSpc>
                  <a:spcPts val="2783"/>
                </a:lnSpc>
              </a:pPr>
              <a:endParaRPr lang="en-US" sz="2319" dirty="0">
                <a:solidFill>
                  <a:srgbClr val="5FCBEF"/>
                </a:solidFill>
                <a:latin typeface="Trebuchet MS" panose="020B0603020202020204" pitchFamily="34" charset="0"/>
                <a:ea typeface="Trebuchet MS"/>
                <a:cs typeface="Trebuchet MS"/>
                <a:sym typeface="Trebuchet MS"/>
              </a:endParaRPr>
            </a:p>
            <a:p>
              <a:pPr algn="just">
                <a:lnSpc>
                  <a:spcPts val="1824"/>
                </a:lnSpc>
              </a:pPr>
              <a:endParaRPr lang="en-US" sz="2319"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031" y="4280747"/>
            <a:ext cx="487680" cy="3043485"/>
            <a:chOff x="0" y="0"/>
            <a:chExt cx="650240" cy="4057980"/>
          </a:xfrm>
        </p:grpSpPr>
        <p:sp>
          <p:nvSpPr>
            <p:cNvPr id="3" name="Freeform 3"/>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p:cNvSpPr/>
          <p:nvPr/>
        </p:nvSpPr>
        <p:spPr>
          <a:xfrm flipV="1">
            <a:off x="7093128" y="4831900"/>
            <a:ext cx="4300800" cy="2871382"/>
          </a:xfrm>
          <a:prstGeom prst="line">
            <a:avLst/>
          </a:prstGeom>
          <a:ln w="9525" cap="rnd">
            <a:solidFill>
              <a:srgbClr val="5FCBEF"/>
            </a:solidFill>
            <a:prstDash val="solid"/>
            <a:headEnd type="none" w="sm" len="sm"/>
            <a:tailEnd type="none" w="sm" len="sm"/>
          </a:ln>
        </p:spPr>
      </p:sp>
      <p:sp>
        <p:nvSpPr>
          <p:cNvPr id="5" name="AutoShape 5"/>
          <p:cNvSpPr/>
          <p:nvPr/>
        </p:nvSpPr>
        <p:spPr>
          <a:xfrm>
            <a:off x="8728218" y="-11000"/>
            <a:ext cx="1310640" cy="7325360"/>
          </a:xfrm>
          <a:prstGeom prst="line">
            <a:avLst/>
          </a:prstGeom>
          <a:ln w="9525" cap="rnd">
            <a:solidFill>
              <a:srgbClr val="5FCBEF"/>
            </a:solidFill>
            <a:prstDash val="solid"/>
            <a:headEnd type="none" w="sm" len="sm"/>
            <a:tailEnd type="none" w="sm" len="sm"/>
          </a:ln>
        </p:spPr>
      </p:sp>
      <p:grpSp>
        <p:nvGrpSpPr>
          <p:cNvPr id="6" name="Group 6"/>
          <p:cNvGrpSpPr/>
          <p:nvPr/>
        </p:nvGrpSpPr>
        <p:grpSpPr>
          <a:xfrm>
            <a:off x="8500386" y="1"/>
            <a:ext cx="1271707" cy="7324230"/>
            <a:chOff x="0" y="0"/>
            <a:chExt cx="1695610" cy="9765641"/>
          </a:xfrm>
        </p:grpSpPr>
        <p:sp>
          <p:nvSpPr>
            <p:cNvPr id="7" name="Freeform 7"/>
            <p:cNvSpPr/>
            <p:nvPr/>
          </p:nvSpPr>
          <p:spPr>
            <a:xfrm>
              <a:off x="0" y="0"/>
              <a:ext cx="1699093" cy="9765665"/>
            </a:xfrm>
            <a:custGeom>
              <a:avLst/>
              <a:gdLst/>
              <a:ahLst/>
              <a:cxnLst/>
              <a:rect l="l" t="t" r="r" b="b"/>
              <a:pathLst>
                <a:path w="1699093" h="9765665">
                  <a:moveTo>
                    <a:pt x="1511897" y="0"/>
                  </a:moveTo>
                  <a:lnTo>
                    <a:pt x="0" y="9753600"/>
                  </a:lnTo>
                  <a:lnTo>
                    <a:pt x="1695305" y="9765665"/>
                  </a:lnTo>
                  <a:cubicBezTo>
                    <a:pt x="1699093" y="6514465"/>
                    <a:pt x="1686898" y="3263265"/>
                    <a:pt x="1688967" y="12065"/>
                  </a:cubicBezTo>
                  <a:lnTo>
                    <a:pt x="1511897" y="0"/>
                  </a:lnTo>
                  <a:close/>
                </a:path>
              </a:pathLst>
            </a:custGeom>
            <a:solidFill>
              <a:srgbClr val="5FCBEF">
                <a:alpha val="12941"/>
              </a:srgbClr>
            </a:solidFill>
          </p:spPr>
        </p:sp>
      </p:grpSp>
      <p:grpSp>
        <p:nvGrpSpPr>
          <p:cNvPr id="8" name="Group 8"/>
          <p:cNvGrpSpPr/>
          <p:nvPr/>
        </p:nvGrpSpPr>
        <p:grpSpPr>
          <a:xfrm>
            <a:off x="8606682" y="-9031"/>
            <a:ext cx="1156844" cy="7324231"/>
            <a:chOff x="0" y="0"/>
            <a:chExt cx="1542458" cy="9765642"/>
          </a:xfrm>
        </p:grpSpPr>
        <p:sp>
          <p:nvSpPr>
            <p:cNvPr id="9" name="Freeform 9"/>
            <p:cNvSpPr/>
            <p:nvPr/>
          </p:nvSpPr>
          <p:spPr>
            <a:xfrm>
              <a:off x="0" y="0"/>
              <a:ext cx="1545440" cy="9765665"/>
            </a:xfrm>
            <a:custGeom>
              <a:avLst/>
              <a:gdLst/>
              <a:ahLst/>
              <a:cxnLst/>
              <a:rect l="l" t="t" r="r" b="b"/>
              <a:pathLst>
                <a:path w="1545440" h="9765665">
                  <a:moveTo>
                    <a:pt x="0" y="0"/>
                  </a:moveTo>
                  <a:lnTo>
                    <a:pt x="951924" y="9765665"/>
                  </a:lnTo>
                  <a:lnTo>
                    <a:pt x="1541856" y="9765665"/>
                  </a:lnTo>
                  <a:cubicBezTo>
                    <a:pt x="1539594" y="6510401"/>
                    <a:pt x="1545440" y="3255264"/>
                    <a:pt x="1541856" y="0"/>
                  </a:cubicBezTo>
                  <a:lnTo>
                    <a:pt x="0" y="0"/>
                  </a:lnTo>
                  <a:close/>
                </a:path>
              </a:pathLst>
            </a:custGeom>
            <a:solidFill>
              <a:srgbClr val="5FCBEF">
                <a:alpha val="3922"/>
              </a:srgbClr>
            </a:solidFill>
          </p:spPr>
        </p:sp>
      </p:grpSp>
      <p:grpSp>
        <p:nvGrpSpPr>
          <p:cNvPr id="10" name="Group 10"/>
          <p:cNvGrpSpPr/>
          <p:nvPr/>
        </p:nvGrpSpPr>
        <p:grpSpPr>
          <a:xfrm>
            <a:off x="8500386" y="4181404"/>
            <a:ext cx="1261172" cy="3133795"/>
            <a:chOff x="0" y="0"/>
            <a:chExt cx="1681563" cy="4178394"/>
          </a:xfrm>
        </p:grpSpPr>
        <p:sp>
          <p:nvSpPr>
            <p:cNvPr id="11" name="Freeform 11"/>
            <p:cNvSpPr/>
            <p:nvPr/>
          </p:nvSpPr>
          <p:spPr>
            <a:xfrm>
              <a:off x="0" y="0"/>
              <a:ext cx="1681538" cy="4178427"/>
            </a:xfrm>
            <a:custGeom>
              <a:avLst/>
              <a:gdLst/>
              <a:ahLst/>
              <a:cxnLst/>
              <a:rect l="l" t="t" r="r" b="b"/>
              <a:pathLst>
                <a:path w="1681538" h="4178427">
                  <a:moveTo>
                    <a:pt x="0" y="4178427"/>
                  </a:moveTo>
                  <a:lnTo>
                    <a:pt x="1677177" y="0"/>
                  </a:lnTo>
                  <a:cubicBezTo>
                    <a:pt x="1678611" y="1392809"/>
                    <a:pt x="1680104" y="2785618"/>
                    <a:pt x="1681538" y="4178427"/>
                  </a:cubicBezTo>
                  <a:lnTo>
                    <a:pt x="0" y="4178427"/>
                  </a:lnTo>
                  <a:close/>
                </a:path>
              </a:pathLst>
            </a:custGeom>
            <a:solidFill>
              <a:srgbClr val="17B0E4">
                <a:alpha val="43529"/>
              </a:srgbClr>
            </a:solidFill>
          </p:spPr>
        </p:sp>
      </p:grpSp>
      <p:grpSp>
        <p:nvGrpSpPr>
          <p:cNvPr id="12" name="Group 12"/>
          <p:cNvGrpSpPr/>
          <p:nvPr/>
        </p:nvGrpSpPr>
        <p:grpSpPr>
          <a:xfrm>
            <a:off x="8723530" y="-9031"/>
            <a:ext cx="1039995" cy="7324231"/>
            <a:chOff x="0" y="0"/>
            <a:chExt cx="1386660" cy="9765642"/>
          </a:xfrm>
        </p:grpSpPr>
        <p:sp>
          <p:nvSpPr>
            <p:cNvPr id="13" name="Freeform 13"/>
            <p:cNvSpPr/>
            <p:nvPr/>
          </p:nvSpPr>
          <p:spPr>
            <a:xfrm>
              <a:off x="0" y="0"/>
              <a:ext cx="1386648" cy="9765665"/>
            </a:xfrm>
            <a:custGeom>
              <a:avLst/>
              <a:gdLst/>
              <a:ahLst/>
              <a:cxnLst/>
              <a:rect l="l" t="t" r="r" b="b"/>
              <a:pathLst>
                <a:path w="1386648" h="9765665">
                  <a:moveTo>
                    <a:pt x="0" y="0"/>
                  </a:moveTo>
                  <a:lnTo>
                    <a:pt x="1201507" y="9765665"/>
                  </a:lnTo>
                  <a:lnTo>
                    <a:pt x="1386648" y="9753600"/>
                  </a:lnTo>
                  <a:lnTo>
                    <a:pt x="1386648" y="0"/>
                  </a:lnTo>
                  <a:lnTo>
                    <a:pt x="0" y="0"/>
                  </a:lnTo>
                  <a:close/>
                </a:path>
              </a:pathLst>
            </a:custGeom>
            <a:solidFill>
              <a:srgbClr val="17B0E4">
                <a:alpha val="24706"/>
              </a:srgbClr>
            </a:solidFill>
          </p:spPr>
        </p:sp>
      </p:grpSp>
      <p:grpSp>
        <p:nvGrpSpPr>
          <p:cNvPr id="14" name="Group 14"/>
          <p:cNvGrpSpPr/>
          <p:nvPr/>
        </p:nvGrpSpPr>
        <p:grpSpPr>
          <a:xfrm>
            <a:off x="8848828" y="-9031"/>
            <a:ext cx="914699" cy="7324231"/>
            <a:chOff x="0" y="0"/>
            <a:chExt cx="1219598" cy="9765642"/>
          </a:xfrm>
        </p:grpSpPr>
        <p:sp>
          <p:nvSpPr>
            <p:cNvPr id="15" name="Freeform 15"/>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p:cNvGrpSpPr/>
          <p:nvPr/>
        </p:nvGrpSpPr>
        <p:grpSpPr>
          <a:xfrm>
            <a:off x="9190194" y="-9033"/>
            <a:ext cx="581470" cy="7324231"/>
            <a:chOff x="0" y="0"/>
            <a:chExt cx="775293" cy="9765642"/>
          </a:xfrm>
        </p:grpSpPr>
        <p:sp>
          <p:nvSpPr>
            <p:cNvPr id="17" name="Freeform 17"/>
            <p:cNvSpPr/>
            <p:nvPr/>
          </p:nvSpPr>
          <p:spPr>
            <a:xfrm>
              <a:off x="0" y="0"/>
              <a:ext cx="778426" cy="9765665"/>
            </a:xfrm>
            <a:custGeom>
              <a:avLst/>
              <a:gdLst/>
              <a:ahLst/>
              <a:cxnLst/>
              <a:rect l="l" t="t" r="r" b="b"/>
              <a:pathLst>
                <a:path w="778426" h="9765665">
                  <a:moveTo>
                    <a:pt x="0" y="0"/>
                  </a:moveTo>
                  <a:lnTo>
                    <a:pt x="682143" y="9765665"/>
                  </a:lnTo>
                  <a:lnTo>
                    <a:pt x="775142" y="9765665"/>
                  </a:lnTo>
                  <a:cubicBezTo>
                    <a:pt x="778426" y="6506464"/>
                    <a:pt x="763071" y="3259201"/>
                    <a:pt x="764823" y="0"/>
                  </a:cubicBezTo>
                  <a:lnTo>
                    <a:pt x="0" y="0"/>
                  </a:lnTo>
                  <a:close/>
                </a:path>
              </a:pathLst>
            </a:custGeom>
            <a:solidFill>
              <a:srgbClr val="236292">
                <a:alpha val="67059"/>
              </a:srgbClr>
            </a:solidFill>
          </p:spPr>
        </p:sp>
      </p:grpSp>
      <p:grpSp>
        <p:nvGrpSpPr>
          <p:cNvPr id="18" name="Group 18"/>
          <p:cNvGrpSpPr/>
          <p:nvPr/>
        </p:nvGrpSpPr>
        <p:grpSpPr>
          <a:xfrm>
            <a:off x="8606682" y="5219982"/>
            <a:ext cx="1167025" cy="2095218"/>
            <a:chOff x="0" y="0"/>
            <a:chExt cx="1556033" cy="2793624"/>
          </a:xfrm>
        </p:grpSpPr>
        <p:sp>
          <p:nvSpPr>
            <p:cNvPr id="19" name="Freeform 19"/>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p:cNvGrpSpPr/>
          <p:nvPr/>
        </p:nvGrpSpPr>
        <p:grpSpPr>
          <a:xfrm>
            <a:off x="650239" y="650240"/>
            <a:ext cx="6770894" cy="1408853"/>
            <a:chOff x="0" y="0"/>
            <a:chExt cx="9027858" cy="1878471"/>
          </a:xfrm>
        </p:grpSpPr>
        <p:sp>
          <p:nvSpPr>
            <p:cNvPr id="21" name="Freeform 21"/>
            <p:cNvSpPr/>
            <p:nvPr/>
          </p:nvSpPr>
          <p:spPr>
            <a:xfrm>
              <a:off x="0" y="0"/>
              <a:ext cx="9027858"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p:cNvSpPr txBox="1"/>
            <p:nvPr/>
          </p:nvSpPr>
          <p:spPr>
            <a:xfrm>
              <a:off x="0" y="-9525"/>
              <a:ext cx="9027858" cy="1887996"/>
            </a:xfrm>
            <a:prstGeom prst="rect">
              <a:avLst/>
            </a:prstGeom>
          </p:spPr>
          <p:txBody>
            <a:bodyPr lIns="0" tIns="0" rIns="0" bIns="0" rtlCol="0" anchor="t"/>
            <a:lstStyle/>
            <a:p>
              <a:pPr algn="l">
                <a:lnSpc>
                  <a:spcPts val="4608"/>
                </a:lnSpc>
              </a:pPr>
              <a:r>
                <a:rPr lang="en-US" sz="3840" dirty="0">
                  <a:solidFill>
                    <a:srgbClr val="5FCBEF"/>
                  </a:solidFill>
                  <a:latin typeface="Trebuchet MS" panose="020B0603020202020204" pitchFamily="34" charset="0"/>
                  <a:ea typeface="Trebuchet MS"/>
                  <a:cs typeface="Trebuchet MS"/>
                  <a:sym typeface="Trebuchet MS"/>
                </a:rPr>
                <a:t>REFERENCES</a:t>
              </a:r>
            </a:p>
          </p:txBody>
        </p:sp>
      </p:grpSp>
      <p:grpSp>
        <p:nvGrpSpPr>
          <p:cNvPr id="23" name="Group 23"/>
          <p:cNvGrpSpPr/>
          <p:nvPr/>
        </p:nvGrpSpPr>
        <p:grpSpPr>
          <a:xfrm>
            <a:off x="650239" y="1453339"/>
            <a:ext cx="8167542" cy="5580588"/>
            <a:chOff x="0" y="0"/>
            <a:chExt cx="10890056" cy="7440784"/>
          </a:xfrm>
        </p:grpSpPr>
        <p:sp>
          <p:nvSpPr>
            <p:cNvPr id="24" name="Freeform 24"/>
            <p:cNvSpPr/>
            <p:nvPr/>
          </p:nvSpPr>
          <p:spPr>
            <a:xfrm>
              <a:off x="0" y="0"/>
              <a:ext cx="10890055" cy="7440784"/>
            </a:xfrm>
            <a:custGeom>
              <a:avLst/>
              <a:gdLst/>
              <a:ahLst/>
              <a:cxnLst/>
              <a:rect l="l" t="t" r="r" b="b"/>
              <a:pathLst>
                <a:path w="10890055" h="7440784">
                  <a:moveTo>
                    <a:pt x="0" y="0"/>
                  </a:moveTo>
                  <a:lnTo>
                    <a:pt x="10890055" y="0"/>
                  </a:lnTo>
                  <a:lnTo>
                    <a:pt x="10890055" y="7440784"/>
                  </a:lnTo>
                  <a:lnTo>
                    <a:pt x="0" y="7440784"/>
                  </a:lnTo>
                  <a:close/>
                </a:path>
              </a:pathLst>
            </a:custGeom>
            <a:solidFill>
              <a:srgbClr val="000000">
                <a:alpha val="0"/>
              </a:srgbClr>
            </a:solidFill>
          </p:spPr>
        </p:sp>
        <p:sp>
          <p:nvSpPr>
            <p:cNvPr id="25" name="TextBox 25"/>
            <p:cNvSpPr txBox="1"/>
            <p:nvPr/>
          </p:nvSpPr>
          <p:spPr>
            <a:xfrm>
              <a:off x="0" y="-19050"/>
              <a:ext cx="10890056" cy="7459834"/>
            </a:xfrm>
            <a:prstGeom prst="rect">
              <a:avLst/>
            </a:prstGeom>
          </p:spPr>
          <p:txBody>
            <a:bodyPr lIns="0" tIns="0" rIns="0" bIns="0" rtlCol="0" anchor="t"/>
            <a:lstStyle/>
            <a:p>
              <a:pPr marL="247010" lvl="1" indent="-123505" algn="l">
                <a:lnSpc>
                  <a:spcPts val="2457"/>
                </a:lnSpc>
                <a:buFont typeface="Arial"/>
                <a:buChar char="•"/>
              </a:pPr>
              <a:r>
                <a:rPr lang="en-IN" sz="1600" b="0" i="0" dirty="0">
                  <a:solidFill>
                    <a:srgbClr val="222222"/>
                  </a:solidFill>
                  <a:effectLst/>
                  <a:latin typeface="Trebuchet MS" panose="020B0603020202020204" pitchFamily="34" charset="0"/>
                </a:rPr>
                <a:t>Zhou, Y., Jia, X., Pang, D. </a:t>
              </a:r>
              <a:r>
                <a:rPr lang="en-IN" sz="1600" b="0" i="1" dirty="0">
                  <a:solidFill>
                    <a:srgbClr val="222222"/>
                  </a:solidFill>
                  <a:effectLst/>
                  <a:latin typeface="Trebuchet MS" panose="020B0603020202020204" pitchFamily="34" charset="0"/>
                </a:rPr>
                <a:t>et al.</a:t>
              </a:r>
              <a:r>
                <a:rPr lang="en-IN" sz="1600" b="0" i="0" dirty="0">
                  <a:solidFill>
                    <a:srgbClr val="222222"/>
                  </a:solidFill>
                  <a:effectLst/>
                  <a:latin typeface="Trebuchet MS" panose="020B0603020202020204" pitchFamily="34" charset="0"/>
                </a:rPr>
                <a:t> An integrated Mg battery-powered iontophoresis patch for efficient and controllable transdermal drug delivery. </a:t>
              </a:r>
              <a:r>
                <a:rPr lang="en-IN" sz="1600" b="0" i="1" dirty="0">
                  <a:solidFill>
                    <a:srgbClr val="222222"/>
                  </a:solidFill>
                  <a:effectLst/>
                  <a:latin typeface="Trebuchet MS" panose="020B0603020202020204" pitchFamily="34" charset="0"/>
                </a:rPr>
                <a:t>Nat Commun</a:t>
              </a:r>
              <a:r>
                <a:rPr lang="en-IN" sz="1600" b="0" i="0" dirty="0">
                  <a:solidFill>
                    <a:srgbClr val="222222"/>
                  </a:solidFill>
                  <a:effectLst/>
                  <a:latin typeface="Trebuchet MS" panose="020B0603020202020204" pitchFamily="34" charset="0"/>
                </a:rPr>
                <a:t> </a:t>
              </a:r>
              <a:r>
                <a:rPr lang="en-IN" sz="1600" b="1" i="0" dirty="0">
                  <a:solidFill>
                    <a:srgbClr val="222222"/>
                  </a:solidFill>
                  <a:effectLst/>
                  <a:latin typeface="Trebuchet MS" panose="020B0603020202020204" pitchFamily="34" charset="0"/>
                </a:rPr>
                <a:t>14</a:t>
              </a:r>
              <a:r>
                <a:rPr lang="en-IN" sz="1600" b="0" i="0" dirty="0">
                  <a:solidFill>
                    <a:srgbClr val="222222"/>
                  </a:solidFill>
                  <a:effectLst/>
                  <a:latin typeface="Trebuchet MS" panose="020B0603020202020204" pitchFamily="34" charset="0"/>
                </a:rPr>
                <a:t>, 297 (2023). </a:t>
              </a:r>
              <a:r>
                <a:rPr lang="en-IN" sz="1600" dirty="0">
                  <a:solidFill>
                    <a:srgbClr val="222222"/>
                  </a:solidFill>
                  <a:latin typeface="Trebuchet MS" panose="020B0603020202020204" pitchFamily="34" charset="0"/>
                  <a:hlinkClick r:id="rId2"/>
                </a:rPr>
                <a:t>https://doi.org/10.1038/s41467-023-35990-7</a:t>
              </a:r>
              <a:r>
                <a:rPr lang="en-IN" sz="1600" dirty="0">
                  <a:solidFill>
                    <a:srgbClr val="222222"/>
                  </a:solidFill>
                  <a:latin typeface="Trebuchet MS" panose="020B0603020202020204" pitchFamily="34" charset="0"/>
                </a:rPr>
                <a:t> </a:t>
              </a:r>
              <a:r>
                <a:rPr lang="en-IN" sz="1600" dirty="0">
                  <a:solidFill>
                    <a:srgbClr val="222222"/>
                  </a:solidFill>
                  <a:latin typeface="Trebuchet MS" panose="020B0603020202020204" pitchFamily="34" charset="0"/>
                  <a:hlinkClick r:id="rId3" action="ppaction://hlinksldjump"/>
                </a:rPr>
                <a:t>[1]</a:t>
              </a:r>
              <a:endParaRPr lang="en-IN" sz="1600" dirty="0">
                <a:solidFill>
                  <a:srgbClr val="222222"/>
                </a:solidFill>
                <a:latin typeface="Trebuchet MS" panose="020B0603020202020204" pitchFamily="34" charset="0"/>
              </a:endParaRPr>
            </a:p>
            <a:p>
              <a:pPr marL="247010" lvl="1" indent="-123505" algn="l">
                <a:lnSpc>
                  <a:spcPts val="2457"/>
                </a:lnSpc>
                <a:buFont typeface="Arial"/>
                <a:buChar char="•"/>
              </a:pPr>
              <a:endParaRPr lang="en-IN" sz="1600" b="0" i="0" dirty="0">
                <a:solidFill>
                  <a:srgbClr val="222222"/>
                </a:solidFill>
                <a:effectLst/>
                <a:latin typeface="Trebuchet MS" panose="020B0603020202020204" pitchFamily="34" charset="0"/>
              </a:endParaRPr>
            </a:p>
            <a:p>
              <a:pPr marL="247010" lvl="1" indent="-123505">
                <a:lnSpc>
                  <a:spcPts val="2457"/>
                </a:lnSpc>
                <a:buFont typeface="Arial"/>
                <a:buChar char="•"/>
              </a:pPr>
              <a:r>
                <a:rPr lang="en-US" sz="1600" dirty="0" err="1">
                  <a:latin typeface="Trebuchet MS" panose="020B0603020202020204" pitchFamily="34" charset="0"/>
                  <a:ea typeface="Trebuchet MS"/>
                  <a:cs typeface="Trebuchet MS"/>
                  <a:sym typeface="Trebuchet MS"/>
                </a:rPr>
                <a:t>Taskasaplidis</a:t>
              </a:r>
              <a:r>
                <a:rPr lang="en-US" sz="1600" dirty="0">
                  <a:latin typeface="Trebuchet MS" panose="020B0603020202020204" pitchFamily="34" charset="0"/>
                  <a:ea typeface="Trebuchet MS"/>
                  <a:cs typeface="Trebuchet MS"/>
                  <a:sym typeface="Trebuchet MS"/>
                </a:rPr>
                <a:t>, Georgios &amp; Fotiadis, Dimitris &amp; </a:t>
              </a:r>
              <a:r>
                <a:rPr lang="en-US" sz="1600" dirty="0" err="1">
                  <a:latin typeface="Trebuchet MS" panose="020B0603020202020204" pitchFamily="34" charset="0"/>
                  <a:ea typeface="Trebuchet MS"/>
                  <a:cs typeface="Trebuchet MS"/>
                  <a:sym typeface="Trebuchet MS"/>
                </a:rPr>
                <a:t>Bamidis</a:t>
              </a:r>
              <a:r>
                <a:rPr lang="en-US" sz="1600" dirty="0">
                  <a:latin typeface="Trebuchet MS" panose="020B0603020202020204" pitchFamily="34" charset="0"/>
                  <a:ea typeface="Trebuchet MS"/>
                  <a:cs typeface="Trebuchet MS"/>
                  <a:sym typeface="Trebuchet MS"/>
                </a:rPr>
                <a:t>, Panagiotis. (2024). Review of Stress Detection Methods Using Wearable Sensors. IEEE Access. PP. 1-1. 10.1109/ACCESS.2024.3373010. </a:t>
              </a:r>
              <a:r>
                <a:rPr lang="en-US" sz="1600" dirty="0">
                  <a:latin typeface="Trebuchet MS" panose="020B0603020202020204" pitchFamily="34" charset="0"/>
                  <a:ea typeface="Trebuchet MS"/>
                  <a:cs typeface="Trebuchet MS"/>
                  <a:sym typeface="Trebuchet MS"/>
                  <a:hlinkClick r:id="rId4"/>
                </a:rPr>
                <a:t>https://www.researchgate.net/publication/378725858_Review_of_Stress_Detection_Methods_Using_Wearable_Sensors</a:t>
              </a:r>
              <a:r>
                <a:rPr lang="en-US" sz="1600" dirty="0">
                  <a:latin typeface="Trebuchet MS" panose="020B0603020202020204" pitchFamily="34" charset="0"/>
                  <a:ea typeface="Trebuchet MS"/>
                  <a:cs typeface="Trebuchet MS"/>
                  <a:sym typeface="Trebuchet MS"/>
                </a:rPr>
                <a:t> </a:t>
              </a:r>
              <a:r>
                <a:rPr lang="en-US" sz="1600" dirty="0">
                  <a:latin typeface="Trebuchet MS" panose="020B0603020202020204" pitchFamily="34" charset="0"/>
                  <a:ea typeface="Trebuchet MS"/>
                  <a:cs typeface="Trebuchet MS"/>
                  <a:sym typeface="Trebuchet MS"/>
                  <a:hlinkClick r:id="rId5" action="ppaction://hlinksldjump"/>
                </a:rPr>
                <a:t> [2]</a:t>
              </a:r>
              <a:endParaRPr lang="en-US" sz="1600" dirty="0">
                <a:latin typeface="Trebuchet MS" panose="020B0603020202020204" pitchFamily="34" charset="0"/>
                <a:ea typeface="Trebuchet MS"/>
                <a:cs typeface="Trebuchet MS"/>
                <a:sym typeface="Trebuchet MS"/>
              </a:endParaRPr>
            </a:p>
            <a:p>
              <a:pPr marL="123505" lvl="1">
                <a:lnSpc>
                  <a:spcPts val="2457"/>
                </a:lnSpc>
              </a:pPr>
              <a:endParaRPr lang="en-US" sz="1600" dirty="0">
                <a:latin typeface="Trebuchet MS" panose="020B0603020202020204" pitchFamily="34" charset="0"/>
                <a:ea typeface="Trebuchet MS"/>
                <a:cs typeface="Trebuchet MS"/>
                <a:sym typeface="Trebuchet MS"/>
              </a:endParaRPr>
            </a:p>
            <a:p>
              <a:pPr marL="247010" lvl="1" indent="-123505">
                <a:lnSpc>
                  <a:spcPts val="2304"/>
                </a:lnSpc>
                <a:buFont typeface="Arial"/>
                <a:buChar char="•"/>
              </a:pPr>
              <a:r>
                <a:rPr lang="en-IN" sz="1600" b="0" i="0" dirty="0" err="1">
                  <a:solidFill>
                    <a:srgbClr val="1B1B1B"/>
                  </a:solidFill>
                  <a:effectLst/>
                  <a:latin typeface="Trebuchet MS" panose="020B0603020202020204" pitchFamily="34" charset="0"/>
                </a:rPr>
                <a:t>Ancillon</a:t>
              </a:r>
              <a:r>
                <a:rPr lang="en-IN" sz="1600" b="0" i="0" dirty="0">
                  <a:solidFill>
                    <a:srgbClr val="1B1B1B"/>
                  </a:solidFill>
                  <a:effectLst/>
                  <a:latin typeface="Trebuchet MS" panose="020B0603020202020204" pitchFamily="34" charset="0"/>
                </a:rPr>
                <a:t> L, </a:t>
              </a:r>
              <a:r>
                <a:rPr lang="en-IN" sz="1600" b="0" i="0" dirty="0" err="1">
                  <a:solidFill>
                    <a:srgbClr val="1B1B1B"/>
                  </a:solidFill>
                  <a:effectLst/>
                  <a:latin typeface="Trebuchet MS" panose="020B0603020202020204" pitchFamily="34" charset="0"/>
                </a:rPr>
                <a:t>Elgendi</a:t>
              </a:r>
              <a:r>
                <a:rPr lang="en-IN" sz="1600" b="0" i="0" dirty="0">
                  <a:solidFill>
                    <a:srgbClr val="1B1B1B"/>
                  </a:solidFill>
                  <a:effectLst/>
                  <a:latin typeface="Trebuchet MS" panose="020B0603020202020204" pitchFamily="34" charset="0"/>
                </a:rPr>
                <a:t> M, Menon C. Machine Learning for Anxiety Detection Using </a:t>
              </a:r>
              <a:r>
                <a:rPr lang="en-IN" sz="1600" b="0" i="0" dirty="0" err="1">
                  <a:solidFill>
                    <a:srgbClr val="1B1B1B"/>
                  </a:solidFill>
                  <a:effectLst/>
                  <a:latin typeface="Trebuchet MS" panose="020B0603020202020204" pitchFamily="34" charset="0"/>
                </a:rPr>
                <a:t>Biosignals</a:t>
              </a:r>
              <a:r>
                <a:rPr lang="en-IN" sz="1600" b="0" i="0" dirty="0">
                  <a:solidFill>
                    <a:srgbClr val="1B1B1B"/>
                  </a:solidFill>
                  <a:effectLst/>
                  <a:latin typeface="Trebuchet MS" panose="020B0603020202020204" pitchFamily="34" charset="0"/>
                </a:rPr>
                <a:t>: A Review. Diagnostics (Basel). 2022 Jul 25;12(8):1794. </a:t>
              </a:r>
              <a:r>
                <a:rPr lang="en-IN" sz="1600" b="0" i="0" dirty="0" err="1">
                  <a:solidFill>
                    <a:srgbClr val="1B1B1B"/>
                  </a:solidFill>
                  <a:effectLst/>
                  <a:latin typeface="Trebuchet MS" panose="020B0603020202020204" pitchFamily="34" charset="0"/>
                </a:rPr>
                <a:t>doi</a:t>
              </a:r>
              <a:r>
                <a:rPr lang="en-IN" sz="1600" b="0" i="0" dirty="0">
                  <a:solidFill>
                    <a:srgbClr val="1B1B1B"/>
                  </a:solidFill>
                  <a:effectLst/>
                  <a:latin typeface="Trebuchet MS" panose="020B0603020202020204" pitchFamily="34" charset="0"/>
                </a:rPr>
                <a:t>: 10.3390/diagnostics12081794. PMID: 35892505; PMCID: PMC9332282. </a:t>
              </a:r>
              <a:r>
                <a:rPr lang="en-IN" sz="1600" b="0" i="0" dirty="0">
                  <a:solidFill>
                    <a:srgbClr val="1B1B1B"/>
                  </a:solidFill>
                  <a:effectLst/>
                  <a:latin typeface="Trebuchet MS" panose="020B0603020202020204" pitchFamily="34" charset="0"/>
                  <a:hlinkClick r:id="rId6"/>
                </a:rPr>
                <a:t>https://pmc.ncbi.nlm.nih.gov/articles/PMC9332282/</a:t>
              </a:r>
              <a:r>
                <a:rPr lang="en-IN" sz="1600" b="0" i="0" dirty="0">
                  <a:solidFill>
                    <a:srgbClr val="1B1B1B"/>
                  </a:solidFill>
                  <a:effectLst/>
                  <a:latin typeface="Trebuchet MS" panose="020B0603020202020204" pitchFamily="34" charset="0"/>
                </a:rPr>
                <a:t> </a:t>
              </a:r>
              <a:r>
                <a:rPr lang="en-IN" sz="1600" dirty="0">
                  <a:solidFill>
                    <a:srgbClr val="222222"/>
                  </a:solidFill>
                  <a:latin typeface="Trebuchet MS" panose="020B0603020202020204" pitchFamily="34" charset="0"/>
                  <a:hlinkClick r:id="rId7" action="ppaction://hlinksldjump"/>
                </a:rPr>
                <a:t>[3]</a:t>
              </a:r>
              <a:endParaRPr lang="en-IN" sz="1600" b="0" i="0" dirty="0">
                <a:solidFill>
                  <a:srgbClr val="222222"/>
                </a:solidFill>
                <a:effectLst/>
                <a:latin typeface="Trebuchet MS" panose="020B0603020202020204" pitchFamily="34" charset="0"/>
              </a:endParaRPr>
            </a:p>
            <a:p>
              <a:pPr marL="247010" lvl="1" indent="-123505" algn="l">
                <a:lnSpc>
                  <a:spcPts val="2304"/>
                </a:lnSpc>
                <a:buFont typeface="Arial"/>
                <a:buChar char="•"/>
              </a:pPr>
              <a:endParaRPr lang="en-IN" sz="1600" b="0" i="0" dirty="0">
                <a:solidFill>
                  <a:srgbClr val="1B1B1B"/>
                </a:solidFill>
                <a:effectLst/>
                <a:latin typeface="Trebuchet MS" panose="020B0603020202020204" pitchFamily="34" charset="0"/>
              </a:endParaRPr>
            </a:p>
            <a:p>
              <a:pPr marL="247010" lvl="1" indent="-123505">
                <a:lnSpc>
                  <a:spcPts val="2304"/>
                </a:lnSpc>
                <a:buFont typeface="Arial"/>
                <a:buChar char="•"/>
              </a:pPr>
              <a:r>
                <a:rPr lang="en-US" sz="1600" b="0" i="0" dirty="0">
                  <a:solidFill>
                    <a:srgbClr val="333333"/>
                  </a:solidFill>
                  <a:effectLst/>
                  <a:latin typeface="Trebuchet MS" panose="020B0603020202020204" pitchFamily="34" charset="0"/>
                </a:rPr>
                <a:t>S. Gedam and S. Paul, "A Review on Mental Stress Detection Using Wearable Sensors and Machine Learning Techniques," in </a:t>
              </a:r>
              <a:r>
                <a:rPr lang="en-US" sz="1600" b="0" i="1" dirty="0">
                  <a:solidFill>
                    <a:srgbClr val="333333"/>
                  </a:solidFill>
                  <a:effectLst/>
                  <a:latin typeface="Trebuchet MS" panose="020B0603020202020204" pitchFamily="34" charset="0"/>
                </a:rPr>
                <a:t>IEEE Access</a:t>
              </a:r>
              <a:r>
                <a:rPr lang="en-US" sz="1600" b="0" i="0" dirty="0">
                  <a:solidFill>
                    <a:srgbClr val="333333"/>
                  </a:solidFill>
                  <a:effectLst/>
                  <a:latin typeface="Trebuchet MS" panose="020B0603020202020204" pitchFamily="34" charset="0"/>
                </a:rPr>
                <a:t>, vol. 9, pp. 84045-84066, 2021, </a:t>
              </a:r>
              <a:r>
                <a:rPr lang="en-US" sz="1600" b="0" i="0" dirty="0" err="1">
                  <a:solidFill>
                    <a:srgbClr val="333333"/>
                  </a:solidFill>
                  <a:effectLst/>
                  <a:latin typeface="Trebuchet MS" panose="020B0603020202020204" pitchFamily="34" charset="0"/>
                </a:rPr>
                <a:t>doi</a:t>
              </a:r>
              <a:r>
                <a:rPr lang="en-US" sz="1600" b="0" i="0" dirty="0">
                  <a:solidFill>
                    <a:srgbClr val="333333"/>
                  </a:solidFill>
                  <a:effectLst/>
                  <a:latin typeface="Trebuchet MS" panose="020B0603020202020204" pitchFamily="34" charset="0"/>
                </a:rPr>
                <a:t>: 10.1109/ACCESS.2021.3085502. </a:t>
              </a:r>
              <a:r>
                <a:rPr lang="en-US" sz="1600" b="0" i="0" dirty="0">
                  <a:solidFill>
                    <a:srgbClr val="333333"/>
                  </a:solidFill>
                  <a:effectLst/>
                  <a:latin typeface="Trebuchet MS" panose="020B0603020202020204" pitchFamily="34" charset="0"/>
                  <a:hlinkClick r:id="rId8"/>
                </a:rPr>
                <a:t>https://ieeexplore.ieee.org/document/9445082</a:t>
              </a:r>
              <a:r>
                <a:rPr lang="en-US" sz="1600" b="0" i="0" dirty="0">
                  <a:solidFill>
                    <a:srgbClr val="333333"/>
                  </a:solidFill>
                  <a:effectLst/>
                  <a:latin typeface="Trebuchet MS" panose="020B0603020202020204" pitchFamily="34" charset="0"/>
                </a:rPr>
                <a:t> </a:t>
              </a:r>
              <a:r>
                <a:rPr lang="en-IN" sz="1600" dirty="0">
                  <a:solidFill>
                    <a:srgbClr val="222222"/>
                  </a:solidFill>
                  <a:latin typeface="Trebuchet MS" panose="020B0603020202020204" pitchFamily="34" charset="0"/>
                </a:rPr>
                <a:t>[4]</a:t>
              </a:r>
              <a:endParaRPr lang="en-IN" sz="1600" b="0" i="0" dirty="0">
                <a:solidFill>
                  <a:srgbClr val="222222"/>
                </a:solidFill>
                <a:effectLst/>
                <a:latin typeface="Trebuchet MS" panose="020B0603020202020204" pitchFamily="34" charset="0"/>
              </a:endParaRPr>
            </a:p>
            <a:p>
              <a:pPr marL="247010" lvl="1" indent="-123505" algn="l">
                <a:lnSpc>
                  <a:spcPts val="2304"/>
                </a:lnSpc>
                <a:buFont typeface="Arial"/>
                <a:buChar char="•"/>
              </a:pPr>
              <a:endParaRPr lang="en-US" sz="1600" b="0" i="0" dirty="0">
                <a:solidFill>
                  <a:srgbClr val="333333"/>
                </a:solidFill>
                <a:effectLst/>
                <a:latin typeface="Trebuchet MS" panose="020B0603020202020204" pitchFamily="34" charset="0"/>
              </a:endParaRPr>
            </a:p>
            <a:p>
              <a:pPr marL="123505" lvl="1" algn="l">
                <a:lnSpc>
                  <a:spcPts val="2304"/>
                </a:lnSpc>
              </a:pPr>
              <a:endParaRPr lang="en-US" sz="1600" dirty="0">
                <a:latin typeface="Trebuchet MS" panose="020B0603020202020204" pitchFamily="34" charset="0"/>
                <a:ea typeface="Trebuchet MS"/>
                <a:cs typeface="Trebuchet MS"/>
                <a:sym typeface="Trebuchet MS"/>
              </a:endParaRPr>
            </a:p>
            <a:p>
              <a:pPr marL="247091" lvl="1" indent="-123546" algn="l">
                <a:lnSpc>
                  <a:spcPts val="2304"/>
                </a:lnSpc>
              </a:pPr>
              <a:endParaRPr lang="en-US" sz="1600" u="sng" dirty="0">
                <a:solidFill>
                  <a:srgbClr val="5FCBEF"/>
                </a:solidFill>
                <a:latin typeface="Trebuchet MS" panose="020B0603020202020204" pitchFamily="34" charset="0"/>
                <a:ea typeface="Trebuchet MS"/>
                <a:cs typeface="Trebuchet MS"/>
                <a:sym typeface="Trebuchet MS"/>
              </a:endParaRPr>
            </a:p>
            <a:p>
              <a:pPr marL="247091" lvl="1" indent="-123546" algn="l">
                <a:lnSpc>
                  <a:spcPts val="2304"/>
                </a:lnSpc>
              </a:pPr>
              <a:endParaRPr lang="en-US" sz="1600" u="sng" dirty="0">
                <a:solidFill>
                  <a:srgbClr val="5FCBEF"/>
                </a:solidFill>
                <a:latin typeface="Trebuchet MS" panose="020B0603020202020204" pitchFamily="34" charset="0"/>
                <a:ea typeface="Trebuchet MS"/>
                <a:cs typeface="Trebuchet MS"/>
                <a:sym typeface="Trebuchet MS"/>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92C3B-1B0D-7E10-0D61-2BB6E29D914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735F2C8-BFFE-7B0B-7041-F0133E8B7995}"/>
              </a:ext>
            </a:extLst>
          </p:cNvPr>
          <p:cNvGrpSpPr/>
          <p:nvPr/>
        </p:nvGrpSpPr>
        <p:grpSpPr>
          <a:xfrm>
            <a:off x="-9031" y="4280747"/>
            <a:ext cx="487680" cy="3043485"/>
            <a:chOff x="0" y="0"/>
            <a:chExt cx="650240" cy="4057980"/>
          </a:xfrm>
        </p:grpSpPr>
        <p:sp>
          <p:nvSpPr>
            <p:cNvPr id="3" name="Freeform 3">
              <a:extLst>
                <a:ext uri="{FF2B5EF4-FFF2-40B4-BE49-F238E27FC236}">
                  <a16:creationId xmlns:a16="http://schemas.microsoft.com/office/drawing/2014/main" id="{D78A454A-41B5-EB3E-A91B-041622844EF3}"/>
                </a:ext>
              </a:extLst>
            </p:cNvPr>
            <p:cNvSpPr/>
            <p:nvPr/>
          </p:nvSpPr>
          <p:spPr>
            <a:xfrm>
              <a:off x="0" y="0"/>
              <a:ext cx="650240" cy="4058031"/>
            </a:xfrm>
            <a:custGeom>
              <a:avLst/>
              <a:gdLst/>
              <a:ahLst/>
              <a:cxnLst/>
              <a:rect l="l" t="t" r="r" b="b"/>
              <a:pathLst>
                <a:path w="650240" h="4058031">
                  <a:moveTo>
                    <a:pt x="0" y="0"/>
                  </a:moveTo>
                  <a:lnTo>
                    <a:pt x="650240" y="4058031"/>
                  </a:lnTo>
                  <a:lnTo>
                    <a:pt x="0" y="4045966"/>
                  </a:lnTo>
                  <a:cubicBezTo>
                    <a:pt x="4064" y="2709291"/>
                    <a:pt x="8001" y="1372743"/>
                    <a:pt x="0" y="0"/>
                  </a:cubicBezTo>
                  <a:close/>
                </a:path>
              </a:pathLst>
            </a:custGeom>
            <a:solidFill>
              <a:srgbClr val="5FCBEF">
                <a:alpha val="48627"/>
              </a:srgbClr>
            </a:solidFill>
          </p:spPr>
        </p:sp>
      </p:grpSp>
      <p:sp>
        <p:nvSpPr>
          <p:cNvPr id="4" name="AutoShape 4">
            <a:extLst>
              <a:ext uri="{FF2B5EF4-FFF2-40B4-BE49-F238E27FC236}">
                <a16:creationId xmlns:a16="http://schemas.microsoft.com/office/drawing/2014/main" id="{98663410-1C5C-C3D0-EA16-E87A9C8386D0}"/>
              </a:ext>
            </a:extLst>
          </p:cNvPr>
          <p:cNvSpPr/>
          <p:nvPr/>
        </p:nvSpPr>
        <p:spPr>
          <a:xfrm flipV="1">
            <a:off x="7093128" y="4831900"/>
            <a:ext cx="4300800" cy="2871382"/>
          </a:xfrm>
          <a:prstGeom prst="line">
            <a:avLst/>
          </a:prstGeom>
          <a:ln w="9525" cap="rnd">
            <a:solidFill>
              <a:srgbClr val="5FCBEF"/>
            </a:solidFill>
            <a:prstDash val="solid"/>
            <a:headEnd type="none" w="sm" len="sm"/>
            <a:tailEnd type="none" w="sm" len="sm"/>
          </a:ln>
        </p:spPr>
      </p:sp>
      <p:sp>
        <p:nvSpPr>
          <p:cNvPr id="5" name="AutoShape 5">
            <a:extLst>
              <a:ext uri="{FF2B5EF4-FFF2-40B4-BE49-F238E27FC236}">
                <a16:creationId xmlns:a16="http://schemas.microsoft.com/office/drawing/2014/main" id="{C2864C8A-ACC8-72F0-45F7-D0C5CAF2E33C}"/>
              </a:ext>
            </a:extLst>
          </p:cNvPr>
          <p:cNvSpPr/>
          <p:nvPr/>
        </p:nvSpPr>
        <p:spPr>
          <a:xfrm>
            <a:off x="8728218" y="-11000"/>
            <a:ext cx="1310640" cy="7325360"/>
          </a:xfrm>
          <a:prstGeom prst="line">
            <a:avLst/>
          </a:prstGeom>
          <a:ln w="9525" cap="rnd">
            <a:solidFill>
              <a:srgbClr val="5FCBEF"/>
            </a:solidFill>
            <a:prstDash val="solid"/>
            <a:headEnd type="none" w="sm" len="sm"/>
            <a:tailEnd type="none" w="sm" len="sm"/>
          </a:ln>
        </p:spPr>
      </p:sp>
      <p:grpSp>
        <p:nvGrpSpPr>
          <p:cNvPr id="6" name="Group 6">
            <a:extLst>
              <a:ext uri="{FF2B5EF4-FFF2-40B4-BE49-F238E27FC236}">
                <a16:creationId xmlns:a16="http://schemas.microsoft.com/office/drawing/2014/main" id="{5E9F8460-C99E-4C52-07D6-A8CAB3D8E7F6}"/>
              </a:ext>
            </a:extLst>
          </p:cNvPr>
          <p:cNvGrpSpPr/>
          <p:nvPr/>
        </p:nvGrpSpPr>
        <p:grpSpPr>
          <a:xfrm>
            <a:off x="8500386" y="1"/>
            <a:ext cx="1271707" cy="7324230"/>
            <a:chOff x="0" y="0"/>
            <a:chExt cx="1695610" cy="9765641"/>
          </a:xfrm>
        </p:grpSpPr>
        <p:sp>
          <p:nvSpPr>
            <p:cNvPr id="7" name="Freeform 7">
              <a:extLst>
                <a:ext uri="{FF2B5EF4-FFF2-40B4-BE49-F238E27FC236}">
                  <a16:creationId xmlns:a16="http://schemas.microsoft.com/office/drawing/2014/main" id="{F4F0482F-9B0C-EAEA-1250-DF862FCE4C71}"/>
                </a:ext>
              </a:extLst>
            </p:cNvPr>
            <p:cNvSpPr/>
            <p:nvPr/>
          </p:nvSpPr>
          <p:spPr>
            <a:xfrm>
              <a:off x="0" y="0"/>
              <a:ext cx="1699093" cy="9765665"/>
            </a:xfrm>
            <a:custGeom>
              <a:avLst/>
              <a:gdLst/>
              <a:ahLst/>
              <a:cxnLst/>
              <a:rect l="l" t="t" r="r" b="b"/>
              <a:pathLst>
                <a:path w="1699093" h="9765665">
                  <a:moveTo>
                    <a:pt x="1511897" y="0"/>
                  </a:moveTo>
                  <a:lnTo>
                    <a:pt x="0" y="9753600"/>
                  </a:lnTo>
                  <a:lnTo>
                    <a:pt x="1695305" y="9765665"/>
                  </a:lnTo>
                  <a:cubicBezTo>
                    <a:pt x="1699093" y="6514465"/>
                    <a:pt x="1686898" y="3263265"/>
                    <a:pt x="1688967" y="12065"/>
                  </a:cubicBezTo>
                  <a:lnTo>
                    <a:pt x="1511897" y="0"/>
                  </a:lnTo>
                  <a:close/>
                </a:path>
              </a:pathLst>
            </a:custGeom>
            <a:solidFill>
              <a:srgbClr val="5FCBEF">
                <a:alpha val="12941"/>
              </a:srgbClr>
            </a:solidFill>
          </p:spPr>
        </p:sp>
      </p:grpSp>
      <p:grpSp>
        <p:nvGrpSpPr>
          <p:cNvPr id="8" name="Group 8">
            <a:extLst>
              <a:ext uri="{FF2B5EF4-FFF2-40B4-BE49-F238E27FC236}">
                <a16:creationId xmlns:a16="http://schemas.microsoft.com/office/drawing/2014/main" id="{22F3AD53-663A-54C4-4F9C-BBDA75F9F4BC}"/>
              </a:ext>
            </a:extLst>
          </p:cNvPr>
          <p:cNvGrpSpPr/>
          <p:nvPr/>
        </p:nvGrpSpPr>
        <p:grpSpPr>
          <a:xfrm>
            <a:off x="8606682" y="-9031"/>
            <a:ext cx="1156844" cy="7324231"/>
            <a:chOff x="0" y="0"/>
            <a:chExt cx="1542458" cy="9765642"/>
          </a:xfrm>
        </p:grpSpPr>
        <p:sp>
          <p:nvSpPr>
            <p:cNvPr id="9" name="Freeform 9">
              <a:extLst>
                <a:ext uri="{FF2B5EF4-FFF2-40B4-BE49-F238E27FC236}">
                  <a16:creationId xmlns:a16="http://schemas.microsoft.com/office/drawing/2014/main" id="{BA4684D7-4094-7A9B-5477-DF07C0C4072E}"/>
                </a:ext>
              </a:extLst>
            </p:cNvPr>
            <p:cNvSpPr/>
            <p:nvPr/>
          </p:nvSpPr>
          <p:spPr>
            <a:xfrm>
              <a:off x="0" y="0"/>
              <a:ext cx="1545440" cy="9765665"/>
            </a:xfrm>
            <a:custGeom>
              <a:avLst/>
              <a:gdLst/>
              <a:ahLst/>
              <a:cxnLst/>
              <a:rect l="l" t="t" r="r" b="b"/>
              <a:pathLst>
                <a:path w="1545440" h="9765665">
                  <a:moveTo>
                    <a:pt x="0" y="0"/>
                  </a:moveTo>
                  <a:lnTo>
                    <a:pt x="951924" y="9765665"/>
                  </a:lnTo>
                  <a:lnTo>
                    <a:pt x="1541856" y="9765665"/>
                  </a:lnTo>
                  <a:cubicBezTo>
                    <a:pt x="1539594" y="6510401"/>
                    <a:pt x="1545440" y="3255264"/>
                    <a:pt x="1541856" y="0"/>
                  </a:cubicBezTo>
                  <a:lnTo>
                    <a:pt x="0" y="0"/>
                  </a:lnTo>
                  <a:close/>
                </a:path>
              </a:pathLst>
            </a:custGeom>
            <a:solidFill>
              <a:srgbClr val="5FCBEF">
                <a:alpha val="3922"/>
              </a:srgbClr>
            </a:solidFill>
          </p:spPr>
        </p:sp>
      </p:grpSp>
      <p:grpSp>
        <p:nvGrpSpPr>
          <p:cNvPr id="10" name="Group 10">
            <a:extLst>
              <a:ext uri="{FF2B5EF4-FFF2-40B4-BE49-F238E27FC236}">
                <a16:creationId xmlns:a16="http://schemas.microsoft.com/office/drawing/2014/main" id="{C7E146AC-E292-72FB-BBAB-DC6508966DDF}"/>
              </a:ext>
            </a:extLst>
          </p:cNvPr>
          <p:cNvGrpSpPr/>
          <p:nvPr/>
        </p:nvGrpSpPr>
        <p:grpSpPr>
          <a:xfrm>
            <a:off x="8500386" y="4181404"/>
            <a:ext cx="1261172" cy="3133795"/>
            <a:chOff x="0" y="0"/>
            <a:chExt cx="1681563" cy="4178394"/>
          </a:xfrm>
        </p:grpSpPr>
        <p:sp>
          <p:nvSpPr>
            <p:cNvPr id="11" name="Freeform 11">
              <a:extLst>
                <a:ext uri="{FF2B5EF4-FFF2-40B4-BE49-F238E27FC236}">
                  <a16:creationId xmlns:a16="http://schemas.microsoft.com/office/drawing/2014/main" id="{755A02A9-61FD-49B7-E85A-8ABECF038CFF}"/>
                </a:ext>
              </a:extLst>
            </p:cNvPr>
            <p:cNvSpPr/>
            <p:nvPr/>
          </p:nvSpPr>
          <p:spPr>
            <a:xfrm>
              <a:off x="0" y="0"/>
              <a:ext cx="1681538" cy="4178427"/>
            </a:xfrm>
            <a:custGeom>
              <a:avLst/>
              <a:gdLst/>
              <a:ahLst/>
              <a:cxnLst/>
              <a:rect l="l" t="t" r="r" b="b"/>
              <a:pathLst>
                <a:path w="1681538" h="4178427">
                  <a:moveTo>
                    <a:pt x="0" y="4178427"/>
                  </a:moveTo>
                  <a:lnTo>
                    <a:pt x="1677177" y="0"/>
                  </a:lnTo>
                  <a:cubicBezTo>
                    <a:pt x="1678611" y="1392809"/>
                    <a:pt x="1680104" y="2785618"/>
                    <a:pt x="1681538" y="4178427"/>
                  </a:cubicBezTo>
                  <a:lnTo>
                    <a:pt x="0" y="4178427"/>
                  </a:lnTo>
                  <a:close/>
                </a:path>
              </a:pathLst>
            </a:custGeom>
            <a:solidFill>
              <a:srgbClr val="17B0E4">
                <a:alpha val="43529"/>
              </a:srgbClr>
            </a:solidFill>
          </p:spPr>
        </p:sp>
      </p:grpSp>
      <p:grpSp>
        <p:nvGrpSpPr>
          <p:cNvPr id="12" name="Group 12">
            <a:extLst>
              <a:ext uri="{FF2B5EF4-FFF2-40B4-BE49-F238E27FC236}">
                <a16:creationId xmlns:a16="http://schemas.microsoft.com/office/drawing/2014/main" id="{E0E9F11F-A603-27B7-D364-DC2E16D0571F}"/>
              </a:ext>
            </a:extLst>
          </p:cNvPr>
          <p:cNvGrpSpPr/>
          <p:nvPr/>
        </p:nvGrpSpPr>
        <p:grpSpPr>
          <a:xfrm>
            <a:off x="8723530" y="-9031"/>
            <a:ext cx="1039995" cy="7324231"/>
            <a:chOff x="0" y="0"/>
            <a:chExt cx="1386660" cy="9765642"/>
          </a:xfrm>
        </p:grpSpPr>
        <p:sp>
          <p:nvSpPr>
            <p:cNvPr id="13" name="Freeform 13">
              <a:extLst>
                <a:ext uri="{FF2B5EF4-FFF2-40B4-BE49-F238E27FC236}">
                  <a16:creationId xmlns:a16="http://schemas.microsoft.com/office/drawing/2014/main" id="{99AE93E9-C366-9163-BB18-FAD9B4287576}"/>
                </a:ext>
              </a:extLst>
            </p:cNvPr>
            <p:cNvSpPr/>
            <p:nvPr/>
          </p:nvSpPr>
          <p:spPr>
            <a:xfrm>
              <a:off x="0" y="0"/>
              <a:ext cx="1386648" cy="9765665"/>
            </a:xfrm>
            <a:custGeom>
              <a:avLst/>
              <a:gdLst/>
              <a:ahLst/>
              <a:cxnLst/>
              <a:rect l="l" t="t" r="r" b="b"/>
              <a:pathLst>
                <a:path w="1386648" h="9765665">
                  <a:moveTo>
                    <a:pt x="0" y="0"/>
                  </a:moveTo>
                  <a:lnTo>
                    <a:pt x="1201507" y="9765665"/>
                  </a:lnTo>
                  <a:lnTo>
                    <a:pt x="1386648" y="9753600"/>
                  </a:lnTo>
                  <a:lnTo>
                    <a:pt x="1386648" y="0"/>
                  </a:lnTo>
                  <a:lnTo>
                    <a:pt x="0" y="0"/>
                  </a:lnTo>
                  <a:close/>
                </a:path>
              </a:pathLst>
            </a:custGeom>
            <a:solidFill>
              <a:srgbClr val="17B0E4">
                <a:alpha val="24706"/>
              </a:srgbClr>
            </a:solidFill>
          </p:spPr>
        </p:sp>
      </p:grpSp>
      <p:grpSp>
        <p:nvGrpSpPr>
          <p:cNvPr id="14" name="Group 14">
            <a:extLst>
              <a:ext uri="{FF2B5EF4-FFF2-40B4-BE49-F238E27FC236}">
                <a16:creationId xmlns:a16="http://schemas.microsoft.com/office/drawing/2014/main" id="{FFA4CE93-E6D1-F2DA-2056-C45A35F0A1BE}"/>
              </a:ext>
            </a:extLst>
          </p:cNvPr>
          <p:cNvGrpSpPr/>
          <p:nvPr/>
        </p:nvGrpSpPr>
        <p:grpSpPr>
          <a:xfrm>
            <a:off x="8848828" y="-9031"/>
            <a:ext cx="914699" cy="7324231"/>
            <a:chOff x="0" y="0"/>
            <a:chExt cx="1219598" cy="9765642"/>
          </a:xfrm>
        </p:grpSpPr>
        <p:sp>
          <p:nvSpPr>
            <p:cNvPr id="15" name="Freeform 15">
              <a:extLst>
                <a:ext uri="{FF2B5EF4-FFF2-40B4-BE49-F238E27FC236}">
                  <a16:creationId xmlns:a16="http://schemas.microsoft.com/office/drawing/2014/main" id="{FE166470-75A3-A19D-2F78-9A9F30E7AA1E}"/>
                </a:ext>
              </a:extLst>
            </p:cNvPr>
            <p:cNvSpPr/>
            <p:nvPr/>
          </p:nvSpPr>
          <p:spPr>
            <a:xfrm>
              <a:off x="0" y="0"/>
              <a:ext cx="1219581" cy="9765665"/>
            </a:xfrm>
            <a:custGeom>
              <a:avLst/>
              <a:gdLst/>
              <a:ahLst/>
              <a:cxnLst/>
              <a:rect l="l" t="t" r="r" b="b"/>
              <a:pathLst>
                <a:path w="1219581" h="9765665">
                  <a:moveTo>
                    <a:pt x="962787" y="0"/>
                  </a:moveTo>
                  <a:lnTo>
                    <a:pt x="0" y="9765665"/>
                  </a:lnTo>
                  <a:lnTo>
                    <a:pt x="1219581" y="9765665"/>
                  </a:lnTo>
                  <a:cubicBezTo>
                    <a:pt x="1216914" y="6510401"/>
                    <a:pt x="1214247" y="3255264"/>
                    <a:pt x="1211580" y="0"/>
                  </a:cubicBezTo>
                  <a:lnTo>
                    <a:pt x="962787" y="0"/>
                  </a:lnTo>
                  <a:close/>
                </a:path>
              </a:pathLst>
            </a:custGeom>
            <a:solidFill>
              <a:srgbClr val="2E83C3">
                <a:alpha val="48627"/>
              </a:srgbClr>
            </a:solidFill>
          </p:spPr>
        </p:sp>
      </p:grpSp>
      <p:grpSp>
        <p:nvGrpSpPr>
          <p:cNvPr id="16" name="Group 16">
            <a:extLst>
              <a:ext uri="{FF2B5EF4-FFF2-40B4-BE49-F238E27FC236}">
                <a16:creationId xmlns:a16="http://schemas.microsoft.com/office/drawing/2014/main" id="{FCFF9BD8-C255-7A32-BC01-0984B1A056B8}"/>
              </a:ext>
            </a:extLst>
          </p:cNvPr>
          <p:cNvGrpSpPr/>
          <p:nvPr/>
        </p:nvGrpSpPr>
        <p:grpSpPr>
          <a:xfrm>
            <a:off x="9190194" y="-9033"/>
            <a:ext cx="581470" cy="7324231"/>
            <a:chOff x="0" y="0"/>
            <a:chExt cx="775293" cy="9765642"/>
          </a:xfrm>
        </p:grpSpPr>
        <p:sp>
          <p:nvSpPr>
            <p:cNvPr id="17" name="Freeform 17">
              <a:extLst>
                <a:ext uri="{FF2B5EF4-FFF2-40B4-BE49-F238E27FC236}">
                  <a16:creationId xmlns:a16="http://schemas.microsoft.com/office/drawing/2014/main" id="{355F3CF4-C4A1-F041-DC42-8B96D2D798C2}"/>
                </a:ext>
              </a:extLst>
            </p:cNvPr>
            <p:cNvSpPr/>
            <p:nvPr/>
          </p:nvSpPr>
          <p:spPr>
            <a:xfrm>
              <a:off x="0" y="0"/>
              <a:ext cx="778426" cy="9765665"/>
            </a:xfrm>
            <a:custGeom>
              <a:avLst/>
              <a:gdLst/>
              <a:ahLst/>
              <a:cxnLst/>
              <a:rect l="l" t="t" r="r" b="b"/>
              <a:pathLst>
                <a:path w="778426" h="9765665">
                  <a:moveTo>
                    <a:pt x="0" y="0"/>
                  </a:moveTo>
                  <a:lnTo>
                    <a:pt x="682143" y="9765665"/>
                  </a:lnTo>
                  <a:lnTo>
                    <a:pt x="775142" y="9765665"/>
                  </a:lnTo>
                  <a:cubicBezTo>
                    <a:pt x="778426" y="6506464"/>
                    <a:pt x="763071" y="3259201"/>
                    <a:pt x="764823" y="0"/>
                  </a:cubicBezTo>
                  <a:lnTo>
                    <a:pt x="0" y="0"/>
                  </a:lnTo>
                  <a:close/>
                </a:path>
              </a:pathLst>
            </a:custGeom>
            <a:solidFill>
              <a:srgbClr val="236292">
                <a:alpha val="67059"/>
              </a:srgbClr>
            </a:solidFill>
          </p:spPr>
        </p:sp>
      </p:grpSp>
      <p:grpSp>
        <p:nvGrpSpPr>
          <p:cNvPr id="18" name="Group 18">
            <a:extLst>
              <a:ext uri="{FF2B5EF4-FFF2-40B4-BE49-F238E27FC236}">
                <a16:creationId xmlns:a16="http://schemas.microsoft.com/office/drawing/2014/main" id="{7002A69B-BF28-AC44-758C-6CD4C2626456}"/>
              </a:ext>
            </a:extLst>
          </p:cNvPr>
          <p:cNvGrpSpPr/>
          <p:nvPr/>
        </p:nvGrpSpPr>
        <p:grpSpPr>
          <a:xfrm>
            <a:off x="8606682" y="5219982"/>
            <a:ext cx="1167025" cy="2095218"/>
            <a:chOff x="0" y="0"/>
            <a:chExt cx="1556033" cy="2793624"/>
          </a:xfrm>
        </p:grpSpPr>
        <p:sp>
          <p:nvSpPr>
            <p:cNvPr id="19" name="Freeform 19">
              <a:extLst>
                <a:ext uri="{FF2B5EF4-FFF2-40B4-BE49-F238E27FC236}">
                  <a16:creationId xmlns:a16="http://schemas.microsoft.com/office/drawing/2014/main" id="{BC6B5FC8-041F-2C5E-3705-C6C91B776BD6}"/>
                </a:ext>
              </a:extLst>
            </p:cNvPr>
            <p:cNvSpPr/>
            <p:nvPr/>
          </p:nvSpPr>
          <p:spPr>
            <a:xfrm>
              <a:off x="0" y="0"/>
              <a:ext cx="1556004" cy="2793619"/>
            </a:xfrm>
            <a:custGeom>
              <a:avLst/>
              <a:gdLst/>
              <a:ahLst/>
              <a:cxnLst/>
              <a:rect l="l" t="t" r="r" b="b"/>
              <a:pathLst>
                <a:path w="1556004" h="2793619">
                  <a:moveTo>
                    <a:pt x="0" y="2793619"/>
                  </a:moveTo>
                  <a:lnTo>
                    <a:pt x="1548765" y="0"/>
                  </a:lnTo>
                  <a:cubicBezTo>
                    <a:pt x="1551178" y="928751"/>
                    <a:pt x="1553591" y="1857629"/>
                    <a:pt x="1556004" y="2786380"/>
                  </a:cubicBezTo>
                  <a:lnTo>
                    <a:pt x="0" y="2793619"/>
                  </a:lnTo>
                  <a:close/>
                </a:path>
              </a:pathLst>
            </a:custGeom>
            <a:solidFill>
              <a:srgbClr val="17B0E4">
                <a:alpha val="43529"/>
              </a:srgbClr>
            </a:solidFill>
          </p:spPr>
        </p:sp>
      </p:grpSp>
      <p:grpSp>
        <p:nvGrpSpPr>
          <p:cNvPr id="20" name="Group 20">
            <a:extLst>
              <a:ext uri="{FF2B5EF4-FFF2-40B4-BE49-F238E27FC236}">
                <a16:creationId xmlns:a16="http://schemas.microsoft.com/office/drawing/2014/main" id="{09A12F06-58E3-AEA9-E386-1AC773C3DDCB}"/>
              </a:ext>
            </a:extLst>
          </p:cNvPr>
          <p:cNvGrpSpPr/>
          <p:nvPr/>
        </p:nvGrpSpPr>
        <p:grpSpPr>
          <a:xfrm>
            <a:off x="650239" y="650240"/>
            <a:ext cx="6770894" cy="1408853"/>
            <a:chOff x="0" y="0"/>
            <a:chExt cx="9027858" cy="1878471"/>
          </a:xfrm>
        </p:grpSpPr>
        <p:sp>
          <p:nvSpPr>
            <p:cNvPr id="21" name="Freeform 21">
              <a:extLst>
                <a:ext uri="{FF2B5EF4-FFF2-40B4-BE49-F238E27FC236}">
                  <a16:creationId xmlns:a16="http://schemas.microsoft.com/office/drawing/2014/main" id="{1B485B14-0381-55E4-3D0B-7F2830DE1FC2}"/>
                </a:ext>
              </a:extLst>
            </p:cNvPr>
            <p:cNvSpPr/>
            <p:nvPr/>
          </p:nvSpPr>
          <p:spPr>
            <a:xfrm>
              <a:off x="0" y="0"/>
              <a:ext cx="9027858" cy="1878471"/>
            </a:xfrm>
            <a:custGeom>
              <a:avLst/>
              <a:gdLst/>
              <a:ahLst/>
              <a:cxnLst/>
              <a:rect l="l" t="t" r="r" b="b"/>
              <a:pathLst>
                <a:path w="9027858" h="1878471">
                  <a:moveTo>
                    <a:pt x="0" y="0"/>
                  </a:moveTo>
                  <a:lnTo>
                    <a:pt x="9027858" y="0"/>
                  </a:lnTo>
                  <a:lnTo>
                    <a:pt x="9027858" y="1878471"/>
                  </a:lnTo>
                  <a:lnTo>
                    <a:pt x="0" y="1878471"/>
                  </a:lnTo>
                  <a:close/>
                </a:path>
              </a:pathLst>
            </a:custGeom>
            <a:solidFill>
              <a:srgbClr val="000000">
                <a:alpha val="0"/>
              </a:srgbClr>
            </a:solidFill>
          </p:spPr>
        </p:sp>
        <p:sp>
          <p:nvSpPr>
            <p:cNvPr id="22" name="TextBox 22">
              <a:extLst>
                <a:ext uri="{FF2B5EF4-FFF2-40B4-BE49-F238E27FC236}">
                  <a16:creationId xmlns:a16="http://schemas.microsoft.com/office/drawing/2014/main" id="{CE7EC979-64A8-D270-AE1A-9721FEB920B3}"/>
                </a:ext>
              </a:extLst>
            </p:cNvPr>
            <p:cNvSpPr txBox="1"/>
            <p:nvPr/>
          </p:nvSpPr>
          <p:spPr>
            <a:xfrm>
              <a:off x="0" y="-9525"/>
              <a:ext cx="9027858" cy="1887996"/>
            </a:xfrm>
            <a:prstGeom prst="rect">
              <a:avLst/>
            </a:prstGeom>
          </p:spPr>
          <p:txBody>
            <a:bodyPr lIns="0" tIns="0" rIns="0" bIns="0" rtlCol="0" anchor="t"/>
            <a:lstStyle/>
            <a:p>
              <a:pPr algn="l">
                <a:lnSpc>
                  <a:spcPts val="4608"/>
                </a:lnSpc>
              </a:pPr>
              <a:r>
                <a:rPr lang="en-US" sz="3840">
                  <a:solidFill>
                    <a:srgbClr val="5FCBEF"/>
                  </a:solidFill>
                  <a:latin typeface="Trebuchet MS" panose="020B0603020202020204" pitchFamily="34" charset="0"/>
                  <a:ea typeface="Trebuchet MS"/>
                  <a:cs typeface="Trebuchet MS"/>
                  <a:sym typeface="Trebuchet MS"/>
                </a:rPr>
                <a:t>REFERENCES</a:t>
              </a:r>
            </a:p>
          </p:txBody>
        </p:sp>
      </p:grpSp>
      <p:grpSp>
        <p:nvGrpSpPr>
          <p:cNvPr id="23" name="Group 23">
            <a:extLst>
              <a:ext uri="{FF2B5EF4-FFF2-40B4-BE49-F238E27FC236}">
                <a16:creationId xmlns:a16="http://schemas.microsoft.com/office/drawing/2014/main" id="{ED5CB72A-1D0F-5857-55FD-EC993F031088}"/>
              </a:ext>
            </a:extLst>
          </p:cNvPr>
          <p:cNvGrpSpPr/>
          <p:nvPr/>
        </p:nvGrpSpPr>
        <p:grpSpPr>
          <a:xfrm>
            <a:off x="650239" y="1453339"/>
            <a:ext cx="8167542" cy="5580588"/>
            <a:chOff x="0" y="0"/>
            <a:chExt cx="10890056" cy="7440784"/>
          </a:xfrm>
        </p:grpSpPr>
        <p:sp>
          <p:nvSpPr>
            <p:cNvPr id="24" name="Freeform 24">
              <a:extLst>
                <a:ext uri="{FF2B5EF4-FFF2-40B4-BE49-F238E27FC236}">
                  <a16:creationId xmlns:a16="http://schemas.microsoft.com/office/drawing/2014/main" id="{11DB3555-CDF6-DF42-9045-29C86C0FDBCD}"/>
                </a:ext>
              </a:extLst>
            </p:cNvPr>
            <p:cNvSpPr/>
            <p:nvPr/>
          </p:nvSpPr>
          <p:spPr>
            <a:xfrm>
              <a:off x="0" y="0"/>
              <a:ext cx="10890055" cy="7440784"/>
            </a:xfrm>
            <a:custGeom>
              <a:avLst/>
              <a:gdLst/>
              <a:ahLst/>
              <a:cxnLst/>
              <a:rect l="l" t="t" r="r" b="b"/>
              <a:pathLst>
                <a:path w="10890055" h="7440784">
                  <a:moveTo>
                    <a:pt x="0" y="0"/>
                  </a:moveTo>
                  <a:lnTo>
                    <a:pt x="10890055" y="0"/>
                  </a:lnTo>
                  <a:lnTo>
                    <a:pt x="10890055" y="7440784"/>
                  </a:lnTo>
                  <a:lnTo>
                    <a:pt x="0" y="7440784"/>
                  </a:lnTo>
                  <a:close/>
                </a:path>
              </a:pathLst>
            </a:custGeom>
            <a:solidFill>
              <a:srgbClr val="000000">
                <a:alpha val="0"/>
              </a:srgbClr>
            </a:solidFill>
          </p:spPr>
        </p:sp>
        <p:sp>
          <p:nvSpPr>
            <p:cNvPr id="25" name="TextBox 25">
              <a:extLst>
                <a:ext uri="{FF2B5EF4-FFF2-40B4-BE49-F238E27FC236}">
                  <a16:creationId xmlns:a16="http://schemas.microsoft.com/office/drawing/2014/main" id="{8292AACA-FD1C-E176-8291-99B18F1145D7}"/>
                </a:ext>
              </a:extLst>
            </p:cNvPr>
            <p:cNvSpPr txBox="1"/>
            <p:nvPr/>
          </p:nvSpPr>
          <p:spPr>
            <a:xfrm>
              <a:off x="0" y="-19050"/>
              <a:ext cx="10890056" cy="7459834"/>
            </a:xfrm>
            <a:prstGeom prst="rect">
              <a:avLst/>
            </a:prstGeom>
          </p:spPr>
          <p:txBody>
            <a:bodyPr lIns="0" tIns="0" rIns="0" bIns="0" rtlCol="0" anchor="t"/>
            <a:lstStyle/>
            <a:p>
              <a:pPr marL="247010" lvl="1" indent="-123505">
                <a:lnSpc>
                  <a:spcPts val="2304"/>
                </a:lnSpc>
                <a:buFont typeface="Arial"/>
                <a:buChar char="•"/>
              </a:pPr>
              <a:r>
                <a:rPr lang="en-US" sz="1600" dirty="0">
                  <a:latin typeface="Trebuchet MS" panose="020B0603020202020204" pitchFamily="34" charset="0"/>
                  <a:ea typeface="Trebuchet MS"/>
                  <a:cs typeface="Trebuchet MS"/>
                  <a:sym typeface="Trebuchet MS"/>
                </a:rPr>
                <a:t>X. He, Y. Ren, P. Tai and H. Shi, "A Two-Stage Biomedical Event Trigger Detection Method Based on Hybrid Neural Network and Sentence Embeddings," in IEEE Access, vol. 9, pp. 81926-81935, 2021, </a:t>
              </a:r>
              <a:r>
                <a:rPr lang="en-US" sz="1600" dirty="0" err="1">
                  <a:latin typeface="Trebuchet MS" panose="020B0603020202020204" pitchFamily="34" charset="0"/>
                  <a:ea typeface="Trebuchet MS"/>
                  <a:cs typeface="Trebuchet MS"/>
                  <a:sym typeface="Trebuchet MS"/>
                </a:rPr>
                <a:t>doi</a:t>
              </a:r>
              <a:r>
                <a:rPr lang="en-US" sz="1600" dirty="0">
                  <a:latin typeface="Trebuchet MS" panose="020B0603020202020204" pitchFamily="34" charset="0"/>
                  <a:ea typeface="Trebuchet MS"/>
                  <a:cs typeface="Trebuchet MS"/>
                  <a:sym typeface="Trebuchet MS"/>
                </a:rPr>
                <a:t>: 10.1109/ACCESS.2021.3085992. </a:t>
              </a:r>
              <a:r>
                <a:rPr lang="en-US" sz="1600" dirty="0">
                  <a:latin typeface="Trebuchet MS" panose="020B0603020202020204" pitchFamily="34" charset="0"/>
                  <a:ea typeface="Trebuchet MS"/>
                  <a:cs typeface="Trebuchet MS"/>
                  <a:sym typeface="Trebuchet MS"/>
                  <a:hlinkClick r:id="rId2"/>
                </a:rPr>
                <a:t>https://ieeexplore.ieee.org/document/9446136</a:t>
              </a:r>
              <a:r>
                <a:rPr lang="en-US" sz="1600" dirty="0">
                  <a:latin typeface="Trebuchet MS" panose="020B0603020202020204" pitchFamily="34" charset="0"/>
                  <a:ea typeface="Trebuchet MS"/>
                  <a:cs typeface="Trebuchet MS"/>
                  <a:sym typeface="Trebuchet MS"/>
                </a:rPr>
                <a:t> </a:t>
              </a:r>
              <a:r>
                <a:rPr lang="en-IN" sz="1600" dirty="0">
                  <a:solidFill>
                    <a:srgbClr val="222222"/>
                  </a:solidFill>
                  <a:latin typeface="Trebuchet MS" panose="020B0603020202020204" pitchFamily="34" charset="0"/>
                  <a:hlinkClick r:id="rId3" action="ppaction://hlinksldjump"/>
                </a:rPr>
                <a:t>[5]</a:t>
              </a:r>
              <a:endParaRPr lang="en-IN" sz="1600" b="0" i="0" dirty="0">
                <a:solidFill>
                  <a:srgbClr val="222222"/>
                </a:solidFill>
                <a:effectLst/>
                <a:latin typeface="Trebuchet MS" panose="020B0603020202020204" pitchFamily="34" charset="0"/>
              </a:endParaRPr>
            </a:p>
            <a:p>
              <a:pPr marL="247010" lvl="1" indent="-123505" algn="l">
                <a:lnSpc>
                  <a:spcPts val="2304"/>
                </a:lnSpc>
                <a:buFont typeface="Arial"/>
                <a:buChar char="•"/>
              </a:pPr>
              <a:endParaRPr lang="en-US" sz="1600" dirty="0">
                <a:latin typeface="Trebuchet MS" panose="020B0603020202020204" pitchFamily="34" charset="0"/>
                <a:ea typeface="Trebuchet MS"/>
                <a:cs typeface="Trebuchet MS"/>
                <a:sym typeface="Trebuchet MS"/>
              </a:endParaRPr>
            </a:p>
            <a:p>
              <a:pPr marL="247010" lvl="1" indent="-123505">
                <a:lnSpc>
                  <a:spcPts val="2304"/>
                </a:lnSpc>
                <a:buFont typeface="Arial"/>
                <a:buChar char="•"/>
              </a:pPr>
              <a:r>
                <a:rPr lang="en-IN" sz="1600" b="0" i="0" dirty="0">
                  <a:solidFill>
                    <a:srgbClr val="212121"/>
                  </a:solidFill>
                  <a:effectLst/>
                  <a:latin typeface="Trebuchet MS" panose="020B0603020202020204" pitchFamily="34" charset="0"/>
                </a:rPr>
                <a:t>Gupta SK, Shah JC, Hwang SS. Pharmacokinetic and pharmacodynamic characterization of OROS and immediate-release amitriptyline. Br J Clin </a:t>
              </a:r>
              <a:r>
                <a:rPr lang="en-IN" sz="1600" b="0" i="0" dirty="0" err="1">
                  <a:solidFill>
                    <a:srgbClr val="212121"/>
                  </a:solidFill>
                  <a:effectLst/>
                  <a:latin typeface="Trebuchet MS" panose="020B0603020202020204" pitchFamily="34" charset="0"/>
                </a:rPr>
                <a:t>Pharmacol</a:t>
              </a:r>
              <a:r>
                <a:rPr lang="en-IN" sz="1600" b="0" i="0" dirty="0">
                  <a:solidFill>
                    <a:srgbClr val="212121"/>
                  </a:solidFill>
                  <a:effectLst/>
                  <a:latin typeface="Trebuchet MS" panose="020B0603020202020204" pitchFamily="34" charset="0"/>
                </a:rPr>
                <a:t>. 1999 Jul;48(1):71-8. </a:t>
              </a:r>
              <a:r>
                <a:rPr lang="en-IN" sz="1600" b="0" i="0" dirty="0" err="1">
                  <a:solidFill>
                    <a:srgbClr val="212121"/>
                  </a:solidFill>
                  <a:effectLst/>
                  <a:latin typeface="Trebuchet MS" panose="020B0603020202020204" pitchFamily="34" charset="0"/>
                </a:rPr>
                <a:t>doi</a:t>
              </a:r>
              <a:r>
                <a:rPr lang="en-IN" sz="1600" b="0" i="0" dirty="0">
                  <a:solidFill>
                    <a:srgbClr val="212121"/>
                  </a:solidFill>
                  <a:effectLst/>
                  <a:latin typeface="Trebuchet MS" panose="020B0603020202020204" pitchFamily="34" charset="0"/>
                </a:rPr>
                <a:t>: 10.1046/j.1365-2125.1999.00973.x. PMID: 10383563; PMCID: PMC2014871. </a:t>
              </a:r>
              <a:r>
                <a:rPr lang="en-IN" sz="1600" b="0" i="0" dirty="0">
                  <a:solidFill>
                    <a:srgbClr val="212121"/>
                  </a:solidFill>
                  <a:effectLst/>
                  <a:latin typeface="Trebuchet MS" panose="020B0603020202020204" pitchFamily="34" charset="0"/>
                  <a:hlinkClick r:id="rId4"/>
                </a:rPr>
                <a:t>https://pubmed.ncbi.nlm.nih.gov/10383563/</a:t>
              </a:r>
              <a:r>
                <a:rPr lang="en-IN" sz="1600" b="0" i="0" dirty="0">
                  <a:solidFill>
                    <a:srgbClr val="212121"/>
                  </a:solidFill>
                  <a:effectLst/>
                  <a:latin typeface="Trebuchet MS" panose="020B0603020202020204" pitchFamily="34" charset="0"/>
                </a:rPr>
                <a:t> </a:t>
              </a:r>
              <a:r>
                <a:rPr lang="en-IN" sz="1600" dirty="0">
                  <a:solidFill>
                    <a:srgbClr val="222222"/>
                  </a:solidFill>
                  <a:latin typeface="Trebuchet MS" panose="020B0603020202020204" pitchFamily="34" charset="0"/>
                </a:rPr>
                <a:t>[6]</a:t>
              </a:r>
              <a:endParaRPr lang="en-IN" sz="1600" b="0" i="0" dirty="0">
                <a:solidFill>
                  <a:srgbClr val="222222"/>
                </a:solidFill>
                <a:effectLst/>
                <a:latin typeface="Trebuchet MS" panose="020B0603020202020204" pitchFamily="34" charset="0"/>
              </a:endParaRPr>
            </a:p>
            <a:p>
              <a:pPr marL="247010" lvl="1" indent="-123505" algn="l">
                <a:lnSpc>
                  <a:spcPts val="2304"/>
                </a:lnSpc>
                <a:buFont typeface="Arial"/>
                <a:buChar char="•"/>
              </a:pPr>
              <a:endParaRPr lang="en-IN" sz="1600" b="0" i="0" dirty="0">
                <a:solidFill>
                  <a:srgbClr val="212121"/>
                </a:solidFill>
                <a:effectLst/>
                <a:latin typeface="Trebuchet MS" panose="020B0603020202020204" pitchFamily="34" charset="0"/>
              </a:endParaRPr>
            </a:p>
            <a:p>
              <a:pPr marL="247010" lvl="1" indent="-123505">
                <a:lnSpc>
                  <a:spcPts val="2304"/>
                </a:lnSpc>
                <a:buFont typeface="Arial"/>
                <a:buChar char="•"/>
              </a:pPr>
              <a:r>
                <a:rPr lang="en-IN" sz="1600" dirty="0">
                  <a:latin typeface="Trebuchet MS" panose="020B0603020202020204" pitchFamily="34" charset="0"/>
                </a:rPr>
                <a:t>U. Kamoto, Y. Isoda and H. Ota, "Wearable Iontophoresis Device Using Stretchable Electrodes Towards Transdermal Delivery," </a:t>
              </a:r>
              <a:r>
                <a:rPr lang="en-IN" sz="1600" i="1" dirty="0">
                  <a:latin typeface="Trebuchet MS" panose="020B0603020202020204" pitchFamily="34" charset="0"/>
                </a:rPr>
                <a:t>2019 20th International Conference on Solid-State Sensors, Actuators and Microsystems &amp; </a:t>
              </a:r>
              <a:r>
                <a:rPr lang="en-IN" sz="1600" i="1" dirty="0" err="1">
                  <a:latin typeface="Trebuchet MS" panose="020B0603020202020204" pitchFamily="34" charset="0"/>
                </a:rPr>
                <a:t>Eurosensors</a:t>
              </a:r>
              <a:r>
                <a:rPr lang="en-IN" sz="1600" i="1" dirty="0">
                  <a:latin typeface="Trebuchet MS" panose="020B0603020202020204" pitchFamily="34" charset="0"/>
                </a:rPr>
                <a:t> XXXIII (TRANSDUCERS &amp; EUROSENSORS XXXIII)</a:t>
              </a:r>
              <a:r>
                <a:rPr lang="en-IN" sz="1600" dirty="0">
                  <a:latin typeface="Trebuchet MS" panose="020B0603020202020204" pitchFamily="34" charset="0"/>
                </a:rPr>
                <a:t>, Berlin, Germany, 2019, pp. 2255-2257, </a:t>
              </a:r>
              <a:r>
                <a:rPr lang="en-IN" sz="1600" dirty="0" err="1">
                  <a:latin typeface="Trebuchet MS" panose="020B0603020202020204" pitchFamily="34" charset="0"/>
                </a:rPr>
                <a:t>doi</a:t>
              </a:r>
              <a:r>
                <a:rPr lang="en-IN" sz="1600" dirty="0">
                  <a:latin typeface="Trebuchet MS" panose="020B0603020202020204" pitchFamily="34" charset="0"/>
                </a:rPr>
                <a:t>: 10.1109/TRANSDUCERS.2019.8808388. </a:t>
              </a:r>
              <a:r>
                <a:rPr lang="en-IN" sz="1600" dirty="0">
                  <a:latin typeface="Trebuchet MS" panose="020B0603020202020204" pitchFamily="34" charset="0"/>
                  <a:hlinkClick r:id="rId5"/>
                </a:rPr>
                <a:t>https://ieeexplore.ieee.org/document/8808388</a:t>
              </a:r>
              <a:r>
                <a:rPr lang="en-IN" sz="1600" dirty="0">
                  <a:latin typeface="Trebuchet MS" panose="020B0603020202020204" pitchFamily="34" charset="0"/>
                </a:rPr>
                <a:t> </a:t>
              </a:r>
              <a:r>
                <a:rPr lang="en-IN" sz="1600" dirty="0">
                  <a:solidFill>
                    <a:srgbClr val="222222"/>
                  </a:solidFill>
                  <a:latin typeface="Trebuchet MS" panose="020B0603020202020204" pitchFamily="34" charset="0"/>
                  <a:hlinkClick r:id="rId6" action="ppaction://hlinksldjump"/>
                </a:rPr>
                <a:t>[7]</a:t>
              </a:r>
              <a:endParaRPr lang="en-IN" sz="1600" b="0" i="0" dirty="0">
                <a:solidFill>
                  <a:srgbClr val="222222"/>
                </a:solidFill>
                <a:effectLst/>
                <a:latin typeface="Trebuchet MS" panose="020B0603020202020204" pitchFamily="34" charset="0"/>
              </a:endParaRPr>
            </a:p>
            <a:p>
              <a:pPr marL="247010" lvl="1" indent="-123505" algn="l">
                <a:lnSpc>
                  <a:spcPts val="2304"/>
                </a:lnSpc>
                <a:buFont typeface="Arial"/>
                <a:buChar char="•"/>
              </a:pPr>
              <a:endParaRPr lang="en-IN" sz="1600" dirty="0">
                <a:solidFill>
                  <a:srgbClr val="212121"/>
                </a:solidFill>
                <a:latin typeface="Trebuchet MS" panose="020B0603020202020204" pitchFamily="34" charset="0"/>
              </a:endParaRPr>
            </a:p>
            <a:p>
              <a:pPr marL="123505" lvl="1" algn="l">
                <a:lnSpc>
                  <a:spcPts val="2304"/>
                </a:lnSpc>
              </a:pPr>
              <a:endParaRPr lang="en-US" sz="1600" dirty="0">
                <a:latin typeface="Trebuchet MS" panose="020B0603020202020204" pitchFamily="34" charset="0"/>
                <a:ea typeface="Trebuchet MS"/>
                <a:cs typeface="Trebuchet MS"/>
                <a:sym typeface="Trebuchet MS"/>
              </a:endParaRPr>
            </a:p>
            <a:p>
              <a:pPr marL="123505" lvl="1" algn="l">
                <a:lnSpc>
                  <a:spcPts val="2304"/>
                </a:lnSpc>
              </a:pPr>
              <a:endParaRPr lang="en-US" sz="1600" dirty="0">
                <a:latin typeface="Trebuchet MS" panose="020B0603020202020204" pitchFamily="34" charset="0"/>
                <a:ea typeface="Trebuchet MS"/>
                <a:cs typeface="Trebuchet MS"/>
                <a:sym typeface="Trebuchet MS"/>
              </a:endParaRPr>
            </a:p>
            <a:p>
              <a:pPr marL="247091" lvl="1" indent="-123546" algn="l">
                <a:lnSpc>
                  <a:spcPts val="2304"/>
                </a:lnSpc>
              </a:pPr>
              <a:endParaRPr lang="en-US" sz="1600" u="sng" dirty="0">
                <a:solidFill>
                  <a:srgbClr val="5FCBEF"/>
                </a:solidFill>
                <a:latin typeface="Trebuchet MS" panose="020B0603020202020204" pitchFamily="34" charset="0"/>
                <a:ea typeface="Trebuchet MS"/>
                <a:cs typeface="Trebuchet MS"/>
                <a:sym typeface="Trebuchet MS"/>
              </a:endParaRPr>
            </a:p>
            <a:p>
              <a:pPr marL="247091" lvl="1" indent="-123546" algn="l">
                <a:lnSpc>
                  <a:spcPts val="2304"/>
                </a:lnSpc>
              </a:pPr>
              <a:endParaRPr lang="en-US" sz="1600" u="sng" dirty="0">
                <a:solidFill>
                  <a:srgbClr val="5FCBEF"/>
                </a:solidFill>
                <a:latin typeface="Trebuchet MS" panose="020B0603020202020204" pitchFamily="34" charset="0"/>
                <a:ea typeface="Trebuchet MS"/>
                <a:cs typeface="Trebuchet MS"/>
                <a:sym typeface="Trebuchet MS"/>
              </a:endParaRPr>
            </a:p>
          </p:txBody>
        </p:sp>
      </p:grpSp>
    </p:spTree>
    <p:extLst>
      <p:ext uri="{BB962C8B-B14F-4D97-AF65-F5344CB8AC3E}">
        <p14:creationId xmlns:p14="http://schemas.microsoft.com/office/powerpoint/2010/main" val="784101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536</TotalTime>
  <Words>2389</Words>
  <Application>Microsoft Office PowerPoint</Application>
  <PresentationFormat>Custom</PresentationFormat>
  <Paragraphs>158</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Calibri</vt:lpstr>
      <vt:lpstr>Trebuchet MS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Exhibition-2.pptx</dc:title>
  <dc:creator>Mohanish Pattanaik</dc:creator>
  <cp:lastModifiedBy>Mohanish Pattanaik</cp:lastModifiedBy>
  <cp:revision>13</cp:revision>
  <dcterms:created xsi:type="dcterms:W3CDTF">2006-08-16T00:00:00Z</dcterms:created>
  <dcterms:modified xsi:type="dcterms:W3CDTF">2025-04-25T15:37:26Z</dcterms:modified>
  <dc:identifier>DAGfFpWT6mU</dc:identifier>
</cp:coreProperties>
</file>